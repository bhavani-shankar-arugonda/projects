
<file path=[Content_Types].xml><?xml version="1.0" encoding="utf-8"?>
<Types xmlns="http://schemas.openxmlformats.org/package/2006/content-types">
  <Default Extension="docx" ContentType="application/vnd.openxmlformats-officedocument.wordprocessingml.documen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91" r:id="rId2"/>
  </p:sldMasterIdLst>
  <p:notesMasterIdLst>
    <p:notesMasterId r:id="rId100"/>
  </p:notesMasterIdLst>
  <p:handoutMasterIdLst>
    <p:handoutMasterId r:id="rId101"/>
  </p:handoutMasterIdLst>
  <p:sldIdLst>
    <p:sldId id="256" r:id="rId3"/>
    <p:sldId id="257" r:id="rId4"/>
    <p:sldId id="362" r:id="rId5"/>
    <p:sldId id="258" r:id="rId6"/>
    <p:sldId id="259" r:id="rId7"/>
    <p:sldId id="319" r:id="rId8"/>
    <p:sldId id="262" r:id="rId9"/>
    <p:sldId id="350" r:id="rId10"/>
    <p:sldId id="266" r:id="rId11"/>
    <p:sldId id="351" r:id="rId12"/>
    <p:sldId id="352" r:id="rId13"/>
    <p:sldId id="353" r:id="rId14"/>
    <p:sldId id="354" r:id="rId15"/>
    <p:sldId id="355" r:id="rId16"/>
    <p:sldId id="356" r:id="rId17"/>
    <p:sldId id="359" r:id="rId18"/>
    <p:sldId id="360" r:id="rId19"/>
    <p:sldId id="343" r:id="rId20"/>
    <p:sldId id="268" r:id="rId21"/>
    <p:sldId id="349" r:id="rId22"/>
    <p:sldId id="366" r:id="rId23"/>
    <p:sldId id="367"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84" r:id="rId41"/>
    <p:sldId id="385" r:id="rId42"/>
    <p:sldId id="386" r:id="rId43"/>
    <p:sldId id="322" r:id="rId44"/>
    <p:sldId id="363" r:id="rId45"/>
    <p:sldId id="272" r:id="rId46"/>
    <p:sldId id="323" r:id="rId47"/>
    <p:sldId id="273" r:id="rId48"/>
    <p:sldId id="274" r:id="rId49"/>
    <p:sldId id="344" r:id="rId50"/>
    <p:sldId id="325" r:id="rId51"/>
    <p:sldId id="345" r:id="rId52"/>
    <p:sldId id="277" r:id="rId53"/>
    <p:sldId id="278" r:id="rId54"/>
    <p:sldId id="328" r:id="rId55"/>
    <p:sldId id="327" r:id="rId56"/>
    <p:sldId id="279" r:id="rId57"/>
    <p:sldId id="282" r:id="rId58"/>
    <p:sldId id="283" r:id="rId59"/>
    <p:sldId id="288" r:id="rId60"/>
    <p:sldId id="284" r:id="rId61"/>
    <p:sldId id="330" r:id="rId62"/>
    <p:sldId id="289" r:id="rId63"/>
    <p:sldId id="294" r:id="rId64"/>
    <p:sldId id="292" r:id="rId65"/>
    <p:sldId id="293" r:id="rId66"/>
    <p:sldId id="346" r:id="rId67"/>
    <p:sldId id="364" r:id="rId68"/>
    <p:sldId id="387" r:id="rId69"/>
    <p:sldId id="388" r:id="rId70"/>
    <p:sldId id="389" r:id="rId71"/>
    <p:sldId id="390" r:id="rId72"/>
    <p:sldId id="391" r:id="rId73"/>
    <p:sldId id="392" r:id="rId74"/>
    <p:sldId id="393" r:id="rId75"/>
    <p:sldId id="402" r:id="rId76"/>
    <p:sldId id="403" r:id="rId77"/>
    <p:sldId id="404" r:id="rId78"/>
    <p:sldId id="405" r:id="rId79"/>
    <p:sldId id="394" r:id="rId80"/>
    <p:sldId id="395" r:id="rId81"/>
    <p:sldId id="397" r:id="rId82"/>
    <p:sldId id="297" r:id="rId83"/>
    <p:sldId id="406" r:id="rId84"/>
    <p:sldId id="407" r:id="rId85"/>
    <p:sldId id="337" r:id="rId86"/>
    <p:sldId id="300" r:id="rId87"/>
    <p:sldId id="347" r:id="rId88"/>
    <p:sldId id="301" r:id="rId89"/>
    <p:sldId id="338" r:id="rId90"/>
    <p:sldId id="302" r:id="rId91"/>
    <p:sldId id="303" r:id="rId92"/>
    <p:sldId id="339" r:id="rId93"/>
    <p:sldId id="285" r:id="rId94"/>
    <p:sldId id="304" r:id="rId95"/>
    <p:sldId id="305" r:id="rId96"/>
    <p:sldId id="306" r:id="rId97"/>
    <p:sldId id="307" r:id="rId98"/>
    <p:sldId id="365" r:id="rId9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72AC"/>
    <a:srgbClr val="12FF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9" autoAdjust="0"/>
    <p:restoredTop sz="91075" autoAdjust="0"/>
  </p:normalViewPr>
  <p:slideViewPr>
    <p:cSldViewPr>
      <p:cViewPr>
        <p:scale>
          <a:sx n="142" d="100"/>
          <a:sy n="142" d="100"/>
        </p:scale>
        <p:origin x="34" y="-145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35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13F4EE-7D10-DD41-B07C-4241F7924867}" type="doc">
      <dgm:prSet loTypeId="urn:microsoft.com/office/officeart/2005/8/layout/process1" loCatId="process" qsTypeId="urn:microsoft.com/office/officeart/2005/8/quickstyle/simple4" qsCatId="simple" csTypeId="urn:microsoft.com/office/officeart/2005/8/colors/accent1_2#3" csCatId="accent1" phldr="1"/>
      <dgm:spPr/>
      <dgm:t>
        <a:bodyPr/>
        <a:lstStyle/>
        <a:p>
          <a:endParaRPr lang="en-US"/>
        </a:p>
      </dgm:t>
    </dgm:pt>
    <dgm:pt modelId="{089281B8-1D5E-334A-A921-5425AAEB96AE}">
      <dgm:prSet/>
      <dgm:spPr>
        <a:solidFill>
          <a:schemeClr val="accent1"/>
        </a:solidFill>
      </dgm:spPr>
      <dgm:t>
        <a:bodyPr/>
        <a:lstStyle/>
        <a:p>
          <a:pPr rtl="0"/>
          <a:r>
            <a:rPr lang="en-US" dirty="0"/>
            <a:t>There is no way to inspect or manipulate semaphores other than these three operations</a:t>
          </a:r>
        </a:p>
      </dgm:t>
    </dgm:pt>
    <dgm:pt modelId="{E0980B7B-60AC-5E49-9B7D-344FC211FD30}" type="parTrans" cxnId="{3E788187-53C4-9C46-85FD-C314878B1C40}">
      <dgm:prSet/>
      <dgm:spPr/>
      <dgm:t>
        <a:bodyPr/>
        <a:lstStyle/>
        <a:p>
          <a:endParaRPr lang="en-US"/>
        </a:p>
      </dgm:t>
    </dgm:pt>
    <dgm:pt modelId="{F308D1D0-AC0A-AC41-8CDB-E4DC577760E9}" type="sibTrans" cxnId="{3E788187-53C4-9C46-85FD-C314878B1C40}">
      <dgm:prSet/>
      <dgm:spPr>
        <a:solidFill>
          <a:schemeClr val="bg2">
            <a:lumMod val="50000"/>
          </a:schemeClr>
        </a:solidFill>
      </dgm:spPr>
      <dgm:t>
        <a:bodyPr/>
        <a:lstStyle/>
        <a:p>
          <a:endParaRPr lang="en-US"/>
        </a:p>
      </dgm:t>
    </dgm:pt>
    <dgm:pt modelId="{6D4F9E33-4AF4-EE41-83FB-9E7502CB8AE1}">
      <dgm:prSet/>
      <dgm:spPr/>
      <dgm:t>
        <a:bodyPr/>
        <a:lstStyle/>
        <a:p>
          <a:pPr rtl="0"/>
          <a:r>
            <a:rPr lang="en-NZ" dirty="0"/>
            <a:t>A variable that has an integer value upon which only three operations are defined: </a:t>
          </a:r>
          <a:endParaRPr lang="en-US" dirty="0"/>
        </a:p>
      </dgm:t>
    </dgm:pt>
    <dgm:pt modelId="{FAF7B778-71E2-994F-9D3C-13802D8DE8F5}" type="parTrans" cxnId="{4677D42E-BBD8-2349-BAF8-83F5592E1794}">
      <dgm:prSet/>
      <dgm:spPr/>
      <dgm:t>
        <a:bodyPr/>
        <a:lstStyle/>
        <a:p>
          <a:endParaRPr lang="en-US"/>
        </a:p>
      </dgm:t>
    </dgm:pt>
    <dgm:pt modelId="{E906FF73-0790-B34E-A2B5-71EBE191FC77}" type="sibTrans" cxnId="{4677D42E-BBD8-2349-BAF8-83F5592E1794}">
      <dgm:prSet/>
      <dgm:spPr/>
      <dgm:t>
        <a:bodyPr/>
        <a:lstStyle/>
        <a:p>
          <a:endParaRPr lang="en-US"/>
        </a:p>
      </dgm:t>
    </dgm:pt>
    <dgm:pt modelId="{AD1DA9AD-E803-CF4C-9F9D-745BDC537CFE}" type="pres">
      <dgm:prSet presAssocID="{7B13F4EE-7D10-DD41-B07C-4241F7924867}" presName="Name0" presStyleCnt="0">
        <dgm:presLayoutVars>
          <dgm:dir/>
          <dgm:resizeHandles val="exact"/>
        </dgm:presLayoutVars>
      </dgm:prSet>
      <dgm:spPr/>
    </dgm:pt>
    <dgm:pt modelId="{D922F58D-B635-F14D-A7B0-F6371807DE43}" type="pres">
      <dgm:prSet presAssocID="{089281B8-1D5E-334A-A921-5425AAEB96AE}" presName="node" presStyleLbl="node1" presStyleIdx="0" presStyleCnt="2" custLinFactX="91325" custLinFactNeighborX="100000" custLinFactNeighborY="-46264">
        <dgm:presLayoutVars>
          <dgm:bulletEnabled val="1"/>
        </dgm:presLayoutVars>
      </dgm:prSet>
      <dgm:spPr/>
    </dgm:pt>
    <dgm:pt modelId="{2F146ECA-E547-3B4A-A33E-83CC028577F2}" type="pres">
      <dgm:prSet presAssocID="{F308D1D0-AC0A-AC41-8CDB-E4DC577760E9}" presName="sibTrans" presStyleLbl="sibTrans2D1" presStyleIdx="0" presStyleCnt="1" custAng="10800000"/>
      <dgm:spPr/>
    </dgm:pt>
    <dgm:pt modelId="{38CA54D7-5E68-5949-A108-806EB9ABFAE5}" type="pres">
      <dgm:prSet presAssocID="{F308D1D0-AC0A-AC41-8CDB-E4DC577760E9}" presName="connectorText" presStyleLbl="sibTrans2D1" presStyleIdx="0" presStyleCnt="1"/>
      <dgm:spPr/>
    </dgm:pt>
    <dgm:pt modelId="{536CC010-3CA8-CD44-BED7-E2E67E4A6B14}" type="pres">
      <dgm:prSet presAssocID="{6D4F9E33-4AF4-EE41-83FB-9E7502CB8AE1}" presName="node" presStyleLbl="node1" presStyleIdx="1" presStyleCnt="2" custLinFactX="-95517" custLinFactNeighborX="-100000" custLinFactNeighborY="-46264">
        <dgm:presLayoutVars>
          <dgm:bulletEnabled val="1"/>
        </dgm:presLayoutVars>
      </dgm:prSet>
      <dgm:spPr/>
    </dgm:pt>
  </dgm:ptLst>
  <dgm:cxnLst>
    <dgm:cxn modelId="{0D02A72B-D8C4-7740-9E36-FDFF694D791E}" type="presOf" srcId="{6D4F9E33-4AF4-EE41-83FB-9E7502CB8AE1}" destId="{536CC010-3CA8-CD44-BED7-E2E67E4A6B14}" srcOrd="0" destOrd="0" presId="urn:microsoft.com/office/officeart/2005/8/layout/process1"/>
    <dgm:cxn modelId="{4677D42E-BBD8-2349-BAF8-83F5592E1794}" srcId="{7B13F4EE-7D10-DD41-B07C-4241F7924867}" destId="{6D4F9E33-4AF4-EE41-83FB-9E7502CB8AE1}" srcOrd="1" destOrd="0" parTransId="{FAF7B778-71E2-994F-9D3C-13802D8DE8F5}" sibTransId="{E906FF73-0790-B34E-A2B5-71EBE191FC77}"/>
    <dgm:cxn modelId="{2C5EEB5D-1B6C-024C-921C-2DA4C5F53164}" type="presOf" srcId="{F308D1D0-AC0A-AC41-8CDB-E4DC577760E9}" destId="{38CA54D7-5E68-5949-A108-806EB9ABFAE5}" srcOrd="1" destOrd="0" presId="urn:microsoft.com/office/officeart/2005/8/layout/process1"/>
    <dgm:cxn modelId="{3E788187-53C4-9C46-85FD-C314878B1C40}" srcId="{7B13F4EE-7D10-DD41-B07C-4241F7924867}" destId="{089281B8-1D5E-334A-A921-5425AAEB96AE}" srcOrd="0" destOrd="0" parTransId="{E0980B7B-60AC-5E49-9B7D-344FC211FD30}" sibTransId="{F308D1D0-AC0A-AC41-8CDB-E4DC577760E9}"/>
    <dgm:cxn modelId="{CC6B00C4-72FE-5446-9BF1-F7020C8CC7A4}" type="presOf" srcId="{F308D1D0-AC0A-AC41-8CDB-E4DC577760E9}" destId="{2F146ECA-E547-3B4A-A33E-83CC028577F2}" srcOrd="0" destOrd="0" presId="urn:microsoft.com/office/officeart/2005/8/layout/process1"/>
    <dgm:cxn modelId="{46A756C7-B5E7-3347-BFDB-24CE64E01795}" type="presOf" srcId="{089281B8-1D5E-334A-A921-5425AAEB96AE}" destId="{D922F58D-B635-F14D-A7B0-F6371807DE43}" srcOrd="0" destOrd="0" presId="urn:microsoft.com/office/officeart/2005/8/layout/process1"/>
    <dgm:cxn modelId="{B90172E7-C1C6-914B-8491-EA8EE2DDBFCA}" type="presOf" srcId="{7B13F4EE-7D10-DD41-B07C-4241F7924867}" destId="{AD1DA9AD-E803-CF4C-9F9D-745BDC537CFE}" srcOrd="0" destOrd="0" presId="urn:microsoft.com/office/officeart/2005/8/layout/process1"/>
    <dgm:cxn modelId="{E3D1106A-24B6-7C47-AD4B-0AC2D4E779B8}" type="presParOf" srcId="{AD1DA9AD-E803-CF4C-9F9D-745BDC537CFE}" destId="{D922F58D-B635-F14D-A7B0-F6371807DE43}" srcOrd="0" destOrd="0" presId="urn:microsoft.com/office/officeart/2005/8/layout/process1"/>
    <dgm:cxn modelId="{61A94880-283A-BB41-B1E5-346C4C97CDDE}" type="presParOf" srcId="{AD1DA9AD-E803-CF4C-9F9D-745BDC537CFE}" destId="{2F146ECA-E547-3B4A-A33E-83CC028577F2}" srcOrd="1" destOrd="0" presId="urn:microsoft.com/office/officeart/2005/8/layout/process1"/>
    <dgm:cxn modelId="{87C04B06-7AC6-1D41-86B8-4E1162F1DA54}" type="presParOf" srcId="{2F146ECA-E547-3B4A-A33E-83CC028577F2}" destId="{38CA54D7-5E68-5949-A108-806EB9ABFAE5}" srcOrd="0" destOrd="0" presId="urn:microsoft.com/office/officeart/2005/8/layout/process1"/>
    <dgm:cxn modelId="{3FD55B29-2E99-124D-A4DD-BD464EF1B685}" type="presParOf" srcId="{AD1DA9AD-E803-CF4C-9F9D-745BDC537CFE}" destId="{536CC010-3CA8-CD44-BED7-E2E67E4A6B14}"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09B3CA-2154-3349-8E08-1BF775E99E0E}" type="doc">
      <dgm:prSet loTypeId="urn:microsoft.com/office/officeart/2005/8/layout/hList6" loCatId="list" qsTypeId="urn:microsoft.com/office/officeart/2005/8/quickstyle/simple4" qsCatId="simple" csTypeId="urn:microsoft.com/office/officeart/2005/8/colors/accent1_2#4" csCatId="accent1" phldr="1"/>
      <dgm:spPr/>
      <dgm:t>
        <a:bodyPr/>
        <a:lstStyle/>
        <a:p>
          <a:endParaRPr lang="en-US"/>
        </a:p>
      </dgm:t>
    </dgm:pt>
    <dgm:pt modelId="{2A824A6C-3291-A64E-AB38-9B24534F96E1}">
      <dgm:prSet/>
      <dgm:spPr>
        <a:solidFill>
          <a:schemeClr val="accent3">
            <a:lumMod val="50000"/>
          </a:schemeClr>
        </a:solidFill>
      </dgm:spPr>
      <dgm:t>
        <a:bodyPr/>
        <a:lstStyle/>
        <a:p>
          <a:pPr rtl="0"/>
          <a:r>
            <a:rPr lang="en-US" dirty="0"/>
            <a:t>There is no way to know before a process decrements a semaphore whether it will block or not</a:t>
          </a:r>
        </a:p>
      </dgm:t>
    </dgm:pt>
    <dgm:pt modelId="{7E45B653-A385-B349-AFA3-B144F231F6EE}" type="parTrans" cxnId="{E76072D1-BB37-1C48-9502-5DAC8D59F4B2}">
      <dgm:prSet/>
      <dgm:spPr/>
      <dgm:t>
        <a:bodyPr/>
        <a:lstStyle/>
        <a:p>
          <a:endParaRPr lang="en-US"/>
        </a:p>
      </dgm:t>
    </dgm:pt>
    <dgm:pt modelId="{A5F4A0B9-E9EF-FD41-9751-EE895B2C8842}" type="sibTrans" cxnId="{E76072D1-BB37-1C48-9502-5DAC8D59F4B2}">
      <dgm:prSet/>
      <dgm:spPr/>
      <dgm:t>
        <a:bodyPr/>
        <a:lstStyle/>
        <a:p>
          <a:endParaRPr lang="en-US"/>
        </a:p>
      </dgm:t>
    </dgm:pt>
    <dgm:pt modelId="{49C7C730-771B-094B-9569-A140396ED27C}">
      <dgm:prSet/>
      <dgm:spPr/>
      <dgm:t>
        <a:bodyPr/>
        <a:lstStyle/>
        <a:p>
          <a:pPr rtl="0"/>
          <a:r>
            <a:rPr lang="en-US" dirty="0"/>
            <a:t>There is no way to know which process will continue immediately on a </a:t>
          </a:r>
          <a:r>
            <a:rPr lang="en-US" dirty="0" err="1"/>
            <a:t>uniprocessor</a:t>
          </a:r>
          <a:r>
            <a:rPr lang="en-US" dirty="0"/>
            <a:t> system when two processes are running concurrently</a:t>
          </a:r>
        </a:p>
      </dgm:t>
    </dgm:pt>
    <dgm:pt modelId="{68A1379E-FBF2-0249-AC8C-E1E7F9FBA710}" type="parTrans" cxnId="{2F7CB06A-DEA0-E64F-9EDA-CBDBE96023E9}">
      <dgm:prSet/>
      <dgm:spPr/>
      <dgm:t>
        <a:bodyPr/>
        <a:lstStyle/>
        <a:p>
          <a:endParaRPr lang="en-US"/>
        </a:p>
      </dgm:t>
    </dgm:pt>
    <dgm:pt modelId="{44C7C024-E02E-6545-BC2F-8B04FD13E7C0}" type="sibTrans" cxnId="{2F7CB06A-DEA0-E64F-9EDA-CBDBE96023E9}">
      <dgm:prSet/>
      <dgm:spPr/>
      <dgm:t>
        <a:bodyPr/>
        <a:lstStyle/>
        <a:p>
          <a:endParaRPr lang="en-US"/>
        </a:p>
      </dgm:t>
    </dgm:pt>
    <dgm:pt modelId="{28472C96-6575-B04D-AE01-1A07A1A0BBFD}">
      <dgm:prSet/>
      <dgm:spPr>
        <a:solidFill>
          <a:schemeClr val="accent6">
            <a:lumMod val="75000"/>
          </a:schemeClr>
        </a:solidFill>
      </dgm:spPr>
      <dgm:t>
        <a:bodyPr/>
        <a:lstStyle/>
        <a:p>
          <a:pPr rtl="0"/>
          <a:r>
            <a:rPr lang="en-US" dirty="0"/>
            <a:t>You don’t know whether another process is waiting so the number of unblocked processes may be zero or one</a:t>
          </a:r>
        </a:p>
      </dgm:t>
    </dgm:pt>
    <dgm:pt modelId="{F49310AF-B30D-A646-8668-3E785FB4CA1D}" type="parTrans" cxnId="{D0CB1A2D-5563-BD46-B6BC-96B33F5EBAC8}">
      <dgm:prSet/>
      <dgm:spPr/>
      <dgm:t>
        <a:bodyPr/>
        <a:lstStyle/>
        <a:p>
          <a:endParaRPr lang="en-US"/>
        </a:p>
      </dgm:t>
    </dgm:pt>
    <dgm:pt modelId="{616A9A7D-57FA-0D4E-A493-D557831F68EF}" type="sibTrans" cxnId="{D0CB1A2D-5563-BD46-B6BC-96B33F5EBAC8}">
      <dgm:prSet/>
      <dgm:spPr/>
      <dgm:t>
        <a:bodyPr/>
        <a:lstStyle/>
        <a:p>
          <a:endParaRPr lang="en-US"/>
        </a:p>
      </dgm:t>
    </dgm:pt>
    <dgm:pt modelId="{D5A6D6E0-2341-B549-AB8B-DB746E18F4D7}" type="pres">
      <dgm:prSet presAssocID="{9409B3CA-2154-3349-8E08-1BF775E99E0E}" presName="Name0" presStyleCnt="0">
        <dgm:presLayoutVars>
          <dgm:dir/>
          <dgm:resizeHandles val="exact"/>
        </dgm:presLayoutVars>
      </dgm:prSet>
      <dgm:spPr/>
    </dgm:pt>
    <dgm:pt modelId="{19BA5E69-E325-F142-A0D4-B743109408EA}" type="pres">
      <dgm:prSet presAssocID="{2A824A6C-3291-A64E-AB38-9B24534F96E1}" presName="node" presStyleLbl="node1" presStyleIdx="0" presStyleCnt="3" custLinFactNeighborX="42797" custLinFactNeighborY="1724">
        <dgm:presLayoutVars>
          <dgm:bulletEnabled val="1"/>
        </dgm:presLayoutVars>
      </dgm:prSet>
      <dgm:spPr/>
    </dgm:pt>
    <dgm:pt modelId="{7091BE1A-F532-0741-A92F-0655E90F6B87}" type="pres">
      <dgm:prSet presAssocID="{A5F4A0B9-E9EF-FD41-9751-EE895B2C8842}" presName="sibTrans" presStyleCnt="0"/>
      <dgm:spPr/>
    </dgm:pt>
    <dgm:pt modelId="{49FA2FAC-FF0C-C14A-8048-646F866CB8A7}" type="pres">
      <dgm:prSet presAssocID="{49C7C730-771B-094B-9569-A140396ED27C}" presName="node" presStyleLbl="node1" presStyleIdx="1" presStyleCnt="3">
        <dgm:presLayoutVars>
          <dgm:bulletEnabled val="1"/>
        </dgm:presLayoutVars>
      </dgm:prSet>
      <dgm:spPr/>
    </dgm:pt>
    <dgm:pt modelId="{1E583963-4490-1F40-81F7-E938EEF2EEB0}" type="pres">
      <dgm:prSet presAssocID="{44C7C024-E02E-6545-BC2F-8B04FD13E7C0}" presName="sibTrans" presStyleCnt="0"/>
      <dgm:spPr/>
    </dgm:pt>
    <dgm:pt modelId="{9BE6FA6B-34B4-C242-82E5-DC5F191FF1E9}" type="pres">
      <dgm:prSet presAssocID="{28472C96-6575-B04D-AE01-1A07A1A0BBFD}" presName="node" presStyleLbl="node1" presStyleIdx="2" presStyleCnt="3">
        <dgm:presLayoutVars>
          <dgm:bulletEnabled val="1"/>
        </dgm:presLayoutVars>
      </dgm:prSet>
      <dgm:spPr/>
    </dgm:pt>
  </dgm:ptLst>
  <dgm:cxnLst>
    <dgm:cxn modelId="{F6D98210-07AD-4944-9E7D-242369862A6D}" type="presOf" srcId="{49C7C730-771B-094B-9569-A140396ED27C}" destId="{49FA2FAC-FF0C-C14A-8048-646F866CB8A7}" srcOrd="0" destOrd="0" presId="urn:microsoft.com/office/officeart/2005/8/layout/hList6"/>
    <dgm:cxn modelId="{D0CB1A2D-5563-BD46-B6BC-96B33F5EBAC8}" srcId="{9409B3CA-2154-3349-8E08-1BF775E99E0E}" destId="{28472C96-6575-B04D-AE01-1A07A1A0BBFD}" srcOrd="2" destOrd="0" parTransId="{F49310AF-B30D-A646-8668-3E785FB4CA1D}" sibTransId="{616A9A7D-57FA-0D4E-A493-D557831F68EF}"/>
    <dgm:cxn modelId="{BF52EB2F-346C-7047-ACBF-D423FB1AFAA5}" type="presOf" srcId="{2A824A6C-3291-A64E-AB38-9B24534F96E1}" destId="{19BA5E69-E325-F142-A0D4-B743109408EA}" srcOrd="0" destOrd="0" presId="urn:microsoft.com/office/officeart/2005/8/layout/hList6"/>
    <dgm:cxn modelId="{2F7CB06A-DEA0-E64F-9EDA-CBDBE96023E9}" srcId="{9409B3CA-2154-3349-8E08-1BF775E99E0E}" destId="{49C7C730-771B-094B-9569-A140396ED27C}" srcOrd="1" destOrd="0" parTransId="{68A1379E-FBF2-0249-AC8C-E1E7F9FBA710}" sibTransId="{44C7C024-E02E-6545-BC2F-8B04FD13E7C0}"/>
    <dgm:cxn modelId="{E4F1B14A-55BB-C745-8025-73BE65C1137B}" type="presOf" srcId="{28472C96-6575-B04D-AE01-1A07A1A0BBFD}" destId="{9BE6FA6B-34B4-C242-82E5-DC5F191FF1E9}" srcOrd="0" destOrd="0" presId="urn:microsoft.com/office/officeart/2005/8/layout/hList6"/>
    <dgm:cxn modelId="{E76072D1-BB37-1C48-9502-5DAC8D59F4B2}" srcId="{9409B3CA-2154-3349-8E08-1BF775E99E0E}" destId="{2A824A6C-3291-A64E-AB38-9B24534F96E1}" srcOrd="0" destOrd="0" parTransId="{7E45B653-A385-B349-AFA3-B144F231F6EE}" sibTransId="{A5F4A0B9-E9EF-FD41-9751-EE895B2C8842}"/>
    <dgm:cxn modelId="{98041DF6-12E8-4E49-B9B8-ADA734028C5C}" type="presOf" srcId="{9409B3CA-2154-3349-8E08-1BF775E99E0E}" destId="{D5A6D6E0-2341-B549-AB8B-DB746E18F4D7}" srcOrd="0" destOrd="0" presId="urn:microsoft.com/office/officeart/2005/8/layout/hList6"/>
    <dgm:cxn modelId="{FFE40153-6131-9342-A46A-E9FE20A7B043}" type="presParOf" srcId="{D5A6D6E0-2341-B549-AB8B-DB746E18F4D7}" destId="{19BA5E69-E325-F142-A0D4-B743109408EA}" srcOrd="0" destOrd="0" presId="urn:microsoft.com/office/officeart/2005/8/layout/hList6"/>
    <dgm:cxn modelId="{E0FCFB33-4BC5-6A40-A096-2BFFF6249708}" type="presParOf" srcId="{D5A6D6E0-2341-B549-AB8B-DB746E18F4D7}" destId="{7091BE1A-F532-0741-A92F-0655E90F6B87}" srcOrd="1" destOrd="0" presId="urn:microsoft.com/office/officeart/2005/8/layout/hList6"/>
    <dgm:cxn modelId="{718C7542-FF15-9948-AB2C-FFD320AD2567}" type="presParOf" srcId="{D5A6D6E0-2341-B549-AB8B-DB746E18F4D7}" destId="{49FA2FAC-FF0C-C14A-8048-646F866CB8A7}" srcOrd="2" destOrd="0" presId="urn:microsoft.com/office/officeart/2005/8/layout/hList6"/>
    <dgm:cxn modelId="{BD9CAB0E-07EE-0446-9105-FD9C9E6A02A6}" type="presParOf" srcId="{D5A6D6E0-2341-B549-AB8B-DB746E18F4D7}" destId="{1E583963-4490-1F40-81F7-E938EEF2EEB0}" srcOrd="3" destOrd="0" presId="urn:microsoft.com/office/officeart/2005/8/layout/hList6"/>
    <dgm:cxn modelId="{8B825CBF-F8CE-0946-9064-1A003C27BDA2}" type="presParOf" srcId="{D5A6D6E0-2341-B549-AB8B-DB746E18F4D7}" destId="{9BE6FA6B-34B4-C242-82E5-DC5F191FF1E9}"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1F8C2A-328F-724A-AC61-AF18203E98B3}" type="doc">
      <dgm:prSet loTypeId="urn:microsoft.com/office/officeart/2005/8/layout/list1" loCatId="list" qsTypeId="urn:microsoft.com/office/officeart/2005/8/quickstyle/simple4" qsCatId="simple" csTypeId="urn:microsoft.com/office/officeart/2005/8/colors/accent1_2#5" csCatId="accent1" phldr="1"/>
      <dgm:spPr/>
      <dgm:t>
        <a:bodyPr/>
        <a:lstStyle/>
        <a:p>
          <a:endParaRPr lang="en-US"/>
        </a:p>
      </dgm:t>
    </dgm:pt>
    <dgm:pt modelId="{C4C5AA89-D850-1744-9E0D-9027DA949606}">
      <dgm:prSet phldrT="[Text]" custT="1"/>
      <dgm:spPr/>
      <dgm:t>
        <a:bodyPr/>
        <a:lstStyle/>
        <a:p>
          <a:r>
            <a:rPr lang="en-NZ" sz="2800" b="1" i="1" dirty="0"/>
            <a:t>Strong Semaphores</a:t>
          </a:r>
          <a:r>
            <a:rPr lang="en-NZ" sz="2800" dirty="0"/>
            <a:t> </a:t>
          </a:r>
          <a:endParaRPr lang="en-US" sz="2800" dirty="0"/>
        </a:p>
      </dgm:t>
    </dgm:pt>
    <dgm:pt modelId="{F82125A2-DB77-D84A-991D-3145F88168EB}" type="parTrans" cxnId="{6429F720-61DC-9545-8970-338F9FB64F22}">
      <dgm:prSet/>
      <dgm:spPr/>
      <dgm:t>
        <a:bodyPr/>
        <a:lstStyle/>
        <a:p>
          <a:endParaRPr lang="en-US"/>
        </a:p>
      </dgm:t>
    </dgm:pt>
    <dgm:pt modelId="{3E2CFF00-7B48-BA42-9D42-9E61F6B31325}" type="sibTrans" cxnId="{6429F720-61DC-9545-8970-338F9FB64F22}">
      <dgm:prSet/>
      <dgm:spPr/>
      <dgm:t>
        <a:bodyPr/>
        <a:lstStyle/>
        <a:p>
          <a:endParaRPr lang="en-US"/>
        </a:p>
      </dgm:t>
    </dgm:pt>
    <dgm:pt modelId="{99DC4C28-A725-454D-BE93-CDF6758F173D}">
      <dgm:prSet/>
      <dgm:spPr/>
      <dgm:t>
        <a:bodyPr/>
        <a:lstStyle/>
        <a:p>
          <a:r>
            <a:rPr lang="en-NZ" dirty="0"/>
            <a:t>the process that has been blocked the longest is released from the queue first (FIFO)</a:t>
          </a:r>
        </a:p>
      </dgm:t>
    </dgm:pt>
    <dgm:pt modelId="{3C50D3DB-4981-CF43-BB03-CEA66146FC05}" type="parTrans" cxnId="{4835B0B4-5A13-134B-9F44-DDD5EEF77133}">
      <dgm:prSet/>
      <dgm:spPr/>
      <dgm:t>
        <a:bodyPr/>
        <a:lstStyle/>
        <a:p>
          <a:endParaRPr lang="en-US"/>
        </a:p>
      </dgm:t>
    </dgm:pt>
    <dgm:pt modelId="{9CBC6304-C560-B349-AFC8-48AEFAE62F46}" type="sibTrans" cxnId="{4835B0B4-5A13-134B-9F44-DDD5EEF77133}">
      <dgm:prSet/>
      <dgm:spPr/>
      <dgm:t>
        <a:bodyPr/>
        <a:lstStyle/>
        <a:p>
          <a:endParaRPr lang="en-US"/>
        </a:p>
      </dgm:t>
    </dgm:pt>
    <dgm:pt modelId="{E630F192-5C8B-7E47-87C7-81EB07B507C7}">
      <dgm:prSet custT="1"/>
      <dgm:spPr/>
      <dgm:t>
        <a:bodyPr/>
        <a:lstStyle/>
        <a:p>
          <a:r>
            <a:rPr lang="en-NZ" sz="2800" b="1" i="1" dirty="0"/>
            <a:t>Weak Semaphores </a:t>
          </a:r>
          <a:r>
            <a:rPr lang="en-NZ" sz="2300" dirty="0"/>
            <a:t> </a:t>
          </a:r>
        </a:p>
      </dgm:t>
    </dgm:pt>
    <dgm:pt modelId="{07283D72-8835-9842-AF1A-354D151BF5BF}" type="parTrans" cxnId="{41396523-F9C6-9040-B56F-52DE5CD28BDD}">
      <dgm:prSet/>
      <dgm:spPr/>
      <dgm:t>
        <a:bodyPr/>
        <a:lstStyle/>
        <a:p>
          <a:endParaRPr lang="en-US"/>
        </a:p>
      </dgm:t>
    </dgm:pt>
    <dgm:pt modelId="{ED9F0213-F9BF-F74C-A54D-0B5A37136C9C}" type="sibTrans" cxnId="{41396523-F9C6-9040-B56F-52DE5CD28BDD}">
      <dgm:prSet/>
      <dgm:spPr/>
      <dgm:t>
        <a:bodyPr/>
        <a:lstStyle/>
        <a:p>
          <a:endParaRPr lang="en-US"/>
        </a:p>
      </dgm:t>
    </dgm:pt>
    <dgm:pt modelId="{8AE05AB4-C8C1-0C46-8AC1-AB7D1EF4A317}">
      <dgm:prSet/>
      <dgm:spPr/>
      <dgm:t>
        <a:bodyPr/>
        <a:lstStyle/>
        <a:p>
          <a:r>
            <a:rPr lang="en-NZ"/>
            <a:t>the order in which processes are removed from the queue is not specified</a:t>
          </a:r>
          <a:endParaRPr lang="en-NZ" dirty="0"/>
        </a:p>
      </dgm:t>
    </dgm:pt>
    <dgm:pt modelId="{1C6D1601-14D0-6D46-A546-BF9AD27AED31}" type="parTrans" cxnId="{4C1D0F85-1DC4-1F49-848A-0C42217A3C51}">
      <dgm:prSet/>
      <dgm:spPr/>
      <dgm:t>
        <a:bodyPr/>
        <a:lstStyle/>
        <a:p>
          <a:endParaRPr lang="en-US"/>
        </a:p>
      </dgm:t>
    </dgm:pt>
    <dgm:pt modelId="{0FEF3BC0-9BD0-6947-AE81-E95FF485537F}" type="sibTrans" cxnId="{4C1D0F85-1DC4-1F49-848A-0C42217A3C51}">
      <dgm:prSet/>
      <dgm:spPr/>
      <dgm:t>
        <a:bodyPr/>
        <a:lstStyle/>
        <a:p>
          <a:endParaRPr lang="en-US"/>
        </a:p>
      </dgm:t>
    </dgm:pt>
    <dgm:pt modelId="{F3802972-AD8D-6C46-9950-31285B6464FF}" type="pres">
      <dgm:prSet presAssocID="{841F8C2A-328F-724A-AC61-AF18203E98B3}" presName="linear" presStyleCnt="0">
        <dgm:presLayoutVars>
          <dgm:dir/>
          <dgm:animLvl val="lvl"/>
          <dgm:resizeHandles val="exact"/>
        </dgm:presLayoutVars>
      </dgm:prSet>
      <dgm:spPr/>
    </dgm:pt>
    <dgm:pt modelId="{AC315FBB-53F7-6041-A377-53BAC873EAA1}" type="pres">
      <dgm:prSet presAssocID="{C4C5AA89-D850-1744-9E0D-9027DA949606}" presName="parentLin" presStyleCnt="0"/>
      <dgm:spPr/>
    </dgm:pt>
    <dgm:pt modelId="{793462AF-15D8-084F-A5E6-11A1D6709268}" type="pres">
      <dgm:prSet presAssocID="{C4C5AA89-D850-1744-9E0D-9027DA949606}" presName="parentLeftMargin" presStyleLbl="node1" presStyleIdx="0" presStyleCnt="2"/>
      <dgm:spPr/>
    </dgm:pt>
    <dgm:pt modelId="{DD1D9237-EB74-E84E-AC7E-51428224DD48}" type="pres">
      <dgm:prSet presAssocID="{C4C5AA89-D850-1744-9E0D-9027DA949606}" presName="parentText" presStyleLbl="node1" presStyleIdx="0" presStyleCnt="2">
        <dgm:presLayoutVars>
          <dgm:chMax val="0"/>
          <dgm:bulletEnabled val="1"/>
        </dgm:presLayoutVars>
      </dgm:prSet>
      <dgm:spPr/>
    </dgm:pt>
    <dgm:pt modelId="{F763F474-FF0B-2845-BCE4-3D82A97F4081}" type="pres">
      <dgm:prSet presAssocID="{C4C5AA89-D850-1744-9E0D-9027DA949606}" presName="negativeSpace" presStyleCnt="0"/>
      <dgm:spPr/>
    </dgm:pt>
    <dgm:pt modelId="{EC4B5A1A-5870-5C40-8ADE-32EFF8546961}" type="pres">
      <dgm:prSet presAssocID="{C4C5AA89-D850-1744-9E0D-9027DA949606}" presName="childText" presStyleLbl="conFgAcc1" presStyleIdx="0" presStyleCnt="2">
        <dgm:presLayoutVars>
          <dgm:bulletEnabled val="1"/>
        </dgm:presLayoutVars>
      </dgm:prSet>
      <dgm:spPr/>
    </dgm:pt>
    <dgm:pt modelId="{1BDB3C83-8BE2-E74A-A4C1-A20CCB2BB70C}" type="pres">
      <dgm:prSet presAssocID="{3E2CFF00-7B48-BA42-9D42-9E61F6B31325}" presName="spaceBetweenRectangles" presStyleCnt="0"/>
      <dgm:spPr/>
    </dgm:pt>
    <dgm:pt modelId="{4CA8084D-C9F9-6F48-91CA-DD2D3B0ADDCF}" type="pres">
      <dgm:prSet presAssocID="{E630F192-5C8B-7E47-87C7-81EB07B507C7}" presName="parentLin" presStyleCnt="0"/>
      <dgm:spPr/>
    </dgm:pt>
    <dgm:pt modelId="{464CA9E3-BB9C-5B48-A381-0F2DD358996A}" type="pres">
      <dgm:prSet presAssocID="{E630F192-5C8B-7E47-87C7-81EB07B507C7}" presName="parentLeftMargin" presStyleLbl="node1" presStyleIdx="0" presStyleCnt="2"/>
      <dgm:spPr/>
    </dgm:pt>
    <dgm:pt modelId="{2E01E895-987A-1640-8719-30A986FB6C86}" type="pres">
      <dgm:prSet presAssocID="{E630F192-5C8B-7E47-87C7-81EB07B507C7}" presName="parentText" presStyleLbl="node1" presStyleIdx="1" presStyleCnt="2">
        <dgm:presLayoutVars>
          <dgm:chMax val="0"/>
          <dgm:bulletEnabled val="1"/>
        </dgm:presLayoutVars>
      </dgm:prSet>
      <dgm:spPr/>
    </dgm:pt>
    <dgm:pt modelId="{5455BB0B-CF8C-5E4A-AFA2-A60DAEEE4AF1}" type="pres">
      <dgm:prSet presAssocID="{E630F192-5C8B-7E47-87C7-81EB07B507C7}" presName="negativeSpace" presStyleCnt="0"/>
      <dgm:spPr/>
    </dgm:pt>
    <dgm:pt modelId="{40B0B400-5226-0F4B-98AB-E6B21FAA5A13}" type="pres">
      <dgm:prSet presAssocID="{E630F192-5C8B-7E47-87C7-81EB07B507C7}" presName="childText" presStyleLbl="conFgAcc1" presStyleIdx="1" presStyleCnt="2">
        <dgm:presLayoutVars>
          <dgm:bulletEnabled val="1"/>
        </dgm:presLayoutVars>
      </dgm:prSet>
      <dgm:spPr/>
    </dgm:pt>
  </dgm:ptLst>
  <dgm:cxnLst>
    <dgm:cxn modelId="{CC89FB04-EF5D-9542-837B-272CA417A845}" type="presOf" srcId="{C4C5AA89-D850-1744-9E0D-9027DA949606}" destId="{793462AF-15D8-084F-A5E6-11A1D6709268}" srcOrd="0" destOrd="0" presId="urn:microsoft.com/office/officeart/2005/8/layout/list1"/>
    <dgm:cxn modelId="{6429F720-61DC-9545-8970-338F9FB64F22}" srcId="{841F8C2A-328F-724A-AC61-AF18203E98B3}" destId="{C4C5AA89-D850-1744-9E0D-9027DA949606}" srcOrd="0" destOrd="0" parTransId="{F82125A2-DB77-D84A-991D-3145F88168EB}" sibTransId="{3E2CFF00-7B48-BA42-9D42-9E61F6B31325}"/>
    <dgm:cxn modelId="{41396523-F9C6-9040-B56F-52DE5CD28BDD}" srcId="{841F8C2A-328F-724A-AC61-AF18203E98B3}" destId="{E630F192-5C8B-7E47-87C7-81EB07B507C7}" srcOrd="1" destOrd="0" parTransId="{07283D72-8835-9842-AF1A-354D151BF5BF}" sibTransId="{ED9F0213-F9BF-F74C-A54D-0B5A37136C9C}"/>
    <dgm:cxn modelId="{431DB62E-D385-264C-9A54-CE10BAFCBF7F}" type="presOf" srcId="{99DC4C28-A725-454D-BE93-CDF6758F173D}" destId="{EC4B5A1A-5870-5C40-8ADE-32EFF8546961}" srcOrd="0" destOrd="0" presId="urn:microsoft.com/office/officeart/2005/8/layout/list1"/>
    <dgm:cxn modelId="{3B485B71-69C3-1B4D-B49A-9C72252A9F2D}" type="presOf" srcId="{E630F192-5C8B-7E47-87C7-81EB07B507C7}" destId="{464CA9E3-BB9C-5B48-A381-0F2DD358996A}" srcOrd="0" destOrd="0" presId="urn:microsoft.com/office/officeart/2005/8/layout/list1"/>
    <dgm:cxn modelId="{295DFF72-246F-6542-856A-0297E3667F0B}" type="presOf" srcId="{841F8C2A-328F-724A-AC61-AF18203E98B3}" destId="{F3802972-AD8D-6C46-9950-31285B6464FF}" srcOrd="0" destOrd="0" presId="urn:microsoft.com/office/officeart/2005/8/layout/list1"/>
    <dgm:cxn modelId="{2C74517A-2455-E84A-8B78-155E80A51D13}" type="presOf" srcId="{8AE05AB4-C8C1-0C46-8AC1-AB7D1EF4A317}" destId="{40B0B400-5226-0F4B-98AB-E6B21FAA5A13}" srcOrd="0" destOrd="0" presId="urn:microsoft.com/office/officeart/2005/8/layout/list1"/>
    <dgm:cxn modelId="{4C1D0F85-1DC4-1F49-848A-0C42217A3C51}" srcId="{E630F192-5C8B-7E47-87C7-81EB07B507C7}" destId="{8AE05AB4-C8C1-0C46-8AC1-AB7D1EF4A317}" srcOrd="0" destOrd="0" parTransId="{1C6D1601-14D0-6D46-A546-BF9AD27AED31}" sibTransId="{0FEF3BC0-9BD0-6947-AE81-E95FF485537F}"/>
    <dgm:cxn modelId="{3BF68787-01C8-524E-843F-78DE25BFAFAB}" type="presOf" srcId="{C4C5AA89-D850-1744-9E0D-9027DA949606}" destId="{DD1D9237-EB74-E84E-AC7E-51428224DD48}" srcOrd="1" destOrd="0" presId="urn:microsoft.com/office/officeart/2005/8/layout/list1"/>
    <dgm:cxn modelId="{4835B0B4-5A13-134B-9F44-DDD5EEF77133}" srcId="{C4C5AA89-D850-1744-9E0D-9027DA949606}" destId="{99DC4C28-A725-454D-BE93-CDF6758F173D}" srcOrd="0" destOrd="0" parTransId="{3C50D3DB-4981-CF43-BB03-CEA66146FC05}" sibTransId="{9CBC6304-C560-B349-AFC8-48AEFAE62F46}"/>
    <dgm:cxn modelId="{CD0EE7BC-EABC-C442-8003-9D2EE71D97BB}" type="presOf" srcId="{E630F192-5C8B-7E47-87C7-81EB07B507C7}" destId="{2E01E895-987A-1640-8719-30A986FB6C86}" srcOrd="1" destOrd="0" presId="urn:microsoft.com/office/officeart/2005/8/layout/list1"/>
    <dgm:cxn modelId="{4AE78692-06AA-664C-A248-5E5F6106228F}" type="presParOf" srcId="{F3802972-AD8D-6C46-9950-31285B6464FF}" destId="{AC315FBB-53F7-6041-A377-53BAC873EAA1}" srcOrd="0" destOrd="0" presId="urn:microsoft.com/office/officeart/2005/8/layout/list1"/>
    <dgm:cxn modelId="{43738B26-3E3F-224A-8263-CA0DC485C2E9}" type="presParOf" srcId="{AC315FBB-53F7-6041-A377-53BAC873EAA1}" destId="{793462AF-15D8-084F-A5E6-11A1D6709268}" srcOrd="0" destOrd="0" presId="urn:microsoft.com/office/officeart/2005/8/layout/list1"/>
    <dgm:cxn modelId="{8588013A-911F-D64A-B16E-F3576E111EEF}" type="presParOf" srcId="{AC315FBB-53F7-6041-A377-53BAC873EAA1}" destId="{DD1D9237-EB74-E84E-AC7E-51428224DD48}" srcOrd="1" destOrd="0" presId="urn:microsoft.com/office/officeart/2005/8/layout/list1"/>
    <dgm:cxn modelId="{9ADBEC57-4D40-C349-8B62-8D4F84349C21}" type="presParOf" srcId="{F3802972-AD8D-6C46-9950-31285B6464FF}" destId="{F763F474-FF0B-2845-BCE4-3D82A97F4081}" srcOrd="1" destOrd="0" presId="urn:microsoft.com/office/officeart/2005/8/layout/list1"/>
    <dgm:cxn modelId="{10BD093C-EDE4-1542-B316-4E3D9B4358E1}" type="presParOf" srcId="{F3802972-AD8D-6C46-9950-31285B6464FF}" destId="{EC4B5A1A-5870-5C40-8ADE-32EFF8546961}" srcOrd="2" destOrd="0" presId="urn:microsoft.com/office/officeart/2005/8/layout/list1"/>
    <dgm:cxn modelId="{D6B7C085-C898-2649-AEB6-294A25F83DC4}" type="presParOf" srcId="{F3802972-AD8D-6C46-9950-31285B6464FF}" destId="{1BDB3C83-8BE2-E74A-A4C1-A20CCB2BB70C}" srcOrd="3" destOrd="0" presId="urn:microsoft.com/office/officeart/2005/8/layout/list1"/>
    <dgm:cxn modelId="{AA467107-D258-9A40-8389-72BEBB74B105}" type="presParOf" srcId="{F3802972-AD8D-6C46-9950-31285B6464FF}" destId="{4CA8084D-C9F9-6F48-91CA-DD2D3B0ADDCF}" srcOrd="4" destOrd="0" presId="urn:microsoft.com/office/officeart/2005/8/layout/list1"/>
    <dgm:cxn modelId="{7E305759-17AD-8E41-91B3-5DBDEA927D59}" type="presParOf" srcId="{4CA8084D-C9F9-6F48-91CA-DD2D3B0ADDCF}" destId="{464CA9E3-BB9C-5B48-A381-0F2DD358996A}" srcOrd="0" destOrd="0" presId="urn:microsoft.com/office/officeart/2005/8/layout/list1"/>
    <dgm:cxn modelId="{9B717068-58E3-E24B-A762-14B69AF4070E}" type="presParOf" srcId="{4CA8084D-C9F9-6F48-91CA-DD2D3B0ADDCF}" destId="{2E01E895-987A-1640-8719-30A986FB6C86}" srcOrd="1" destOrd="0" presId="urn:microsoft.com/office/officeart/2005/8/layout/list1"/>
    <dgm:cxn modelId="{04E170A8-08C8-4E45-81B0-C0238986ECFB}" type="presParOf" srcId="{F3802972-AD8D-6C46-9950-31285B6464FF}" destId="{5455BB0B-CF8C-5E4A-AFA2-A60DAEEE4AF1}" srcOrd="5" destOrd="0" presId="urn:microsoft.com/office/officeart/2005/8/layout/list1"/>
    <dgm:cxn modelId="{D6D6CA4E-5F7A-B848-98C7-22A80C9F6BFC}" type="presParOf" srcId="{F3802972-AD8D-6C46-9950-31285B6464FF}" destId="{40B0B400-5226-0F4B-98AB-E6B21FAA5A1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3CA0A9-4361-4A4C-8F7D-C068CECB64A9}" type="doc">
      <dgm:prSet loTypeId="urn:microsoft.com/office/officeart/2005/8/layout/process1" loCatId="process" qsTypeId="urn:microsoft.com/office/officeart/2005/8/quickstyle/simple4" qsCatId="simple" csTypeId="urn:microsoft.com/office/officeart/2005/8/colors/accent1_2#6" csCatId="accent1" phldr="1"/>
      <dgm:spPr/>
      <dgm:t>
        <a:bodyPr/>
        <a:lstStyle/>
        <a:p>
          <a:endParaRPr lang="en-US"/>
        </a:p>
      </dgm:t>
    </dgm:pt>
    <dgm:pt modelId="{32ADD72F-387D-5D49-B356-32480800A56F}">
      <dgm:prSet phldrT="[Text]"/>
      <dgm:spPr>
        <a:solidFill>
          <a:schemeClr val="accent3">
            <a:lumMod val="50000"/>
          </a:schemeClr>
        </a:solidFill>
      </dgm:spPr>
      <dgm:t>
        <a:bodyPr/>
        <a:lstStyle/>
        <a:p>
          <a:r>
            <a:rPr lang="en-US" sz="3600" dirty="0"/>
            <a:t>General Situation:</a:t>
          </a:r>
        </a:p>
      </dgm:t>
    </dgm:pt>
    <dgm:pt modelId="{ACBCBA39-A19B-0D4A-825F-1C02F1751A15}" type="parTrans" cxnId="{EF10C333-2D65-2E47-B843-F834084BEDE2}">
      <dgm:prSet/>
      <dgm:spPr/>
      <dgm:t>
        <a:bodyPr/>
        <a:lstStyle/>
        <a:p>
          <a:endParaRPr lang="en-US"/>
        </a:p>
      </dgm:t>
    </dgm:pt>
    <dgm:pt modelId="{96A0B8D0-E21D-B546-B2B7-D5F5525779A8}" type="sibTrans" cxnId="{EF10C333-2D65-2E47-B843-F834084BEDE2}">
      <dgm:prSet/>
      <dgm:spPr>
        <a:solidFill>
          <a:schemeClr val="accent2">
            <a:lumMod val="50000"/>
          </a:schemeClr>
        </a:solidFill>
      </dgm:spPr>
      <dgm:t>
        <a:bodyPr/>
        <a:lstStyle/>
        <a:p>
          <a:endParaRPr lang="en-US"/>
        </a:p>
      </dgm:t>
    </dgm:pt>
    <dgm:pt modelId="{890A5C6B-01FF-8644-9F42-531144637C24}">
      <dgm:prSet custT="1"/>
      <dgm:spPr>
        <a:solidFill>
          <a:schemeClr val="accent3">
            <a:lumMod val="50000"/>
          </a:schemeClr>
        </a:solidFill>
      </dgm:spPr>
      <dgm:t>
        <a:bodyPr/>
        <a:lstStyle/>
        <a:p>
          <a:r>
            <a:rPr lang="en-US" sz="2100" dirty="0"/>
            <a:t>one or more producers are generating data and placing these in a buffer</a:t>
          </a:r>
        </a:p>
      </dgm:t>
    </dgm:pt>
    <dgm:pt modelId="{47E672CF-2850-6947-B27E-485C3AEAA424}" type="parTrans" cxnId="{07A70EDB-5576-8B43-8D0B-DD7F50CE7F17}">
      <dgm:prSet/>
      <dgm:spPr/>
      <dgm:t>
        <a:bodyPr/>
        <a:lstStyle/>
        <a:p>
          <a:endParaRPr lang="en-US"/>
        </a:p>
      </dgm:t>
    </dgm:pt>
    <dgm:pt modelId="{A88CA46A-B080-6C46-9957-0EF93D5428E2}" type="sibTrans" cxnId="{07A70EDB-5576-8B43-8D0B-DD7F50CE7F17}">
      <dgm:prSet/>
      <dgm:spPr/>
      <dgm:t>
        <a:bodyPr/>
        <a:lstStyle/>
        <a:p>
          <a:endParaRPr lang="en-US"/>
        </a:p>
      </dgm:t>
    </dgm:pt>
    <dgm:pt modelId="{6B004168-BC8C-F145-810F-93B41C7A0BE5}">
      <dgm:prSet custT="1"/>
      <dgm:spPr>
        <a:solidFill>
          <a:schemeClr val="accent3">
            <a:lumMod val="50000"/>
          </a:schemeClr>
        </a:solidFill>
      </dgm:spPr>
      <dgm:t>
        <a:bodyPr/>
        <a:lstStyle/>
        <a:p>
          <a:r>
            <a:rPr lang="en-US" sz="2100" dirty="0"/>
            <a:t>a single consumer is taking items out of the buffer one at time</a:t>
          </a:r>
        </a:p>
      </dgm:t>
    </dgm:pt>
    <dgm:pt modelId="{DC4F0CD8-5D05-C944-A9B4-C41294EF32B2}" type="parTrans" cxnId="{97215901-35A1-B24E-BE2A-E4B58B7AE385}">
      <dgm:prSet/>
      <dgm:spPr/>
      <dgm:t>
        <a:bodyPr/>
        <a:lstStyle/>
        <a:p>
          <a:endParaRPr lang="en-US"/>
        </a:p>
      </dgm:t>
    </dgm:pt>
    <dgm:pt modelId="{B7A32575-2A76-3E46-B5AB-A76A5BA132B7}" type="sibTrans" cxnId="{97215901-35A1-B24E-BE2A-E4B58B7AE385}">
      <dgm:prSet/>
      <dgm:spPr/>
      <dgm:t>
        <a:bodyPr/>
        <a:lstStyle/>
        <a:p>
          <a:endParaRPr lang="en-US"/>
        </a:p>
      </dgm:t>
    </dgm:pt>
    <dgm:pt modelId="{88E986B8-7F0F-A946-BDC0-FD05E1829B0C}">
      <dgm:prSet custT="1"/>
      <dgm:spPr>
        <a:solidFill>
          <a:schemeClr val="accent3">
            <a:lumMod val="50000"/>
          </a:schemeClr>
        </a:solidFill>
      </dgm:spPr>
      <dgm:t>
        <a:bodyPr/>
        <a:lstStyle/>
        <a:p>
          <a:r>
            <a:rPr lang="en-US" sz="2100" dirty="0"/>
            <a:t>only one producer or consumer may access the buffer at any one time</a:t>
          </a:r>
        </a:p>
      </dgm:t>
    </dgm:pt>
    <dgm:pt modelId="{A4DF1310-AE68-FC4D-A2A0-E842DE47A874}" type="parTrans" cxnId="{C8C9BC49-2BFE-E64C-A284-261D0B85069A}">
      <dgm:prSet/>
      <dgm:spPr/>
      <dgm:t>
        <a:bodyPr/>
        <a:lstStyle/>
        <a:p>
          <a:endParaRPr lang="en-US"/>
        </a:p>
      </dgm:t>
    </dgm:pt>
    <dgm:pt modelId="{8944BF98-7F51-8C42-AF3D-BD83D7EA4B86}" type="sibTrans" cxnId="{C8C9BC49-2BFE-E64C-A284-261D0B85069A}">
      <dgm:prSet/>
      <dgm:spPr/>
      <dgm:t>
        <a:bodyPr/>
        <a:lstStyle/>
        <a:p>
          <a:endParaRPr lang="en-US"/>
        </a:p>
      </dgm:t>
    </dgm:pt>
    <dgm:pt modelId="{1097D9BF-D6EE-F645-B86B-EB8202BE466B}">
      <dgm:prSet/>
      <dgm:spPr/>
      <dgm:t>
        <a:bodyPr/>
        <a:lstStyle/>
        <a:p>
          <a:r>
            <a:rPr lang="en-US" dirty="0"/>
            <a:t>The Problem:</a:t>
          </a:r>
        </a:p>
      </dgm:t>
    </dgm:pt>
    <dgm:pt modelId="{81DDE126-32AB-D741-8738-24BE48D4A02D}" type="parTrans" cxnId="{025D35A0-BFBE-8143-BF4A-36C41FAED1B7}">
      <dgm:prSet/>
      <dgm:spPr/>
      <dgm:t>
        <a:bodyPr/>
        <a:lstStyle/>
        <a:p>
          <a:endParaRPr lang="en-US"/>
        </a:p>
      </dgm:t>
    </dgm:pt>
    <dgm:pt modelId="{F0E057FC-5C5A-A843-AD44-105E09ADE54B}" type="sibTrans" cxnId="{025D35A0-BFBE-8143-BF4A-36C41FAED1B7}">
      <dgm:prSet/>
      <dgm:spPr/>
      <dgm:t>
        <a:bodyPr/>
        <a:lstStyle/>
        <a:p>
          <a:endParaRPr lang="en-US"/>
        </a:p>
      </dgm:t>
    </dgm:pt>
    <dgm:pt modelId="{68859321-50D7-6A47-9CEF-1D23ED860482}">
      <dgm:prSet/>
      <dgm:spPr/>
      <dgm:t>
        <a:bodyPr/>
        <a:lstStyle/>
        <a:p>
          <a:r>
            <a:rPr lang="en-US" dirty="0"/>
            <a:t>ensure that the producer can’t add data into full buffer and consumer can’t remove data from an empty buffer</a:t>
          </a:r>
        </a:p>
      </dgm:t>
    </dgm:pt>
    <dgm:pt modelId="{99F7E1FF-FBED-C749-84FD-ADFC15A66C55}" type="parTrans" cxnId="{EA91773A-5AB7-D546-A3B1-E48B29C8C03F}">
      <dgm:prSet/>
      <dgm:spPr/>
      <dgm:t>
        <a:bodyPr/>
        <a:lstStyle/>
        <a:p>
          <a:endParaRPr lang="en-US"/>
        </a:p>
      </dgm:t>
    </dgm:pt>
    <dgm:pt modelId="{86F6F86A-EFF7-A641-9BF5-359A74C7EEF0}" type="sibTrans" cxnId="{EA91773A-5AB7-D546-A3B1-E48B29C8C03F}">
      <dgm:prSet/>
      <dgm:spPr/>
      <dgm:t>
        <a:bodyPr/>
        <a:lstStyle/>
        <a:p>
          <a:endParaRPr lang="en-US"/>
        </a:p>
      </dgm:t>
    </dgm:pt>
    <dgm:pt modelId="{D105F745-C823-BE43-91D0-375DBAE61FAE}" type="pres">
      <dgm:prSet presAssocID="{7C3CA0A9-4361-4A4C-8F7D-C068CECB64A9}" presName="Name0" presStyleCnt="0">
        <dgm:presLayoutVars>
          <dgm:dir/>
          <dgm:resizeHandles val="exact"/>
        </dgm:presLayoutVars>
      </dgm:prSet>
      <dgm:spPr/>
    </dgm:pt>
    <dgm:pt modelId="{0FC6EB41-3B3B-EA42-AE9D-C2314DC42775}" type="pres">
      <dgm:prSet presAssocID="{32ADD72F-387D-5D49-B356-32480800A56F}" presName="node" presStyleLbl="node1" presStyleIdx="0" presStyleCnt="2" custScaleX="125482" custScaleY="163827" custLinFactNeighborX="11321">
        <dgm:presLayoutVars>
          <dgm:bulletEnabled val="1"/>
        </dgm:presLayoutVars>
      </dgm:prSet>
      <dgm:spPr/>
    </dgm:pt>
    <dgm:pt modelId="{2FC5CD5F-1F07-7F44-B8F2-45124A5E3E66}" type="pres">
      <dgm:prSet presAssocID="{96A0B8D0-E21D-B546-B2B7-D5F5525779A8}" presName="sibTrans" presStyleLbl="sibTrans2D1" presStyleIdx="0" presStyleCnt="1"/>
      <dgm:spPr/>
    </dgm:pt>
    <dgm:pt modelId="{2FFAD541-8591-7E4B-82CA-9280A7C70CB7}" type="pres">
      <dgm:prSet presAssocID="{96A0B8D0-E21D-B546-B2B7-D5F5525779A8}" presName="connectorText" presStyleLbl="sibTrans2D1" presStyleIdx="0" presStyleCnt="1"/>
      <dgm:spPr/>
    </dgm:pt>
    <dgm:pt modelId="{97C10248-49D4-BA42-A96D-F06C469FE9B5}" type="pres">
      <dgm:prSet presAssocID="{1097D9BF-D6EE-F645-B86B-EB8202BE466B}" presName="node" presStyleLbl="node1" presStyleIdx="1" presStyleCnt="2" custScaleX="100394" custScaleY="129337">
        <dgm:presLayoutVars>
          <dgm:bulletEnabled val="1"/>
        </dgm:presLayoutVars>
      </dgm:prSet>
      <dgm:spPr/>
    </dgm:pt>
  </dgm:ptLst>
  <dgm:cxnLst>
    <dgm:cxn modelId="{97215901-35A1-B24E-BE2A-E4B58B7AE385}" srcId="{32ADD72F-387D-5D49-B356-32480800A56F}" destId="{6B004168-BC8C-F145-810F-93B41C7A0BE5}" srcOrd="1" destOrd="0" parTransId="{DC4F0CD8-5D05-C944-A9B4-C41294EF32B2}" sibTransId="{B7A32575-2A76-3E46-B5AB-A76A5BA132B7}"/>
    <dgm:cxn modelId="{FF871215-DFDF-8B43-8C09-44D0BB4886A8}" type="presOf" srcId="{68859321-50D7-6A47-9CEF-1D23ED860482}" destId="{97C10248-49D4-BA42-A96D-F06C469FE9B5}" srcOrd="0" destOrd="1" presId="urn:microsoft.com/office/officeart/2005/8/layout/process1"/>
    <dgm:cxn modelId="{EF10C333-2D65-2E47-B843-F834084BEDE2}" srcId="{7C3CA0A9-4361-4A4C-8F7D-C068CECB64A9}" destId="{32ADD72F-387D-5D49-B356-32480800A56F}" srcOrd="0" destOrd="0" parTransId="{ACBCBA39-A19B-0D4A-825F-1C02F1751A15}" sibTransId="{96A0B8D0-E21D-B546-B2B7-D5F5525779A8}"/>
    <dgm:cxn modelId="{EA91773A-5AB7-D546-A3B1-E48B29C8C03F}" srcId="{1097D9BF-D6EE-F645-B86B-EB8202BE466B}" destId="{68859321-50D7-6A47-9CEF-1D23ED860482}" srcOrd="0" destOrd="0" parTransId="{99F7E1FF-FBED-C749-84FD-ADFC15A66C55}" sibTransId="{86F6F86A-EFF7-A641-9BF5-359A74C7EEF0}"/>
    <dgm:cxn modelId="{C8C9BC49-2BFE-E64C-A284-261D0B85069A}" srcId="{32ADD72F-387D-5D49-B356-32480800A56F}" destId="{88E986B8-7F0F-A946-BDC0-FD05E1829B0C}" srcOrd="2" destOrd="0" parTransId="{A4DF1310-AE68-FC4D-A2A0-E842DE47A874}" sibTransId="{8944BF98-7F51-8C42-AF3D-BD83D7EA4B86}"/>
    <dgm:cxn modelId="{6C73ED70-8C7F-4046-8B42-EB93CF0E2779}" type="presOf" srcId="{32ADD72F-387D-5D49-B356-32480800A56F}" destId="{0FC6EB41-3B3B-EA42-AE9D-C2314DC42775}" srcOrd="0" destOrd="0" presId="urn:microsoft.com/office/officeart/2005/8/layout/process1"/>
    <dgm:cxn modelId="{C5E87657-00F4-E84A-AE78-8412F585ACA0}" type="presOf" srcId="{7C3CA0A9-4361-4A4C-8F7D-C068CECB64A9}" destId="{D105F745-C823-BE43-91D0-375DBAE61FAE}" srcOrd="0" destOrd="0" presId="urn:microsoft.com/office/officeart/2005/8/layout/process1"/>
    <dgm:cxn modelId="{84D5F97C-9096-8C40-A576-C1B8A27BFF19}" type="presOf" srcId="{1097D9BF-D6EE-F645-B86B-EB8202BE466B}" destId="{97C10248-49D4-BA42-A96D-F06C469FE9B5}" srcOrd="0" destOrd="0" presId="urn:microsoft.com/office/officeart/2005/8/layout/process1"/>
    <dgm:cxn modelId="{025D35A0-BFBE-8143-BF4A-36C41FAED1B7}" srcId="{7C3CA0A9-4361-4A4C-8F7D-C068CECB64A9}" destId="{1097D9BF-D6EE-F645-B86B-EB8202BE466B}" srcOrd="1" destOrd="0" parTransId="{81DDE126-32AB-D741-8738-24BE48D4A02D}" sibTransId="{F0E057FC-5C5A-A843-AD44-105E09ADE54B}"/>
    <dgm:cxn modelId="{DDBBEDAF-8AF6-534D-84AC-570FA6B78CB3}" type="presOf" srcId="{890A5C6B-01FF-8644-9F42-531144637C24}" destId="{0FC6EB41-3B3B-EA42-AE9D-C2314DC42775}" srcOrd="0" destOrd="1" presId="urn:microsoft.com/office/officeart/2005/8/layout/process1"/>
    <dgm:cxn modelId="{0742BCBC-73C8-1246-8CE5-68457D140F0A}" type="presOf" srcId="{6B004168-BC8C-F145-810F-93B41C7A0BE5}" destId="{0FC6EB41-3B3B-EA42-AE9D-C2314DC42775}" srcOrd="0" destOrd="2" presId="urn:microsoft.com/office/officeart/2005/8/layout/process1"/>
    <dgm:cxn modelId="{F5A978BD-BD77-E14D-B26E-F35E19EB7D65}" type="presOf" srcId="{88E986B8-7F0F-A946-BDC0-FD05E1829B0C}" destId="{0FC6EB41-3B3B-EA42-AE9D-C2314DC42775}" srcOrd="0" destOrd="3" presId="urn:microsoft.com/office/officeart/2005/8/layout/process1"/>
    <dgm:cxn modelId="{D5F045CF-9CAD-084B-B720-1AEC944CD1A4}" type="presOf" srcId="{96A0B8D0-E21D-B546-B2B7-D5F5525779A8}" destId="{2FC5CD5F-1F07-7F44-B8F2-45124A5E3E66}" srcOrd="0" destOrd="0" presId="urn:microsoft.com/office/officeart/2005/8/layout/process1"/>
    <dgm:cxn modelId="{4104F1D8-5ECF-EB4D-908A-107B77E2FBB5}" type="presOf" srcId="{96A0B8D0-E21D-B546-B2B7-D5F5525779A8}" destId="{2FFAD541-8591-7E4B-82CA-9280A7C70CB7}" srcOrd="1" destOrd="0" presId="urn:microsoft.com/office/officeart/2005/8/layout/process1"/>
    <dgm:cxn modelId="{07A70EDB-5576-8B43-8D0B-DD7F50CE7F17}" srcId="{32ADD72F-387D-5D49-B356-32480800A56F}" destId="{890A5C6B-01FF-8644-9F42-531144637C24}" srcOrd="0" destOrd="0" parTransId="{47E672CF-2850-6947-B27E-485C3AEAA424}" sibTransId="{A88CA46A-B080-6C46-9957-0EF93D5428E2}"/>
    <dgm:cxn modelId="{E4664372-AA1C-3B4A-AEDF-873BDB8F5DAE}" type="presParOf" srcId="{D105F745-C823-BE43-91D0-375DBAE61FAE}" destId="{0FC6EB41-3B3B-EA42-AE9D-C2314DC42775}" srcOrd="0" destOrd="0" presId="urn:microsoft.com/office/officeart/2005/8/layout/process1"/>
    <dgm:cxn modelId="{EEA0EE49-2179-024A-9995-A22F06D39374}" type="presParOf" srcId="{D105F745-C823-BE43-91D0-375DBAE61FAE}" destId="{2FC5CD5F-1F07-7F44-B8F2-45124A5E3E66}" srcOrd="1" destOrd="0" presId="urn:microsoft.com/office/officeart/2005/8/layout/process1"/>
    <dgm:cxn modelId="{A94A2124-6642-684D-B594-2502D24726F1}" type="presParOf" srcId="{2FC5CD5F-1F07-7F44-B8F2-45124A5E3E66}" destId="{2FFAD541-8591-7E4B-82CA-9280A7C70CB7}" srcOrd="0" destOrd="0" presId="urn:microsoft.com/office/officeart/2005/8/layout/process1"/>
    <dgm:cxn modelId="{9B1C58CB-E41F-1444-AC98-C527B15C85E8}" type="presParOf" srcId="{D105F745-C823-BE43-91D0-375DBAE61FAE}" destId="{97C10248-49D4-BA42-A96D-F06C469FE9B5}"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78A990-084D-244A-ABFA-1DBDCB28F056}" type="doc">
      <dgm:prSet loTypeId="urn:microsoft.com/office/officeart/2005/8/layout/hProcess11" loCatId="process" qsTypeId="urn:microsoft.com/office/officeart/2005/8/quickstyle/simple4" qsCatId="simple" csTypeId="urn:microsoft.com/office/officeart/2005/8/colors/accent1_2#7" csCatId="accent1"/>
      <dgm:spPr/>
      <dgm:t>
        <a:bodyPr/>
        <a:lstStyle/>
        <a:p>
          <a:endParaRPr lang="en-US"/>
        </a:p>
      </dgm:t>
    </dgm:pt>
    <dgm:pt modelId="{0CD498C7-3DDE-0C46-9AE3-319907EB4EE7}">
      <dgm:prSet/>
      <dgm:spPr/>
      <dgm:t>
        <a:bodyPr/>
        <a:lstStyle/>
        <a:p>
          <a:pPr rtl="0"/>
          <a:r>
            <a:rPr lang="en-US" dirty="0"/>
            <a:t>Local data variables are accessible only by the monitor’s procedures and not by any external procedure</a:t>
          </a:r>
        </a:p>
      </dgm:t>
    </dgm:pt>
    <dgm:pt modelId="{8D950DE2-9FCB-674D-9547-FD7F92868FDF}" type="parTrans" cxnId="{9060B13E-EB83-584D-AC05-258206B1E1DC}">
      <dgm:prSet/>
      <dgm:spPr/>
      <dgm:t>
        <a:bodyPr/>
        <a:lstStyle/>
        <a:p>
          <a:endParaRPr lang="en-US"/>
        </a:p>
      </dgm:t>
    </dgm:pt>
    <dgm:pt modelId="{5CE9E49E-63E3-924D-9DA4-CE09FF92C74D}" type="sibTrans" cxnId="{9060B13E-EB83-584D-AC05-258206B1E1DC}">
      <dgm:prSet/>
      <dgm:spPr/>
      <dgm:t>
        <a:bodyPr/>
        <a:lstStyle/>
        <a:p>
          <a:endParaRPr lang="en-US"/>
        </a:p>
      </dgm:t>
    </dgm:pt>
    <dgm:pt modelId="{8EA9CC64-AB13-CE41-A069-63201EE90D17}">
      <dgm:prSet/>
      <dgm:spPr/>
      <dgm:t>
        <a:bodyPr/>
        <a:lstStyle/>
        <a:p>
          <a:pPr rtl="0"/>
          <a:r>
            <a:rPr lang="en-US" dirty="0"/>
            <a:t>Process enters monitor by invoking one of its procedures</a:t>
          </a:r>
        </a:p>
      </dgm:t>
    </dgm:pt>
    <dgm:pt modelId="{B8F14AB4-9BCB-FB49-B1D5-5A4A82657B1D}" type="parTrans" cxnId="{2A8E4868-B2DB-2F49-A4A5-95FEC4EF9A34}">
      <dgm:prSet/>
      <dgm:spPr/>
      <dgm:t>
        <a:bodyPr/>
        <a:lstStyle/>
        <a:p>
          <a:endParaRPr lang="en-US"/>
        </a:p>
      </dgm:t>
    </dgm:pt>
    <dgm:pt modelId="{10A7DE3D-0A3F-A145-95C0-0BF97558CB2F}" type="sibTrans" cxnId="{2A8E4868-B2DB-2F49-A4A5-95FEC4EF9A34}">
      <dgm:prSet/>
      <dgm:spPr/>
      <dgm:t>
        <a:bodyPr/>
        <a:lstStyle/>
        <a:p>
          <a:endParaRPr lang="en-US"/>
        </a:p>
      </dgm:t>
    </dgm:pt>
    <dgm:pt modelId="{6E91142C-36C5-A64D-8E23-3E1F763F275F}">
      <dgm:prSet/>
      <dgm:spPr/>
      <dgm:t>
        <a:bodyPr/>
        <a:lstStyle/>
        <a:p>
          <a:pPr rtl="0"/>
          <a:r>
            <a:rPr lang="en-US" dirty="0"/>
            <a:t>Only one process may be executing in the monitor at a time</a:t>
          </a:r>
        </a:p>
      </dgm:t>
    </dgm:pt>
    <dgm:pt modelId="{0CE164C2-1D94-CD4E-99FA-05E077D244EE}" type="parTrans" cxnId="{087B68F7-DC65-3E4E-9C58-622EDA633B35}">
      <dgm:prSet/>
      <dgm:spPr/>
      <dgm:t>
        <a:bodyPr/>
        <a:lstStyle/>
        <a:p>
          <a:endParaRPr lang="en-US"/>
        </a:p>
      </dgm:t>
    </dgm:pt>
    <dgm:pt modelId="{4E5A11BF-DB4A-C947-B5E9-A877E3978015}" type="sibTrans" cxnId="{087B68F7-DC65-3E4E-9C58-622EDA633B35}">
      <dgm:prSet/>
      <dgm:spPr/>
      <dgm:t>
        <a:bodyPr/>
        <a:lstStyle/>
        <a:p>
          <a:endParaRPr lang="en-US"/>
        </a:p>
      </dgm:t>
    </dgm:pt>
    <dgm:pt modelId="{2DBD913D-1F48-A44D-A290-E2245B3307C3}" type="pres">
      <dgm:prSet presAssocID="{6978A990-084D-244A-ABFA-1DBDCB28F056}" presName="Name0" presStyleCnt="0">
        <dgm:presLayoutVars>
          <dgm:dir/>
          <dgm:resizeHandles val="exact"/>
        </dgm:presLayoutVars>
      </dgm:prSet>
      <dgm:spPr/>
    </dgm:pt>
    <dgm:pt modelId="{F27ED8C3-E406-2842-BD01-BCFEA1E9CFC2}" type="pres">
      <dgm:prSet presAssocID="{6978A990-084D-244A-ABFA-1DBDCB28F056}" presName="arrow" presStyleLbl="bgShp" presStyleIdx="0" presStyleCnt="1"/>
      <dgm:spPr>
        <a:solidFill>
          <a:schemeClr val="accent5">
            <a:lumMod val="50000"/>
            <a:alpha val="73000"/>
          </a:schemeClr>
        </a:solidFill>
      </dgm:spPr>
    </dgm:pt>
    <dgm:pt modelId="{ABAC3629-7E56-E44D-B9E9-E4277FBF8261}" type="pres">
      <dgm:prSet presAssocID="{6978A990-084D-244A-ABFA-1DBDCB28F056}" presName="points" presStyleCnt="0"/>
      <dgm:spPr/>
    </dgm:pt>
    <dgm:pt modelId="{966F37C6-7D75-FD49-A96A-649582BC7A80}" type="pres">
      <dgm:prSet presAssocID="{0CD498C7-3DDE-0C46-9AE3-319907EB4EE7}" presName="compositeA" presStyleCnt="0"/>
      <dgm:spPr/>
    </dgm:pt>
    <dgm:pt modelId="{58893B8B-7919-3541-8D99-D3AEC91FB799}" type="pres">
      <dgm:prSet presAssocID="{0CD498C7-3DDE-0C46-9AE3-319907EB4EE7}" presName="textA" presStyleLbl="revTx" presStyleIdx="0" presStyleCnt="3">
        <dgm:presLayoutVars>
          <dgm:bulletEnabled val="1"/>
        </dgm:presLayoutVars>
      </dgm:prSet>
      <dgm:spPr/>
    </dgm:pt>
    <dgm:pt modelId="{A1A147BE-7D78-004C-B935-FAA4F498AEEE}" type="pres">
      <dgm:prSet presAssocID="{0CD498C7-3DDE-0C46-9AE3-319907EB4EE7}" presName="circleA" presStyleLbl="node1" presStyleIdx="0" presStyleCnt="3"/>
      <dgm:spPr>
        <a:solidFill>
          <a:schemeClr val="bg1">
            <a:lumMod val="85000"/>
          </a:schemeClr>
        </a:solidFill>
      </dgm:spPr>
    </dgm:pt>
    <dgm:pt modelId="{61087838-36BF-674B-8A25-A19155220825}" type="pres">
      <dgm:prSet presAssocID="{0CD498C7-3DDE-0C46-9AE3-319907EB4EE7}" presName="spaceA" presStyleCnt="0"/>
      <dgm:spPr/>
    </dgm:pt>
    <dgm:pt modelId="{0A6BDCA9-7D47-2B4B-B9A8-FDEB79E1CE6A}" type="pres">
      <dgm:prSet presAssocID="{5CE9E49E-63E3-924D-9DA4-CE09FF92C74D}" presName="space" presStyleCnt="0"/>
      <dgm:spPr/>
    </dgm:pt>
    <dgm:pt modelId="{2AAC76F1-2C7F-8245-A4D5-FC3AB358E11D}" type="pres">
      <dgm:prSet presAssocID="{8EA9CC64-AB13-CE41-A069-63201EE90D17}" presName="compositeB" presStyleCnt="0"/>
      <dgm:spPr/>
    </dgm:pt>
    <dgm:pt modelId="{5F9EB354-648F-9643-A087-BCC60CED9639}" type="pres">
      <dgm:prSet presAssocID="{8EA9CC64-AB13-CE41-A069-63201EE90D17}" presName="textB" presStyleLbl="revTx" presStyleIdx="1" presStyleCnt="3">
        <dgm:presLayoutVars>
          <dgm:bulletEnabled val="1"/>
        </dgm:presLayoutVars>
      </dgm:prSet>
      <dgm:spPr/>
    </dgm:pt>
    <dgm:pt modelId="{5BF15F84-4D4A-644D-84F8-62271DC370A9}" type="pres">
      <dgm:prSet presAssocID="{8EA9CC64-AB13-CE41-A069-63201EE90D17}" presName="circleB" presStyleLbl="node1" presStyleIdx="1" presStyleCnt="3"/>
      <dgm:spPr>
        <a:solidFill>
          <a:schemeClr val="bg1">
            <a:lumMod val="85000"/>
          </a:schemeClr>
        </a:solidFill>
      </dgm:spPr>
    </dgm:pt>
    <dgm:pt modelId="{37B389D9-BE03-4C41-ADE4-D266C5D96FF8}" type="pres">
      <dgm:prSet presAssocID="{8EA9CC64-AB13-CE41-A069-63201EE90D17}" presName="spaceB" presStyleCnt="0"/>
      <dgm:spPr/>
    </dgm:pt>
    <dgm:pt modelId="{7F9A5DD9-4E05-0445-AECE-FF36902F5EC8}" type="pres">
      <dgm:prSet presAssocID="{10A7DE3D-0A3F-A145-95C0-0BF97558CB2F}" presName="space" presStyleCnt="0"/>
      <dgm:spPr/>
    </dgm:pt>
    <dgm:pt modelId="{DB7646A1-B2FD-5944-92CB-5000DCDE26A7}" type="pres">
      <dgm:prSet presAssocID="{6E91142C-36C5-A64D-8E23-3E1F763F275F}" presName="compositeA" presStyleCnt="0"/>
      <dgm:spPr/>
    </dgm:pt>
    <dgm:pt modelId="{566C022D-D681-2E41-B689-7BBB02AA63E8}" type="pres">
      <dgm:prSet presAssocID="{6E91142C-36C5-A64D-8E23-3E1F763F275F}" presName="textA" presStyleLbl="revTx" presStyleIdx="2" presStyleCnt="3">
        <dgm:presLayoutVars>
          <dgm:bulletEnabled val="1"/>
        </dgm:presLayoutVars>
      </dgm:prSet>
      <dgm:spPr/>
    </dgm:pt>
    <dgm:pt modelId="{C07DF334-9E43-C046-A30B-E200F2167D98}" type="pres">
      <dgm:prSet presAssocID="{6E91142C-36C5-A64D-8E23-3E1F763F275F}" presName="circleA" presStyleLbl="node1" presStyleIdx="2" presStyleCnt="3"/>
      <dgm:spPr>
        <a:solidFill>
          <a:schemeClr val="bg1">
            <a:lumMod val="85000"/>
          </a:schemeClr>
        </a:solidFill>
      </dgm:spPr>
    </dgm:pt>
    <dgm:pt modelId="{331EF74E-9A03-6140-B37A-9FD0912CCB57}" type="pres">
      <dgm:prSet presAssocID="{6E91142C-36C5-A64D-8E23-3E1F763F275F}" presName="spaceA" presStyleCnt="0"/>
      <dgm:spPr/>
    </dgm:pt>
  </dgm:ptLst>
  <dgm:cxnLst>
    <dgm:cxn modelId="{D7005629-DBD9-3F44-ABBD-79C3620F9059}" type="presOf" srcId="{8EA9CC64-AB13-CE41-A069-63201EE90D17}" destId="{5F9EB354-648F-9643-A087-BCC60CED9639}" srcOrd="0" destOrd="0" presId="urn:microsoft.com/office/officeart/2005/8/layout/hProcess11"/>
    <dgm:cxn modelId="{9060B13E-EB83-584D-AC05-258206B1E1DC}" srcId="{6978A990-084D-244A-ABFA-1DBDCB28F056}" destId="{0CD498C7-3DDE-0C46-9AE3-319907EB4EE7}" srcOrd="0" destOrd="0" parTransId="{8D950DE2-9FCB-674D-9547-FD7F92868FDF}" sibTransId="{5CE9E49E-63E3-924D-9DA4-CE09FF92C74D}"/>
    <dgm:cxn modelId="{1999F766-026F-4C49-BF8B-4B4539E0A0C8}" type="presOf" srcId="{0CD498C7-3DDE-0C46-9AE3-319907EB4EE7}" destId="{58893B8B-7919-3541-8D99-D3AEC91FB799}" srcOrd="0" destOrd="0" presId="urn:microsoft.com/office/officeart/2005/8/layout/hProcess11"/>
    <dgm:cxn modelId="{2A8E4868-B2DB-2F49-A4A5-95FEC4EF9A34}" srcId="{6978A990-084D-244A-ABFA-1DBDCB28F056}" destId="{8EA9CC64-AB13-CE41-A069-63201EE90D17}" srcOrd="1" destOrd="0" parTransId="{B8F14AB4-9BCB-FB49-B1D5-5A4A82657B1D}" sibTransId="{10A7DE3D-0A3F-A145-95C0-0BF97558CB2F}"/>
    <dgm:cxn modelId="{75CC5A68-3849-004A-820D-9AECA951C347}" type="presOf" srcId="{6978A990-084D-244A-ABFA-1DBDCB28F056}" destId="{2DBD913D-1F48-A44D-A290-E2245B3307C3}" srcOrd="0" destOrd="0" presId="urn:microsoft.com/office/officeart/2005/8/layout/hProcess11"/>
    <dgm:cxn modelId="{65BFCBC6-F6F1-C04A-A9C5-D04EFB58B08B}" type="presOf" srcId="{6E91142C-36C5-A64D-8E23-3E1F763F275F}" destId="{566C022D-D681-2E41-B689-7BBB02AA63E8}" srcOrd="0" destOrd="0" presId="urn:microsoft.com/office/officeart/2005/8/layout/hProcess11"/>
    <dgm:cxn modelId="{087B68F7-DC65-3E4E-9C58-622EDA633B35}" srcId="{6978A990-084D-244A-ABFA-1DBDCB28F056}" destId="{6E91142C-36C5-A64D-8E23-3E1F763F275F}" srcOrd="2" destOrd="0" parTransId="{0CE164C2-1D94-CD4E-99FA-05E077D244EE}" sibTransId="{4E5A11BF-DB4A-C947-B5E9-A877E3978015}"/>
    <dgm:cxn modelId="{EA4A9794-B578-AA49-A23F-A7AF50134340}" type="presParOf" srcId="{2DBD913D-1F48-A44D-A290-E2245B3307C3}" destId="{F27ED8C3-E406-2842-BD01-BCFEA1E9CFC2}" srcOrd="0" destOrd="0" presId="urn:microsoft.com/office/officeart/2005/8/layout/hProcess11"/>
    <dgm:cxn modelId="{5A8A45FA-76CD-2042-AF65-3F832F21D373}" type="presParOf" srcId="{2DBD913D-1F48-A44D-A290-E2245B3307C3}" destId="{ABAC3629-7E56-E44D-B9E9-E4277FBF8261}" srcOrd="1" destOrd="0" presId="urn:microsoft.com/office/officeart/2005/8/layout/hProcess11"/>
    <dgm:cxn modelId="{9B86258F-6A37-2E4D-B128-8CF0FAB01DD7}" type="presParOf" srcId="{ABAC3629-7E56-E44D-B9E9-E4277FBF8261}" destId="{966F37C6-7D75-FD49-A96A-649582BC7A80}" srcOrd="0" destOrd="0" presId="urn:microsoft.com/office/officeart/2005/8/layout/hProcess11"/>
    <dgm:cxn modelId="{E2E2B9D0-DE41-324B-A1F2-753BE736A1C4}" type="presParOf" srcId="{966F37C6-7D75-FD49-A96A-649582BC7A80}" destId="{58893B8B-7919-3541-8D99-D3AEC91FB799}" srcOrd="0" destOrd="0" presId="urn:microsoft.com/office/officeart/2005/8/layout/hProcess11"/>
    <dgm:cxn modelId="{ADDBB0D1-6DD4-CE48-8EA7-832845A16E77}" type="presParOf" srcId="{966F37C6-7D75-FD49-A96A-649582BC7A80}" destId="{A1A147BE-7D78-004C-B935-FAA4F498AEEE}" srcOrd="1" destOrd="0" presId="urn:microsoft.com/office/officeart/2005/8/layout/hProcess11"/>
    <dgm:cxn modelId="{730B8374-3A04-9249-A3C3-9C32D0C49790}" type="presParOf" srcId="{966F37C6-7D75-FD49-A96A-649582BC7A80}" destId="{61087838-36BF-674B-8A25-A19155220825}" srcOrd="2" destOrd="0" presId="urn:microsoft.com/office/officeart/2005/8/layout/hProcess11"/>
    <dgm:cxn modelId="{06DC396C-8F2E-3644-AF11-766EA4C24017}" type="presParOf" srcId="{ABAC3629-7E56-E44D-B9E9-E4277FBF8261}" destId="{0A6BDCA9-7D47-2B4B-B9A8-FDEB79E1CE6A}" srcOrd="1" destOrd="0" presId="urn:microsoft.com/office/officeart/2005/8/layout/hProcess11"/>
    <dgm:cxn modelId="{6F85DD21-0395-B94A-B77F-28BF8D19C38E}" type="presParOf" srcId="{ABAC3629-7E56-E44D-B9E9-E4277FBF8261}" destId="{2AAC76F1-2C7F-8245-A4D5-FC3AB358E11D}" srcOrd="2" destOrd="0" presId="urn:microsoft.com/office/officeart/2005/8/layout/hProcess11"/>
    <dgm:cxn modelId="{C5360427-E25D-9744-89AE-A674E8B712E8}" type="presParOf" srcId="{2AAC76F1-2C7F-8245-A4D5-FC3AB358E11D}" destId="{5F9EB354-648F-9643-A087-BCC60CED9639}" srcOrd="0" destOrd="0" presId="urn:microsoft.com/office/officeart/2005/8/layout/hProcess11"/>
    <dgm:cxn modelId="{71322FAC-E336-234B-B9FC-CBCF9E0FB697}" type="presParOf" srcId="{2AAC76F1-2C7F-8245-A4D5-FC3AB358E11D}" destId="{5BF15F84-4D4A-644D-84F8-62271DC370A9}" srcOrd="1" destOrd="0" presId="urn:microsoft.com/office/officeart/2005/8/layout/hProcess11"/>
    <dgm:cxn modelId="{C1030814-126C-194A-BC91-7EA8DD2CD08E}" type="presParOf" srcId="{2AAC76F1-2C7F-8245-A4D5-FC3AB358E11D}" destId="{37B389D9-BE03-4C41-ADE4-D266C5D96FF8}" srcOrd="2" destOrd="0" presId="urn:microsoft.com/office/officeart/2005/8/layout/hProcess11"/>
    <dgm:cxn modelId="{A0DA03BB-4909-2647-87B8-72498CC96C7F}" type="presParOf" srcId="{ABAC3629-7E56-E44D-B9E9-E4277FBF8261}" destId="{7F9A5DD9-4E05-0445-AECE-FF36902F5EC8}" srcOrd="3" destOrd="0" presId="urn:microsoft.com/office/officeart/2005/8/layout/hProcess11"/>
    <dgm:cxn modelId="{E7EEE480-41EB-B442-A79A-C60D0C9217C5}" type="presParOf" srcId="{ABAC3629-7E56-E44D-B9E9-E4277FBF8261}" destId="{DB7646A1-B2FD-5944-92CB-5000DCDE26A7}" srcOrd="4" destOrd="0" presId="urn:microsoft.com/office/officeart/2005/8/layout/hProcess11"/>
    <dgm:cxn modelId="{43DBE0CF-FE9F-CA4E-BCFE-5F23B77BBB57}" type="presParOf" srcId="{DB7646A1-B2FD-5944-92CB-5000DCDE26A7}" destId="{566C022D-D681-2E41-B689-7BBB02AA63E8}" srcOrd="0" destOrd="0" presId="urn:microsoft.com/office/officeart/2005/8/layout/hProcess11"/>
    <dgm:cxn modelId="{45B528FE-8266-6B46-AF6A-8A04271BC36E}" type="presParOf" srcId="{DB7646A1-B2FD-5944-92CB-5000DCDE26A7}" destId="{C07DF334-9E43-C046-A30B-E200F2167D98}" srcOrd="1" destOrd="0" presId="urn:microsoft.com/office/officeart/2005/8/layout/hProcess11"/>
    <dgm:cxn modelId="{A1234411-FC71-3849-8BE6-B0D656D09D9E}" type="presParOf" srcId="{DB7646A1-B2FD-5944-92CB-5000DCDE26A7}" destId="{331EF74E-9A03-6140-B37A-9FD0912CCB5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F3E3F9-68CC-4B48-97D8-8820B8B52380}" type="doc">
      <dgm:prSet loTypeId="urn:microsoft.com/office/officeart/2005/8/layout/hList1" loCatId="list" qsTypeId="urn:microsoft.com/office/officeart/2005/8/quickstyle/simple4" qsCatId="simple" csTypeId="urn:microsoft.com/office/officeart/2005/8/colors/accent1_2#8" csCatId="accent1" phldr="1"/>
      <dgm:spPr/>
      <dgm:t>
        <a:bodyPr/>
        <a:lstStyle/>
        <a:p>
          <a:endParaRPr lang="en-US"/>
        </a:p>
      </dgm:t>
    </dgm:pt>
    <dgm:pt modelId="{1EA6FED8-9BBF-5140-A08F-A237BA4E9A02}">
      <dgm:prSet phldrT="[Text]"/>
      <dgm:spPr>
        <a:solidFill>
          <a:schemeClr val="accent6">
            <a:lumMod val="75000"/>
          </a:schemeClr>
        </a:solidFill>
      </dgm:spPr>
      <dgm:t>
        <a:bodyPr/>
        <a:lstStyle/>
        <a:p>
          <a:r>
            <a:rPr lang="en-NZ" dirty="0"/>
            <a:t>synchronization</a:t>
          </a:r>
          <a:endParaRPr lang="en-US" dirty="0"/>
        </a:p>
      </dgm:t>
    </dgm:pt>
    <dgm:pt modelId="{913D91F1-9A02-CC4A-AA24-9B4EFD555C36}" type="parTrans" cxnId="{50F33E3D-3B5D-3F43-849C-DA606D4851DA}">
      <dgm:prSet/>
      <dgm:spPr/>
      <dgm:t>
        <a:bodyPr/>
        <a:lstStyle/>
        <a:p>
          <a:endParaRPr lang="en-US"/>
        </a:p>
      </dgm:t>
    </dgm:pt>
    <dgm:pt modelId="{0A4C3C0D-C741-C942-A2D0-5FDFBAB365B9}" type="sibTrans" cxnId="{50F33E3D-3B5D-3F43-849C-DA606D4851DA}">
      <dgm:prSet/>
      <dgm:spPr/>
      <dgm:t>
        <a:bodyPr/>
        <a:lstStyle/>
        <a:p>
          <a:endParaRPr lang="en-US"/>
        </a:p>
      </dgm:t>
    </dgm:pt>
    <dgm:pt modelId="{3B0A3029-B0C2-F141-B2EA-DA17FBF6E37E}">
      <dgm:prSet/>
      <dgm:spPr>
        <a:solidFill>
          <a:schemeClr val="accent5">
            <a:lumMod val="60000"/>
            <a:lumOff val="40000"/>
            <a:alpha val="46000"/>
          </a:schemeClr>
        </a:solidFill>
      </dgm:spPr>
      <dgm:t>
        <a:bodyPr/>
        <a:lstStyle/>
        <a:p>
          <a:r>
            <a:rPr lang="en-NZ" dirty="0"/>
            <a:t>to enforce mutual exclusion</a:t>
          </a:r>
        </a:p>
      </dgm:t>
    </dgm:pt>
    <dgm:pt modelId="{64A0F0F9-99F1-C74E-A0E6-9CF4E31EFDF3}" type="parTrans" cxnId="{86BDA16F-A36C-3F41-97F2-E5628886B2EA}">
      <dgm:prSet/>
      <dgm:spPr/>
      <dgm:t>
        <a:bodyPr/>
        <a:lstStyle/>
        <a:p>
          <a:endParaRPr lang="en-US"/>
        </a:p>
      </dgm:t>
    </dgm:pt>
    <dgm:pt modelId="{DC842284-709A-F840-BB50-E839AF06A71B}" type="sibTrans" cxnId="{86BDA16F-A36C-3F41-97F2-E5628886B2EA}">
      <dgm:prSet/>
      <dgm:spPr/>
      <dgm:t>
        <a:bodyPr/>
        <a:lstStyle/>
        <a:p>
          <a:endParaRPr lang="en-US"/>
        </a:p>
      </dgm:t>
    </dgm:pt>
    <dgm:pt modelId="{78D0FAFE-BEAC-974E-A8A6-6E016820C0AF}">
      <dgm:prSet/>
      <dgm:spPr>
        <a:solidFill>
          <a:schemeClr val="accent6">
            <a:lumMod val="75000"/>
          </a:schemeClr>
        </a:solidFill>
      </dgm:spPr>
      <dgm:t>
        <a:bodyPr/>
        <a:lstStyle/>
        <a:p>
          <a:r>
            <a:rPr lang="en-NZ"/>
            <a:t>communication  </a:t>
          </a:r>
          <a:endParaRPr lang="en-NZ" dirty="0"/>
        </a:p>
      </dgm:t>
    </dgm:pt>
    <dgm:pt modelId="{02CF33B5-AD82-0448-A60A-572BF225D3D0}" type="parTrans" cxnId="{6793FA49-A7BC-2A41-B16B-C9F185179A54}">
      <dgm:prSet/>
      <dgm:spPr/>
      <dgm:t>
        <a:bodyPr/>
        <a:lstStyle/>
        <a:p>
          <a:endParaRPr lang="en-US"/>
        </a:p>
      </dgm:t>
    </dgm:pt>
    <dgm:pt modelId="{AD7D4B99-C7ED-6C49-9932-446373B64DC7}" type="sibTrans" cxnId="{6793FA49-A7BC-2A41-B16B-C9F185179A54}">
      <dgm:prSet/>
      <dgm:spPr/>
      <dgm:t>
        <a:bodyPr/>
        <a:lstStyle/>
        <a:p>
          <a:endParaRPr lang="en-US"/>
        </a:p>
      </dgm:t>
    </dgm:pt>
    <dgm:pt modelId="{C94760C5-CCA2-6148-A075-4E4321A5FB55}">
      <dgm:prSet/>
      <dgm:spPr>
        <a:solidFill>
          <a:schemeClr val="accent5">
            <a:lumMod val="60000"/>
            <a:lumOff val="40000"/>
            <a:alpha val="46000"/>
          </a:schemeClr>
        </a:solidFill>
      </dgm:spPr>
      <dgm:t>
        <a:bodyPr/>
        <a:lstStyle/>
        <a:p>
          <a:r>
            <a:rPr lang="en-NZ"/>
            <a:t>to exchange information</a:t>
          </a:r>
          <a:endParaRPr lang="en-NZ" dirty="0"/>
        </a:p>
      </dgm:t>
    </dgm:pt>
    <dgm:pt modelId="{3264B8F4-E3A1-D048-9C93-64E171E09FF8}" type="parTrans" cxnId="{C2146337-3282-3F46-9865-12C34697BFD5}">
      <dgm:prSet/>
      <dgm:spPr/>
      <dgm:t>
        <a:bodyPr/>
        <a:lstStyle/>
        <a:p>
          <a:endParaRPr lang="en-US"/>
        </a:p>
      </dgm:t>
    </dgm:pt>
    <dgm:pt modelId="{AFB7E538-773D-9448-B794-151B6FC05E15}" type="sibTrans" cxnId="{C2146337-3282-3F46-9865-12C34697BFD5}">
      <dgm:prSet/>
      <dgm:spPr/>
      <dgm:t>
        <a:bodyPr/>
        <a:lstStyle/>
        <a:p>
          <a:endParaRPr lang="en-US"/>
        </a:p>
      </dgm:t>
    </dgm:pt>
    <dgm:pt modelId="{1E0E8A6C-30F6-954E-BF0B-385C7EBD0C12}" type="pres">
      <dgm:prSet presAssocID="{E0F3E3F9-68CC-4B48-97D8-8820B8B52380}" presName="Name0" presStyleCnt="0">
        <dgm:presLayoutVars>
          <dgm:dir/>
          <dgm:animLvl val="lvl"/>
          <dgm:resizeHandles val="exact"/>
        </dgm:presLayoutVars>
      </dgm:prSet>
      <dgm:spPr/>
    </dgm:pt>
    <dgm:pt modelId="{9A1E6D3E-49F5-FB47-8E26-49A78379E627}" type="pres">
      <dgm:prSet presAssocID="{1EA6FED8-9BBF-5140-A08F-A237BA4E9A02}" presName="composite" presStyleCnt="0"/>
      <dgm:spPr/>
    </dgm:pt>
    <dgm:pt modelId="{CA516BB1-9D39-E449-8773-CABC43961BCF}" type="pres">
      <dgm:prSet presAssocID="{1EA6FED8-9BBF-5140-A08F-A237BA4E9A02}" presName="parTx" presStyleLbl="alignNode1" presStyleIdx="0" presStyleCnt="2">
        <dgm:presLayoutVars>
          <dgm:chMax val="0"/>
          <dgm:chPref val="0"/>
          <dgm:bulletEnabled val="1"/>
        </dgm:presLayoutVars>
      </dgm:prSet>
      <dgm:spPr/>
    </dgm:pt>
    <dgm:pt modelId="{57087B52-C684-5341-9E12-7A8A7012CF46}" type="pres">
      <dgm:prSet presAssocID="{1EA6FED8-9BBF-5140-A08F-A237BA4E9A02}" presName="desTx" presStyleLbl="alignAccFollowNode1" presStyleIdx="0" presStyleCnt="2">
        <dgm:presLayoutVars>
          <dgm:bulletEnabled val="1"/>
        </dgm:presLayoutVars>
      </dgm:prSet>
      <dgm:spPr/>
    </dgm:pt>
    <dgm:pt modelId="{500BD35D-55BA-E941-9F70-6DBE2F67868C}" type="pres">
      <dgm:prSet presAssocID="{0A4C3C0D-C741-C942-A2D0-5FDFBAB365B9}" presName="space" presStyleCnt="0"/>
      <dgm:spPr/>
    </dgm:pt>
    <dgm:pt modelId="{40863167-85FF-5F48-9661-2BE83E6BDDA2}" type="pres">
      <dgm:prSet presAssocID="{78D0FAFE-BEAC-974E-A8A6-6E016820C0AF}" presName="composite" presStyleCnt="0"/>
      <dgm:spPr/>
    </dgm:pt>
    <dgm:pt modelId="{58C9E88D-0AFF-9A46-9A58-7E5B47B8FB75}" type="pres">
      <dgm:prSet presAssocID="{78D0FAFE-BEAC-974E-A8A6-6E016820C0AF}" presName="parTx" presStyleLbl="alignNode1" presStyleIdx="1" presStyleCnt="2">
        <dgm:presLayoutVars>
          <dgm:chMax val="0"/>
          <dgm:chPref val="0"/>
          <dgm:bulletEnabled val="1"/>
        </dgm:presLayoutVars>
      </dgm:prSet>
      <dgm:spPr/>
    </dgm:pt>
    <dgm:pt modelId="{DEB9BAE2-8339-A243-A12C-F23AFF408E60}" type="pres">
      <dgm:prSet presAssocID="{78D0FAFE-BEAC-974E-A8A6-6E016820C0AF}" presName="desTx" presStyleLbl="alignAccFollowNode1" presStyleIdx="1" presStyleCnt="2">
        <dgm:presLayoutVars>
          <dgm:bulletEnabled val="1"/>
        </dgm:presLayoutVars>
      </dgm:prSet>
      <dgm:spPr/>
    </dgm:pt>
  </dgm:ptLst>
  <dgm:cxnLst>
    <dgm:cxn modelId="{18E97E1A-83D6-524C-B5EF-07429F8C76E1}" type="presOf" srcId="{E0F3E3F9-68CC-4B48-97D8-8820B8B52380}" destId="{1E0E8A6C-30F6-954E-BF0B-385C7EBD0C12}" srcOrd="0" destOrd="0" presId="urn:microsoft.com/office/officeart/2005/8/layout/hList1"/>
    <dgm:cxn modelId="{C2146337-3282-3F46-9865-12C34697BFD5}" srcId="{78D0FAFE-BEAC-974E-A8A6-6E016820C0AF}" destId="{C94760C5-CCA2-6148-A075-4E4321A5FB55}" srcOrd="0" destOrd="0" parTransId="{3264B8F4-E3A1-D048-9C93-64E171E09FF8}" sibTransId="{AFB7E538-773D-9448-B794-151B6FC05E15}"/>
    <dgm:cxn modelId="{50F33E3D-3B5D-3F43-849C-DA606D4851DA}" srcId="{E0F3E3F9-68CC-4B48-97D8-8820B8B52380}" destId="{1EA6FED8-9BBF-5140-A08F-A237BA4E9A02}" srcOrd="0" destOrd="0" parTransId="{913D91F1-9A02-CC4A-AA24-9B4EFD555C36}" sibTransId="{0A4C3C0D-C741-C942-A2D0-5FDFBAB365B9}"/>
    <dgm:cxn modelId="{6793FA49-A7BC-2A41-B16B-C9F185179A54}" srcId="{E0F3E3F9-68CC-4B48-97D8-8820B8B52380}" destId="{78D0FAFE-BEAC-974E-A8A6-6E016820C0AF}" srcOrd="1" destOrd="0" parTransId="{02CF33B5-AD82-0448-A60A-572BF225D3D0}" sibTransId="{AD7D4B99-C7ED-6C49-9932-446373B64DC7}"/>
    <dgm:cxn modelId="{65FA8E6F-1828-674A-A6C3-FA814E92E1BD}" type="presOf" srcId="{3B0A3029-B0C2-F141-B2EA-DA17FBF6E37E}" destId="{57087B52-C684-5341-9E12-7A8A7012CF46}" srcOrd="0" destOrd="0" presId="urn:microsoft.com/office/officeart/2005/8/layout/hList1"/>
    <dgm:cxn modelId="{86BDA16F-A36C-3F41-97F2-E5628886B2EA}" srcId="{1EA6FED8-9BBF-5140-A08F-A237BA4E9A02}" destId="{3B0A3029-B0C2-F141-B2EA-DA17FBF6E37E}" srcOrd="0" destOrd="0" parTransId="{64A0F0F9-99F1-C74E-A0E6-9CF4E31EFDF3}" sibTransId="{DC842284-709A-F840-BB50-E839AF06A71B}"/>
    <dgm:cxn modelId="{D69CF9B8-4B84-B04A-AF58-CE924309C727}" type="presOf" srcId="{78D0FAFE-BEAC-974E-A8A6-6E016820C0AF}" destId="{58C9E88D-0AFF-9A46-9A58-7E5B47B8FB75}" srcOrd="0" destOrd="0" presId="urn:microsoft.com/office/officeart/2005/8/layout/hList1"/>
    <dgm:cxn modelId="{7158D5DB-3C4B-6347-8E0D-64EF667EB83A}" type="presOf" srcId="{C94760C5-CCA2-6148-A075-4E4321A5FB55}" destId="{DEB9BAE2-8339-A243-A12C-F23AFF408E60}" srcOrd="0" destOrd="0" presId="urn:microsoft.com/office/officeart/2005/8/layout/hList1"/>
    <dgm:cxn modelId="{D50957FA-2A5C-BB4F-B3A6-B0AA341FD885}" type="presOf" srcId="{1EA6FED8-9BBF-5140-A08F-A237BA4E9A02}" destId="{CA516BB1-9D39-E449-8773-CABC43961BCF}" srcOrd="0" destOrd="0" presId="urn:microsoft.com/office/officeart/2005/8/layout/hList1"/>
    <dgm:cxn modelId="{78B12326-05BA-4F44-9235-001552467200}" type="presParOf" srcId="{1E0E8A6C-30F6-954E-BF0B-385C7EBD0C12}" destId="{9A1E6D3E-49F5-FB47-8E26-49A78379E627}" srcOrd="0" destOrd="0" presId="urn:microsoft.com/office/officeart/2005/8/layout/hList1"/>
    <dgm:cxn modelId="{D4FFA872-A576-E248-B3A1-FCAF5F51B0B0}" type="presParOf" srcId="{9A1E6D3E-49F5-FB47-8E26-49A78379E627}" destId="{CA516BB1-9D39-E449-8773-CABC43961BCF}" srcOrd="0" destOrd="0" presId="urn:microsoft.com/office/officeart/2005/8/layout/hList1"/>
    <dgm:cxn modelId="{14BAA4F3-D5E8-B449-9191-F0DA2541BA7F}" type="presParOf" srcId="{9A1E6D3E-49F5-FB47-8E26-49A78379E627}" destId="{57087B52-C684-5341-9E12-7A8A7012CF46}" srcOrd="1" destOrd="0" presId="urn:microsoft.com/office/officeart/2005/8/layout/hList1"/>
    <dgm:cxn modelId="{4ADEA968-B31C-1C4E-80A8-C8A700F85E3A}" type="presParOf" srcId="{1E0E8A6C-30F6-954E-BF0B-385C7EBD0C12}" destId="{500BD35D-55BA-E941-9F70-6DBE2F67868C}" srcOrd="1" destOrd="0" presId="urn:microsoft.com/office/officeart/2005/8/layout/hList1"/>
    <dgm:cxn modelId="{7B13F67B-6E58-1A43-96B5-D19279A9E0B8}" type="presParOf" srcId="{1E0E8A6C-30F6-954E-BF0B-385C7EBD0C12}" destId="{40863167-85FF-5F48-9661-2BE83E6BDDA2}" srcOrd="2" destOrd="0" presId="urn:microsoft.com/office/officeart/2005/8/layout/hList1"/>
    <dgm:cxn modelId="{D794A69A-28E2-474B-BEF9-D361362FB59C}" type="presParOf" srcId="{40863167-85FF-5F48-9661-2BE83E6BDDA2}" destId="{58C9E88D-0AFF-9A46-9A58-7E5B47B8FB75}" srcOrd="0" destOrd="0" presId="urn:microsoft.com/office/officeart/2005/8/layout/hList1"/>
    <dgm:cxn modelId="{7FBB4A80-D805-EE45-B1AA-17175D8F82FB}" type="presParOf" srcId="{40863167-85FF-5F48-9661-2BE83E6BDDA2}" destId="{DEB9BAE2-8339-A243-A12C-F23AFF408E6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95E1FC1-AE98-9144-90B5-05E66E6E95A0}" type="doc">
      <dgm:prSet loTypeId="urn:microsoft.com/office/officeart/2005/8/layout/balance1" loCatId="relationship" qsTypeId="urn:microsoft.com/office/officeart/2005/8/quickstyle/simple4" qsCatId="simple" csTypeId="urn:microsoft.com/office/officeart/2005/8/colors/accent1_2#9" csCatId="accent1" phldr="1"/>
      <dgm:spPr/>
      <dgm:t>
        <a:bodyPr/>
        <a:lstStyle/>
        <a:p>
          <a:endParaRPr lang="en-US"/>
        </a:p>
      </dgm:t>
    </dgm:pt>
    <dgm:pt modelId="{840D4CA7-F43C-CF41-AE16-12E5267C417C}">
      <dgm:prSet/>
      <dgm:spPr>
        <a:solidFill>
          <a:schemeClr val="accent5">
            <a:lumMod val="50000"/>
          </a:schemeClr>
        </a:solidFill>
      </dgm:spPr>
      <dgm:t>
        <a:bodyPr/>
        <a:lstStyle/>
        <a:p>
          <a:pPr rtl="0"/>
          <a:r>
            <a:rPr lang="en-US" dirty="0">
              <a:solidFill>
                <a:schemeClr val="bg1"/>
              </a:solidFill>
            </a:rPr>
            <a:t>Communication of a message between two processes implies synchronization between the two</a:t>
          </a:r>
        </a:p>
      </dgm:t>
    </dgm:pt>
    <dgm:pt modelId="{B6455B8E-0B5E-FD45-9EDE-6590CE5032E6}" type="parTrans" cxnId="{0E661DEA-D1AD-4E4B-9264-BE5FA7FA9180}">
      <dgm:prSet/>
      <dgm:spPr/>
      <dgm:t>
        <a:bodyPr/>
        <a:lstStyle/>
        <a:p>
          <a:endParaRPr lang="en-US"/>
        </a:p>
      </dgm:t>
    </dgm:pt>
    <dgm:pt modelId="{FF027CAC-32AE-1C45-8241-D177EA39F3AA}" type="sibTrans" cxnId="{0E661DEA-D1AD-4E4B-9264-BE5FA7FA9180}">
      <dgm:prSet/>
      <dgm:spPr/>
      <dgm:t>
        <a:bodyPr/>
        <a:lstStyle/>
        <a:p>
          <a:endParaRPr lang="en-US"/>
        </a:p>
      </dgm:t>
    </dgm:pt>
    <dgm:pt modelId="{9F68511C-A65C-A148-98E2-790D535DB7F2}">
      <dgm:prSet custT="1"/>
      <dgm:spPr>
        <a:solidFill>
          <a:schemeClr val="accent1">
            <a:alpha val="25000"/>
          </a:schemeClr>
        </a:solidFill>
      </dgm:spPr>
      <dgm:t>
        <a:bodyPr/>
        <a:lstStyle/>
        <a:p>
          <a:pPr rtl="0"/>
          <a:r>
            <a:rPr lang="en-US" sz="1600" b="1" i="0" dirty="0">
              <a:solidFill>
                <a:schemeClr val="tx1"/>
              </a:solidFill>
            </a:rPr>
            <a:t>the receiver cannot receive a message until it has been sent by another process</a:t>
          </a:r>
        </a:p>
      </dgm:t>
    </dgm:pt>
    <dgm:pt modelId="{9B5832A9-E3E7-1740-8851-39E50990F488}" type="parTrans" cxnId="{4484B7AC-E8AB-494B-8FA7-CB5AF9EA6976}">
      <dgm:prSet/>
      <dgm:spPr>
        <a:solidFill>
          <a:schemeClr val="accent3">
            <a:lumMod val="50000"/>
          </a:schemeClr>
        </a:solidFill>
      </dgm:spPr>
      <dgm:t>
        <a:bodyPr/>
        <a:lstStyle/>
        <a:p>
          <a:endParaRPr lang="en-US"/>
        </a:p>
      </dgm:t>
    </dgm:pt>
    <dgm:pt modelId="{999D2C2E-9B38-7945-B8A0-97F14BA20022}" type="sibTrans" cxnId="{4484B7AC-E8AB-494B-8FA7-CB5AF9EA6976}">
      <dgm:prSet/>
      <dgm:spPr/>
      <dgm:t>
        <a:bodyPr/>
        <a:lstStyle/>
        <a:p>
          <a:endParaRPr lang="en-US"/>
        </a:p>
      </dgm:t>
    </dgm:pt>
    <dgm:pt modelId="{E2DC3244-DAD2-9D4C-A018-8A8B976DD049}">
      <dgm:prSet custT="1"/>
      <dgm:spPr>
        <a:solidFill>
          <a:schemeClr val="accent5">
            <a:lumMod val="50000"/>
          </a:schemeClr>
        </a:solidFill>
      </dgm:spPr>
      <dgm:t>
        <a:bodyPr/>
        <a:lstStyle/>
        <a:p>
          <a:pPr rtl="0"/>
          <a:r>
            <a:rPr lang="en-NZ" sz="1600" b="1" i="0" dirty="0">
              <a:solidFill>
                <a:schemeClr val="bg1"/>
              </a:solidFill>
            </a:rPr>
            <a:t>When a receive primitive is executed in a process there are two possibilities:</a:t>
          </a:r>
          <a:endParaRPr lang="en-US" sz="1600" b="1" i="0" dirty="0">
            <a:solidFill>
              <a:schemeClr val="bg1"/>
            </a:solidFill>
          </a:endParaRPr>
        </a:p>
      </dgm:t>
    </dgm:pt>
    <dgm:pt modelId="{1973821B-403A-0146-BD8D-DA56A4AEC2C9}" type="parTrans" cxnId="{2C56A986-657E-9F48-B2E3-4804F9844815}">
      <dgm:prSet/>
      <dgm:spPr/>
      <dgm:t>
        <a:bodyPr/>
        <a:lstStyle/>
        <a:p>
          <a:endParaRPr lang="en-US"/>
        </a:p>
      </dgm:t>
    </dgm:pt>
    <dgm:pt modelId="{6AF24642-B7D1-704E-B460-270B7FD3D09D}" type="sibTrans" cxnId="{2C56A986-657E-9F48-B2E3-4804F9844815}">
      <dgm:prSet/>
      <dgm:spPr/>
      <dgm:t>
        <a:bodyPr/>
        <a:lstStyle/>
        <a:p>
          <a:endParaRPr lang="en-US"/>
        </a:p>
      </dgm:t>
    </dgm:pt>
    <dgm:pt modelId="{AD6ED04A-891F-AF4E-8937-6061FB7A3F54}">
      <dgm:prSet custT="1"/>
      <dgm:spPr>
        <a:solidFill>
          <a:schemeClr val="accent1">
            <a:alpha val="25000"/>
          </a:schemeClr>
        </a:solidFill>
      </dgm:spPr>
      <dgm:t>
        <a:bodyPr/>
        <a:lstStyle/>
        <a:p>
          <a:pPr rtl="0"/>
          <a:r>
            <a:rPr lang="en-US" sz="1600" b="1" i="0" dirty="0">
              <a:solidFill>
                <a:schemeClr val="tx1"/>
              </a:solidFill>
            </a:rPr>
            <a:t>if a message has previously been sent the message is received and execution continues</a:t>
          </a:r>
        </a:p>
      </dgm:t>
    </dgm:pt>
    <dgm:pt modelId="{D91650F5-5F17-4947-B746-139C446E7B93}" type="parTrans" cxnId="{B8E14DBC-689D-DD4D-8A23-4A3BF577E67E}">
      <dgm:prSet/>
      <dgm:spPr>
        <a:solidFill>
          <a:schemeClr val="accent3">
            <a:lumMod val="50000"/>
          </a:schemeClr>
        </a:solidFill>
      </dgm:spPr>
      <dgm:t>
        <a:bodyPr/>
        <a:lstStyle/>
        <a:p>
          <a:endParaRPr lang="en-US"/>
        </a:p>
      </dgm:t>
    </dgm:pt>
    <dgm:pt modelId="{4A139160-FB39-8947-BCEB-821B966901C3}" type="sibTrans" cxnId="{B8E14DBC-689D-DD4D-8A23-4A3BF577E67E}">
      <dgm:prSet/>
      <dgm:spPr>
        <a:solidFill>
          <a:schemeClr val="accent3">
            <a:lumMod val="50000"/>
          </a:schemeClr>
        </a:solidFill>
      </dgm:spPr>
      <dgm:t>
        <a:bodyPr/>
        <a:lstStyle/>
        <a:p>
          <a:endParaRPr lang="en-US"/>
        </a:p>
      </dgm:t>
    </dgm:pt>
    <dgm:pt modelId="{3C816CD3-56A3-7A4B-BCEB-CD66601F67AC}">
      <dgm:prSet custT="1"/>
      <dgm:spPr>
        <a:solidFill>
          <a:schemeClr val="accent1">
            <a:alpha val="25000"/>
          </a:schemeClr>
        </a:solidFill>
      </dgm:spPr>
      <dgm:t>
        <a:bodyPr/>
        <a:lstStyle/>
        <a:p>
          <a:pPr rtl="0"/>
          <a:r>
            <a:rPr lang="en-US" sz="1600" b="1" i="0" dirty="0">
              <a:solidFill>
                <a:schemeClr val="tx1"/>
              </a:solidFill>
            </a:rPr>
            <a:t>if there is no waiting message the process is blocked until a message arrives or the process continues to execute, abandoning the attempt to receive</a:t>
          </a:r>
        </a:p>
      </dgm:t>
    </dgm:pt>
    <dgm:pt modelId="{CFC117F8-B61C-AB42-9A8C-92D213E7A327}" type="parTrans" cxnId="{D416D413-81EB-FF47-8DEF-43AEEF53A208}">
      <dgm:prSet/>
      <dgm:spPr/>
      <dgm:t>
        <a:bodyPr/>
        <a:lstStyle/>
        <a:p>
          <a:endParaRPr lang="en-US"/>
        </a:p>
      </dgm:t>
    </dgm:pt>
    <dgm:pt modelId="{247550A5-0F5A-E64C-A14B-5586AAD92809}" type="sibTrans" cxnId="{D416D413-81EB-FF47-8DEF-43AEEF53A208}">
      <dgm:prSet/>
      <dgm:spPr/>
      <dgm:t>
        <a:bodyPr/>
        <a:lstStyle/>
        <a:p>
          <a:endParaRPr lang="en-US"/>
        </a:p>
      </dgm:t>
    </dgm:pt>
    <dgm:pt modelId="{274E3787-5FB6-4A45-98BD-3563E0A7FEC3}" type="pres">
      <dgm:prSet presAssocID="{B95E1FC1-AE98-9144-90B5-05E66E6E95A0}" presName="outerComposite" presStyleCnt="0">
        <dgm:presLayoutVars>
          <dgm:chMax val="2"/>
          <dgm:animLvl val="lvl"/>
          <dgm:resizeHandles val="exact"/>
        </dgm:presLayoutVars>
      </dgm:prSet>
      <dgm:spPr/>
    </dgm:pt>
    <dgm:pt modelId="{291E944F-80DD-E24F-B74D-7EA7AA00490C}" type="pres">
      <dgm:prSet presAssocID="{B95E1FC1-AE98-9144-90B5-05E66E6E95A0}" presName="dummyMaxCanvas" presStyleCnt="0"/>
      <dgm:spPr/>
    </dgm:pt>
    <dgm:pt modelId="{E0E7CFCA-4DF9-3B4B-BB67-A17822A163EE}" type="pres">
      <dgm:prSet presAssocID="{B95E1FC1-AE98-9144-90B5-05E66E6E95A0}" presName="parentComposite" presStyleCnt="0"/>
      <dgm:spPr/>
    </dgm:pt>
    <dgm:pt modelId="{D8CE5C9F-7A29-B049-BF80-D80F2A8B9162}" type="pres">
      <dgm:prSet presAssocID="{B95E1FC1-AE98-9144-90B5-05E66E6E95A0}" presName="parent1" presStyleLbl="alignAccFollowNode1" presStyleIdx="0" presStyleCnt="4" custAng="21364723" custScaleX="164913" custScaleY="146153" custLinFactNeighborX="-53292" custLinFactNeighborY="90130">
        <dgm:presLayoutVars>
          <dgm:chMax val="4"/>
        </dgm:presLayoutVars>
      </dgm:prSet>
      <dgm:spPr/>
    </dgm:pt>
    <dgm:pt modelId="{B0876E2E-024F-E840-B429-8A6DDBD3C0B7}" type="pres">
      <dgm:prSet presAssocID="{B95E1FC1-AE98-9144-90B5-05E66E6E95A0}" presName="parent2" presStyleLbl="alignAccFollowNode1" presStyleIdx="1" presStyleCnt="4" custAng="469402" custScaleX="194480" custScaleY="107522" custLinFactNeighborX="61348" custLinFactNeighborY="33541">
        <dgm:presLayoutVars>
          <dgm:chMax val="4"/>
        </dgm:presLayoutVars>
      </dgm:prSet>
      <dgm:spPr/>
    </dgm:pt>
    <dgm:pt modelId="{9EF45476-3661-5746-803B-11C9518452CB}" type="pres">
      <dgm:prSet presAssocID="{B95E1FC1-AE98-9144-90B5-05E66E6E95A0}" presName="childrenComposite" presStyleCnt="0"/>
      <dgm:spPr/>
    </dgm:pt>
    <dgm:pt modelId="{111AB746-2FF6-564B-8753-AC7B0712DC09}" type="pres">
      <dgm:prSet presAssocID="{B95E1FC1-AE98-9144-90B5-05E66E6E95A0}" presName="dummyMaxCanvas_ChildArea" presStyleCnt="0"/>
      <dgm:spPr/>
    </dgm:pt>
    <dgm:pt modelId="{4F3C4FFF-DBC4-E343-860C-7EE99D254749}" type="pres">
      <dgm:prSet presAssocID="{B95E1FC1-AE98-9144-90B5-05E66E6E95A0}" presName="fulcrum" presStyleLbl="alignAccFollowNode1" presStyleIdx="2" presStyleCnt="4" custLinFactNeighborX="-3607" custLinFactNeighborY="15629"/>
      <dgm:spPr>
        <a:solidFill>
          <a:schemeClr val="accent3">
            <a:lumMod val="50000"/>
          </a:schemeClr>
        </a:solidFill>
      </dgm:spPr>
    </dgm:pt>
    <dgm:pt modelId="{DE958576-B4BC-E74E-86DC-B7A96B976014}" type="pres">
      <dgm:prSet presAssocID="{B95E1FC1-AE98-9144-90B5-05E66E6E95A0}" presName="balance_12" presStyleLbl="alignAccFollowNode1" presStyleIdx="3" presStyleCnt="4" custLinFactNeighborX="-38" custLinFactNeighborY="27609">
        <dgm:presLayoutVars>
          <dgm:bulletEnabled val="1"/>
        </dgm:presLayoutVars>
      </dgm:prSet>
      <dgm:spPr>
        <a:solidFill>
          <a:schemeClr val="accent3">
            <a:lumMod val="50000"/>
          </a:schemeClr>
        </a:solidFill>
      </dgm:spPr>
    </dgm:pt>
    <dgm:pt modelId="{E023CDB2-16FA-3B49-BF46-F81510603726}" type="pres">
      <dgm:prSet presAssocID="{B95E1FC1-AE98-9144-90B5-05E66E6E95A0}" presName="right_12_1" presStyleLbl="node1" presStyleIdx="0" presStyleCnt="3" custAng="270070" custScaleX="164424" custLinFactNeighborX="16444" custLinFactNeighborY="13736">
        <dgm:presLayoutVars>
          <dgm:bulletEnabled val="1"/>
        </dgm:presLayoutVars>
      </dgm:prSet>
      <dgm:spPr/>
    </dgm:pt>
    <dgm:pt modelId="{5EB8A7DA-62E2-E440-9AA1-AFABD63FDF67}" type="pres">
      <dgm:prSet presAssocID="{B95E1FC1-AE98-9144-90B5-05E66E6E95A0}" presName="right_12_2" presStyleLbl="node1" presStyleIdx="1" presStyleCnt="3" custAng="297530" custScaleX="213047" custScaleY="117257" custLinFactNeighborX="41498" custLinFactNeighborY="14882">
        <dgm:presLayoutVars>
          <dgm:bulletEnabled val="1"/>
        </dgm:presLayoutVars>
      </dgm:prSet>
      <dgm:spPr/>
    </dgm:pt>
    <dgm:pt modelId="{9C6B398F-15AB-5548-AB75-EDD00D3829AC}" type="pres">
      <dgm:prSet presAssocID="{B95E1FC1-AE98-9144-90B5-05E66E6E95A0}" presName="left_12_1" presStyleLbl="node1" presStyleIdx="2" presStyleCnt="3" custAng="21091824" custScaleX="136493" custLinFactNeighborX="-18271" custLinFactNeighborY="-5247">
        <dgm:presLayoutVars>
          <dgm:bulletEnabled val="1"/>
        </dgm:presLayoutVars>
      </dgm:prSet>
      <dgm:spPr/>
    </dgm:pt>
  </dgm:ptLst>
  <dgm:cxnLst>
    <dgm:cxn modelId="{42F55209-A5F8-ED4E-AB37-35AB74B1A046}" type="presOf" srcId="{3C816CD3-56A3-7A4B-BCEB-CD66601F67AC}" destId="{5EB8A7DA-62E2-E440-9AA1-AFABD63FDF67}" srcOrd="0" destOrd="0" presId="urn:microsoft.com/office/officeart/2005/8/layout/balance1"/>
    <dgm:cxn modelId="{D416D413-81EB-FF47-8DEF-43AEEF53A208}" srcId="{E2DC3244-DAD2-9D4C-A018-8A8B976DD049}" destId="{3C816CD3-56A3-7A4B-BCEB-CD66601F67AC}" srcOrd="1" destOrd="0" parTransId="{CFC117F8-B61C-AB42-9A8C-92D213E7A327}" sibTransId="{247550A5-0F5A-E64C-A14B-5586AAD92809}"/>
    <dgm:cxn modelId="{94D1AC2F-EF08-314B-8B1E-0EF4093C2889}" type="presOf" srcId="{B95E1FC1-AE98-9144-90B5-05E66E6E95A0}" destId="{274E3787-5FB6-4A45-98BD-3563E0A7FEC3}" srcOrd="0" destOrd="0" presId="urn:microsoft.com/office/officeart/2005/8/layout/balance1"/>
    <dgm:cxn modelId="{343F0B56-80E2-5045-BF55-871291F7FB92}" type="presOf" srcId="{E2DC3244-DAD2-9D4C-A018-8A8B976DD049}" destId="{B0876E2E-024F-E840-B429-8A6DDBD3C0B7}" srcOrd="0" destOrd="0" presId="urn:microsoft.com/office/officeart/2005/8/layout/balance1"/>
    <dgm:cxn modelId="{2C56A986-657E-9F48-B2E3-4804F9844815}" srcId="{B95E1FC1-AE98-9144-90B5-05E66E6E95A0}" destId="{E2DC3244-DAD2-9D4C-A018-8A8B976DD049}" srcOrd="1" destOrd="0" parTransId="{1973821B-403A-0146-BD8D-DA56A4AEC2C9}" sibTransId="{6AF24642-B7D1-704E-B460-270B7FD3D09D}"/>
    <dgm:cxn modelId="{4484B7AC-E8AB-494B-8FA7-CB5AF9EA6976}" srcId="{840D4CA7-F43C-CF41-AE16-12E5267C417C}" destId="{9F68511C-A65C-A148-98E2-790D535DB7F2}" srcOrd="0" destOrd="0" parTransId="{9B5832A9-E3E7-1740-8851-39E50990F488}" sibTransId="{999D2C2E-9B38-7945-B8A0-97F14BA20022}"/>
    <dgm:cxn modelId="{B8E14DBC-689D-DD4D-8A23-4A3BF577E67E}" srcId="{E2DC3244-DAD2-9D4C-A018-8A8B976DD049}" destId="{AD6ED04A-891F-AF4E-8937-6061FB7A3F54}" srcOrd="0" destOrd="0" parTransId="{D91650F5-5F17-4947-B746-139C446E7B93}" sibTransId="{4A139160-FB39-8947-BCEB-821B966901C3}"/>
    <dgm:cxn modelId="{CE1E2BE2-1127-834D-8C5E-4674C54D2F3C}" type="presOf" srcId="{840D4CA7-F43C-CF41-AE16-12E5267C417C}" destId="{D8CE5C9F-7A29-B049-BF80-D80F2A8B9162}" srcOrd="0" destOrd="0" presId="urn:microsoft.com/office/officeart/2005/8/layout/balance1"/>
    <dgm:cxn modelId="{0E661DEA-D1AD-4E4B-9264-BE5FA7FA9180}" srcId="{B95E1FC1-AE98-9144-90B5-05E66E6E95A0}" destId="{840D4CA7-F43C-CF41-AE16-12E5267C417C}" srcOrd="0" destOrd="0" parTransId="{B6455B8E-0B5E-FD45-9EDE-6590CE5032E6}" sibTransId="{FF027CAC-32AE-1C45-8241-D177EA39F3AA}"/>
    <dgm:cxn modelId="{F890A8EE-1684-1449-A7B9-B216AD8D92FD}" type="presOf" srcId="{AD6ED04A-891F-AF4E-8937-6061FB7A3F54}" destId="{E023CDB2-16FA-3B49-BF46-F81510603726}" srcOrd="0" destOrd="0" presId="urn:microsoft.com/office/officeart/2005/8/layout/balance1"/>
    <dgm:cxn modelId="{8AB16AF2-BCD7-BE41-BBAF-9373B17A19A0}" type="presOf" srcId="{9F68511C-A65C-A148-98E2-790D535DB7F2}" destId="{9C6B398F-15AB-5548-AB75-EDD00D3829AC}" srcOrd="0" destOrd="0" presId="urn:microsoft.com/office/officeart/2005/8/layout/balance1"/>
    <dgm:cxn modelId="{E5F85CF6-03BF-BF4D-81AD-0AAB7DB91D44}" type="presParOf" srcId="{274E3787-5FB6-4A45-98BD-3563E0A7FEC3}" destId="{291E944F-80DD-E24F-B74D-7EA7AA00490C}" srcOrd="0" destOrd="0" presId="urn:microsoft.com/office/officeart/2005/8/layout/balance1"/>
    <dgm:cxn modelId="{9B76E520-BE0B-BE4E-A0E6-C84C7FA44029}" type="presParOf" srcId="{274E3787-5FB6-4A45-98BD-3563E0A7FEC3}" destId="{E0E7CFCA-4DF9-3B4B-BB67-A17822A163EE}" srcOrd="1" destOrd="0" presId="urn:microsoft.com/office/officeart/2005/8/layout/balance1"/>
    <dgm:cxn modelId="{B5A95E04-9348-934F-B41D-DE60513A47F7}" type="presParOf" srcId="{E0E7CFCA-4DF9-3B4B-BB67-A17822A163EE}" destId="{D8CE5C9F-7A29-B049-BF80-D80F2A8B9162}" srcOrd="0" destOrd="0" presId="urn:microsoft.com/office/officeart/2005/8/layout/balance1"/>
    <dgm:cxn modelId="{713EAC1B-C229-B246-896C-CF3DA1845A15}" type="presParOf" srcId="{E0E7CFCA-4DF9-3B4B-BB67-A17822A163EE}" destId="{B0876E2E-024F-E840-B429-8A6DDBD3C0B7}" srcOrd="1" destOrd="0" presId="urn:microsoft.com/office/officeart/2005/8/layout/balance1"/>
    <dgm:cxn modelId="{26AF03C1-B9D6-CA4D-A655-86C7FF057141}" type="presParOf" srcId="{274E3787-5FB6-4A45-98BD-3563E0A7FEC3}" destId="{9EF45476-3661-5746-803B-11C9518452CB}" srcOrd="2" destOrd="0" presId="urn:microsoft.com/office/officeart/2005/8/layout/balance1"/>
    <dgm:cxn modelId="{ABD8EDE9-007E-D944-801E-EE62C1E33724}" type="presParOf" srcId="{9EF45476-3661-5746-803B-11C9518452CB}" destId="{111AB746-2FF6-564B-8753-AC7B0712DC09}" srcOrd="0" destOrd="0" presId="urn:microsoft.com/office/officeart/2005/8/layout/balance1"/>
    <dgm:cxn modelId="{E748EA4F-2159-8149-9B69-5DEB4D1028B7}" type="presParOf" srcId="{9EF45476-3661-5746-803B-11C9518452CB}" destId="{4F3C4FFF-DBC4-E343-860C-7EE99D254749}" srcOrd="1" destOrd="0" presId="urn:microsoft.com/office/officeart/2005/8/layout/balance1"/>
    <dgm:cxn modelId="{96B2FC19-E571-0E4C-A58B-B21FC5AA1CD4}" type="presParOf" srcId="{9EF45476-3661-5746-803B-11C9518452CB}" destId="{DE958576-B4BC-E74E-86DC-B7A96B976014}" srcOrd="2" destOrd="0" presId="urn:microsoft.com/office/officeart/2005/8/layout/balance1"/>
    <dgm:cxn modelId="{9C4E3709-D890-A746-9E35-BBD07B1646FF}" type="presParOf" srcId="{9EF45476-3661-5746-803B-11C9518452CB}" destId="{E023CDB2-16FA-3B49-BF46-F81510603726}" srcOrd="3" destOrd="0" presId="urn:microsoft.com/office/officeart/2005/8/layout/balance1"/>
    <dgm:cxn modelId="{9222FBF4-8717-4F43-986D-2EC710CCF124}" type="presParOf" srcId="{9EF45476-3661-5746-803B-11C9518452CB}" destId="{5EB8A7DA-62E2-E440-9AA1-AFABD63FDF67}" srcOrd="4" destOrd="0" presId="urn:microsoft.com/office/officeart/2005/8/layout/balance1"/>
    <dgm:cxn modelId="{CBDCFCF2-D284-F949-800A-8F0C0E1D47CB}" type="presParOf" srcId="{9EF45476-3661-5746-803B-11C9518452CB}" destId="{9C6B398F-15AB-5548-AB75-EDD00D3829AC}" srcOrd="5"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D27E8CD-E193-374C-8F5E-D9516BA56DC7}" type="doc">
      <dgm:prSet loTypeId="urn:microsoft.com/office/officeart/2005/8/layout/list1" loCatId="list" qsTypeId="urn:microsoft.com/office/officeart/2005/8/quickstyle/simple4" qsCatId="simple" csTypeId="urn:microsoft.com/office/officeart/2005/8/colors/accent1_2#10" csCatId="accent1" phldr="1"/>
      <dgm:spPr/>
      <dgm:t>
        <a:bodyPr/>
        <a:lstStyle/>
        <a:p>
          <a:endParaRPr lang="en-US"/>
        </a:p>
      </dgm:t>
    </dgm:pt>
    <dgm:pt modelId="{91984B6D-CD19-FE43-BEAE-0E799DF27D43}">
      <dgm:prSet custT="1"/>
      <dgm:spPr/>
      <dgm:t>
        <a:bodyPr/>
        <a:lstStyle/>
        <a:p>
          <a:pPr rtl="0"/>
          <a:r>
            <a:rPr lang="en-US" sz="2400" dirty="0" err="1"/>
            <a:t>Nonblocking</a:t>
          </a:r>
          <a:r>
            <a:rPr lang="en-US" sz="2400" dirty="0"/>
            <a:t> send, blocking receive</a:t>
          </a:r>
        </a:p>
      </dgm:t>
    </dgm:pt>
    <dgm:pt modelId="{01F2897C-CBB4-0A4F-833B-A983967B05E6}" type="parTrans" cxnId="{C887F737-6585-BA4C-A16F-AADF02A11677}">
      <dgm:prSet/>
      <dgm:spPr/>
      <dgm:t>
        <a:bodyPr/>
        <a:lstStyle/>
        <a:p>
          <a:endParaRPr lang="en-US"/>
        </a:p>
      </dgm:t>
    </dgm:pt>
    <dgm:pt modelId="{11260BA1-DC41-0544-8790-6F4A228C318D}" type="sibTrans" cxnId="{C887F737-6585-BA4C-A16F-AADF02A11677}">
      <dgm:prSet/>
      <dgm:spPr/>
      <dgm:t>
        <a:bodyPr/>
        <a:lstStyle/>
        <a:p>
          <a:endParaRPr lang="en-US"/>
        </a:p>
      </dgm:t>
    </dgm:pt>
    <dgm:pt modelId="{5EB1E116-9108-5041-82FF-E86E8C94C1A9}">
      <dgm:prSet/>
      <dgm:spPr/>
      <dgm:t>
        <a:bodyPr/>
        <a:lstStyle/>
        <a:p>
          <a:pPr rtl="0"/>
          <a:r>
            <a:rPr lang="en-US" dirty="0"/>
            <a:t>sender continues on but receiver is blocked until the requested message arrives</a:t>
          </a:r>
        </a:p>
      </dgm:t>
    </dgm:pt>
    <dgm:pt modelId="{0214350C-1246-1843-BEEB-628379095719}" type="parTrans" cxnId="{7E31C0FE-C1AF-7B40-8076-CBAC47674A04}">
      <dgm:prSet/>
      <dgm:spPr/>
      <dgm:t>
        <a:bodyPr/>
        <a:lstStyle/>
        <a:p>
          <a:endParaRPr lang="en-US"/>
        </a:p>
      </dgm:t>
    </dgm:pt>
    <dgm:pt modelId="{C95C1D8A-6AFB-5146-9731-ED577DB6E8B0}" type="sibTrans" cxnId="{7E31C0FE-C1AF-7B40-8076-CBAC47674A04}">
      <dgm:prSet/>
      <dgm:spPr/>
      <dgm:t>
        <a:bodyPr/>
        <a:lstStyle/>
        <a:p>
          <a:endParaRPr lang="en-US"/>
        </a:p>
      </dgm:t>
    </dgm:pt>
    <dgm:pt modelId="{CC21AB64-0AED-7542-9159-B6303CB71F5A}">
      <dgm:prSet/>
      <dgm:spPr/>
      <dgm:t>
        <a:bodyPr/>
        <a:lstStyle/>
        <a:p>
          <a:pPr rtl="0"/>
          <a:r>
            <a:rPr lang="en-US" dirty="0"/>
            <a:t>most useful combination</a:t>
          </a:r>
        </a:p>
      </dgm:t>
    </dgm:pt>
    <dgm:pt modelId="{C83520E4-371F-7440-8576-2D5C4343367E}" type="parTrans" cxnId="{AE7ED72E-6288-D541-9093-86DA407052E6}">
      <dgm:prSet/>
      <dgm:spPr/>
      <dgm:t>
        <a:bodyPr/>
        <a:lstStyle/>
        <a:p>
          <a:endParaRPr lang="en-US"/>
        </a:p>
      </dgm:t>
    </dgm:pt>
    <dgm:pt modelId="{F0D8E3EA-CD48-B446-BEBF-D9C6AA1B5CA1}" type="sibTrans" cxnId="{AE7ED72E-6288-D541-9093-86DA407052E6}">
      <dgm:prSet/>
      <dgm:spPr/>
      <dgm:t>
        <a:bodyPr/>
        <a:lstStyle/>
        <a:p>
          <a:endParaRPr lang="en-US"/>
        </a:p>
      </dgm:t>
    </dgm:pt>
    <dgm:pt modelId="{6C451841-31AC-2C4A-BD5F-97D63B243324}">
      <dgm:prSet/>
      <dgm:spPr/>
      <dgm:t>
        <a:bodyPr/>
        <a:lstStyle/>
        <a:p>
          <a:pPr rtl="0"/>
          <a:r>
            <a:rPr lang="en-US" dirty="0"/>
            <a:t>sends one or more messages to a variety of destinations as quickly as possible</a:t>
          </a:r>
        </a:p>
      </dgm:t>
    </dgm:pt>
    <dgm:pt modelId="{04922CDE-305C-7E4E-A5F8-548B07ADA949}" type="parTrans" cxnId="{2EE21B70-10CD-924A-821E-F852ED7D58C1}">
      <dgm:prSet/>
      <dgm:spPr/>
      <dgm:t>
        <a:bodyPr/>
        <a:lstStyle/>
        <a:p>
          <a:endParaRPr lang="en-US"/>
        </a:p>
      </dgm:t>
    </dgm:pt>
    <dgm:pt modelId="{8984EA4E-5D9D-8A4C-890E-1C200D579779}" type="sibTrans" cxnId="{2EE21B70-10CD-924A-821E-F852ED7D58C1}">
      <dgm:prSet/>
      <dgm:spPr/>
      <dgm:t>
        <a:bodyPr/>
        <a:lstStyle/>
        <a:p>
          <a:endParaRPr lang="en-US"/>
        </a:p>
      </dgm:t>
    </dgm:pt>
    <dgm:pt modelId="{757FD84E-C215-B749-91A4-D802DE6196F5}">
      <dgm:prSet/>
      <dgm:spPr/>
      <dgm:t>
        <a:bodyPr/>
        <a:lstStyle/>
        <a:p>
          <a:pPr rtl="0"/>
          <a:r>
            <a:rPr lang="en-US" dirty="0"/>
            <a:t>example -- a service process that exists to provide a service or resource to other processes</a:t>
          </a:r>
        </a:p>
      </dgm:t>
    </dgm:pt>
    <dgm:pt modelId="{DAFD52F6-9922-7349-BF68-4ACCE8F95FD5}" type="parTrans" cxnId="{35F4216B-C764-1F42-8536-CA788CCCDBE6}">
      <dgm:prSet/>
      <dgm:spPr/>
      <dgm:t>
        <a:bodyPr/>
        <a:lstStyle/>
        <a:p>
          <a:endParaRPr lang="en-US"/>
        </a:p>
      </dgm:t>
    </dgm:pt>
    <dgm:pt modelId="{B985A4D1-1CB8-9344-9FCB-F50F659DBA79}" type="sibTrans" cxnId="{35F4216B-C764-1F42-8536-CA788CCCDBE6}">
      <dgm:prSet/>
      <dgm:spPr/>
      <dgm:t>
        <a:bodyPr/>
        <a:lstStyle/>
        <a:p>
          <a:endParaRPr lang="en-US"/>
        </a:p>
      </dgm:t>
    </dgm:pt>
    <dgm:pt modelId="{73A9E9B1-89D6-694A-BAFC-F1639E9E0FA3}">
      <dgm:prSet custT="1"/>
      <dgm:spPr/>
      <dgm:t>
        <a:bodyPr/>
        <a:lstStyle/>
        <a:p>
          <a:pPr rtl="0"/>
          <a:r>
            <a:rPr lang="en-US" sz="2400" dirty="0" err="1"/>
            <a:t>Nonblocking</a:t>
          </a:r>
          <a:r>
            <a:rPr lang="en-US" sz="2400" dirty="0"/>
            <a:t> send, </a:t>
          </a:r>
          <a:r>
            <a:rPr lang="en-US" sz="2400" dirty="0" err="1"/>
            <a:t>nonblocking</a:t>
          </a:r>
          <a:r>
            <a:rPr lang="en-US" sz="2400" dirty="0"/>
            <a:t> receive</a:t>
          </a:r>
        </a:p>
      </dgm:t>
    </dgm:pt>
    <dgm:pt modelId="{3916E0CF-CE1E-1D4B-8A41-D0D814E89B0F}" type="parTrans" cxnId="{BCA614CC-B4D5-3442-90B6-4527EEE6FEF9}">
      <dgm:prSet/>
      <dgm:spPr/>
      <dgm:t>
        <a:bodyPr/>
        <a:lstStyle/>
        <a:p>
          <a:endParaRPr lang="en-US"/>
        </a:p>
      </dgm:t>
    </dgm:pt>
    <dgm:pt modelId="{8FEA3A20-CBF8-BD46-B357-8B81C8062570}" type="sibTrans" cxnId="{BCA614CC-B4D5-3442-90B6-4527EEE6FEF9}">
      <dgm:prSet/>
      <dgm:spPr/>
      <dgm:t>
        <a:bodyPr/>
        <a:lstStyle/>
        <a:p>
          <a:endParaRPr lang="en-US"/>
        </a:p>
      </dgm:t>
    </dgm:pt>
    <dgm:pt modelId="{C5316F31-176B-F34B-BA40-55DF4E368FCA}">
      <dgm:prSet/>
      <dgm:spPr/>
      <dgm:t>
        <a:bodyPr/>
        <a:lstStyle/>
        <a:p>
          <a:pPr rtl="0"/>
          <a:r>
            <a:rPr lang="en-US" dirty="0"/>
            <a:t>neither party is required to wait</a:t>
          </a:r>
        </a:p>
      </dgm:t>
    </dgm:pt>
    <dgm:pt modelId="{A15D9228-445C-9C49-9BE5-094ACB67A39B}" type="parTrans" cxnId="{AE18236F-5EF4-5549-99D8-BDAE7A18B153}">
      <dgm:prSet/>
      <dgm:spPr/>
      <dgm:t>
        <a:bodyPr/>
        <a:lstStyle/>
        <a:p>
          <a:endParaRPr lang="en-US"/>
        </a:p>
      </dgm:t>
    </dgm:pt>
    <dgm:pt modelId="{DACAD61B-E76C-2246-BD10-F980FDDCC609}" type="sibTrans" cxnId="{AE18236F-5EF4-5549-99D8-BDAE7A18B153}">
      <dgm:prSet/>
      <dgm:spPr/>
      <dgm:t>
        <a:bodyPr/>
        <a:lstStyle/>
        <a:p>
          <a:endParaRPr lang="en-US"/>
        </a:p>
      </dgm:t>
    </dgm:pt>
    <dgm:pt modelId="{FB2FE7A4-BF26-5246-957B-D4DDACD54EE4}" type="pres">
      <dgm:prSet presAssocID="{CD27E8CD-E193-374C-8F5E-D9516BA56DC7}" presName="linear" presStyleCnt="0">
        <dgm:presLayoutVars>
          <dgm:dir/>
          <dgm:animLvl val="lvl"/>
          <dgm:resizeHandles val="exact"/>
        </dgm:presLayoutVars>
      </dgm:prSet>
      <dgm:spPr/>
    </dgm:pt>
    <dgm:pt modelId="{75AEEAF0-6636-7A4B-AC28-2D6920786958}" type="pres">
      <dgm:prSet presAssocID="{91984B6D-CD19-FE43-BEAE-0E799DF27D43}" presName="parentLin" presStyleCnt="0"/>
      <dgm:spPr/>
    </dgm:pt>
    <dgm:pt modelId="{02F1EC8A-0E98-6F4F-81E4-128269BE9247}" type="pres">
      <dgm:prSet presAssocID="{91984B6D-CD19-FE43-BEAE-0E799DF27D43}" presName="parentLeftMargin" presStyleLbl="node1" presStyleIdx="0" presStyleCnt="2"/>
      <dgm:spPr/>
    </dgm:pt>
    <dgm:pt modelId="{7C0D2C5B-322D-9045-B418-FF8D3F881A30}" type="pres">
      <dgm:prSet presAssocID="{91984B6D-CD19-FE43-BEAE-0E799DF27D43}" presName="parentText" presStyleLbl="node1" presStyleIdx="0" presStyleCnt="2">
        <dgm:presLayoutVars>
          <dgm:chMax val="0"/>
          <dgm:bulletEnabled val="1"/>
        </dgm:presLayoutVars>
      </dgm:prSet>
      <dgm:spPr/>
    </dgm:pt>
    <dgm:pt modelId="{9BA17364-C4BE-1F4C-A926-52FA284D13AC}" type="pres">
      <dgm:prSet presAssocID="{91984B6D-CD19-FE43-BEAE-0E799DF27D43}" presName="negativeSpace" presStyleCnt="0"/>
      <dgm:spPr/>
    </dgm:pt>
    <dgm:pt modelId="{94FC4253-C5DD-2F40-AF14-A6F8E87BF8EB}" type="pres">
      <dgm:prSet presAssocID="{91984B6D-CD19-FE43-BEAE-0E799DF27D43}" presName="childText" presStyleLbl="conFgAcc1" presStyleIdx="0" presStyleCnt="2">
        <dgm:presLayoutVars>
          <dgm:bulletEnabled val="1"/>
        </dgm:presLayoutVars>
      </dgm:prSet>
      <dgm:spPr/>
    </dgm:pt>
    <dgm:pt modelId="{2B71BA69-D6B9-2041-8D90-C51CD6545C6D}" type="pres">
      <dgm:prSet presAssocID="{11260BA1-DC41-0544-8790-6F4A228C318D}" presName="spaceBetweenRectangles" presStyleCnt="0"/>
      <dgm:spPr/>
    </dgm:pt>
    <dgm:pt modelId="{09D3498D-A602-5348-A1FB-49B93FEFB771}" type="pres">
      <dgm:prSet presAssocID="{73A9E9B1-89D6-694A-BAFC-F1639E9E0FA3}" presName="parentLin" presStyleCnt="0"/>
      <dgm:spPr/>
    </dgm:pt>
    <dgm:pt modelId="{DC97F160-ACC9-694B-AD54-3141CE9124B0}" type="pres">
      <dgm:prSet presAssocID="{73A9E9B1-89D6-694A-BAFC-F1639E9E0FA3}" presName="parentLeftMargin" presStyleLbl="node1" presStyleIdx="0" presStyleCnt="2"/>
      <dgm:spPr/>
    </dgm:pt>
    <dgm:pt modelId="{FB5D3142-9F1C-A94D-A8A6-48AF5D364BD5}" type="pres">
      <dgm:prSet presAssocID="{73A9E9B1-89D6-694A-BAFC-F1639E9E0FA3}" presName="parentText" presStyleLbl="node1" presStyleIdx="1" presStyleCnt="2" custScaleX="109434">
        <dgm:presLayoutVars>
          <dgm:chMax val="0"/>
          <dgm:bulletEnabled val="1"/>
        </dgm:presLayoutVars>
      </dgm:prSet>
      <dgm:spPr/>
    </dgm:pt>
    <dgm:pt modelId="{CE854633-C84A-1C4B-B243-A9F056606818}" type="pres">
      <dgm:prSet presAssocID="{73A9E9B1-89D6-694A-BAFC-F1639E9E0FA3}" presName="negativeSpace" presStyleCnt="0"/>
      <dgm:spPr/>
    </dgm:pt>
    <dgm:pt modelId="{A84F03E2-F9EA-C94D-AD93-13923F0055A8}" type="pres">
      <dgm:prSet presAssocID="{73A9E9B1-89D6-694A-BAFC-F1639E9E0FA3}" presName="childText" presStyleLbl="conFgAcc1" presStyleIdx="1" presStyleCnt="2">
        <dgm:presLayoutVars>
          <dgm:bulletEnabled val="1"/>
        </dgm:presLayoutVars>
      </dgm:prSet>
      <dgm:spPr/>
    </dgm:pt>
  </dgm:ptLst>
  <dgm:cxnLst>
    <dgm:cxn modelId="{BAE2BC00-B7FE-8C4A-951C-4F0BA8A10055}" type="presOf" srcId="{91984B6D-CD19-FE43-BEAE-0E799DF27D43}" destId="{7C0D2C5B-322D-9045-B418-FF8D3F881A30}" srcOrd="1" destOrd="0" presId="urn:microsoft.com/office/officeart/2005/8/layout/list1"/>
    <dgm:cxn modelId="{E80DDB00-220C-0448-8C27-CA628700BB61}" type="presOf" srcId="{6C451841-31AC-2C4A-BD5F-97D63B243324}" destId="{94FC4253-C5DD-2F40-AF14-A6F8E87BF8EB}" srcOrd="0" destOrd="2" presId="urn:microsoft.com/office/officeart/2005/8/layout/list1"/>
    <dgm:cxn modelId="{8BDC4123-5213-D94D-9C37-68C59BDC428C}" type="presOf" srcId="{757FD84E-C215-B749-91A4-D802DE6196F5}" destId="{94FC4253-C5DD-2F40-AF14-A6F8E87BF8EB}" srcOrd="0" destOrd="3" presId="urn:microsoft.com/office/officeart/2005/8/layout/list1"/>
    <dgm:cxn modelId="{AE7ED72E-6288-D541-9093-86DA407052E6}" srcId="{91984B6D-CD19-FE43-BEAE-0E799DF27D43}" destId="{CC21AB64-0AED-7542-9159-B6303CB71F5A}" srcOrd="1" destOrd="0" parTransId="{C83520E4-371F-7440-8576-2D5C4343367E}" sibTransId="{F0D8E3EA-CD48-B446-BEBF-D9C6AA1B5CA1}"/>
    <dgm:cxn modelId="{C887F737-6585-BA4C-A16F-AADF02A11677}" srcId="{CD27E8CD-E193-374C-8F5E-D9516BA56DC7}" destId="{91984B6D-CD19-FE43-BEAE-0E799DF27D43}" srcOrd="0" destOrd="0" parTransId="{01F2897C-CBB4-0A4F-833B-A983967B05E6}" sibTransId="{11260BA1-DC41-0544-8790-6F4A228C318D}"/>
    <dgm:cxn modelId="{8B368047-0E12-854C-B255-1B46436090D2}" type="presOf" srcId="{91984B6D-CD19-FE43-BEAE-0E799DF27D43}" destId="{02F1EC8A-0E98-6F4F-81E4-128269BE9247}" srcOrd="0" destOrd="0" presId="urn:microsoft.com/office/officeart/2005/8/layout/list1"/>
    <dgm:cxn modelId="{35F4216B-C764-1F42-8536-CA788CCCDBE6}" srcId="{91984B6D-CD19-FE43-BEAE-0E799DF27D43}" destId="{757FD84E-C215-B749-91A4-D802DE6196F5}" srcOrd="3" destOrd="0" parTransId="{DAFD52F6-9922-7349-BF68-4ACCE8F95FD5}" sibTransId="{B985A4D1-1CB8-9344-9FCB-F50F659DBA79}"/>
    <dgm:cxn modelId="{AE18236F-5EF4-5549-99D8-BDAE7A18B153}" srcId="{73A9E9B1-89D6-694A-BAFC-F1639E9E0FA3}" destId="{C5316F31-176B-F34B-BA40-55DF4E368FCA}" srcOrd="0" destOrd="0" parTransId="{A15D9228-445C-9C49-9BE5-094ACB67A39B}" sibTransId="{DACAD61B-E76C-2246-BD10-F980FDDCC609}"/>
    <dgm:cxn modelId="{2EE21B70-10CD-924A-821E-F852ED7D58C1}" srcId="{91984B6D-CD19-FE43-BEAE-0E799DF27D43}" destId="{6C451841-31AC-2C4A-BD5F-97D63B243324}" srcOrd="2" destOrd="0" parTransId="{04922CDE-305C-7E4E-A5F8-548B07ADA949}" sibTransId="{8984EA4E-5D9D-8A4C-890E-1C200D579779}"/>
    <dgm:cxn modelId="{26218F52-0AFF-F143-8705-FD7D93166359}" type="presOf" srcId="{73A9E9B1-89D6-694A-BAFC-F1639E9E0FA3}" destId="{DC97F160-ACC9-694B-AD54-3141CE9124B0}" srcOrd="0" destOrd="0" presId="urn:microsoft.com/office/officeart/2005/8/layout/list1"/>
    <dgm:cxn modelId="{658F7059-354A-BB4B-9FAF-30876C318022}" type="presOf" srcId="{73A9E9B1-89D6-694A-BAFC-F1639E9E0FA3}" destId="{FB5D3142-9F1C-A94D-A8A6-48AF5D364BD5}" srcOrd="1" destOrd="0" presId="urn:microsoft.com/office/officeart/2005/8/layout/list1"/>
    <dgm:cxn modelId="{A1F1E2A9-36E7-514C-AF3C-DEBC97E55527}" type="presOf" srcId="{CD27E8CD-E193-374C-8F5E-D9516BA56DC7}" destId="{FB2FE7A4-BF26-5246-957B-D4DDACD54EE4}" srcOrd="0" destOrd="0" presId="urn:microsoft.com/office/officeart/2005/8/layout/list1"/>
    <dgm:cxn modelId="{7DE052CB-909B-3A4B-8B54-F6E134628C6B}" type="presOf" srcId="{5EB1E116-9108-5041-82FF-E86E8C94C1A9}" destId="{94FC4253-C5DD-2F40-AF14-A6F8E87BF8EB}" srcOrd="0" destOrd="0" presId="urn:microsoft.com/office/officeart/2005/8/layout/list1"/>
    <dgm:cxn modelId="{BCA614CC-B4D5-3442-90B6-4527EEE6FEF9}" srcId="{CD27E8CD-E193-374C-8F5E-D9516BA56DC7}" destId="{73A9E9B1-89D6-694A-BAFC-F1639E9E0FA3}" srcOrd="1" destOrd="0" parTransId="{3916E0CF-CE1E-1D4B-8A41-D0D814E89B0F}" sibTransId="{8FEA3A20-CBF8-BD46-B357-8B81C8062570}"/>
    <dgm:cxn modelId="{0CE1A2E4-3C54-EF46-A77C-62FB3457A161}" type="presOf" srcId="{CC21AB64-0AED-7542-9159-B6303CB71F5A}" destId="{94FC4253-C5DD-2F40-AF14-A6F8E87BF8EB}" srcOrd="0" destOrd="1" presId="urn:microsoft.com/office/officeart/2005/8/layout/list1"/>
    <dgm:cxn modelId="{5652FEEE-C1E8-A442-9A2E-25C6ACD5251C}" type="presOf" srcId="{C5316F31-176B-F34B-BA40-55DF4E368FCA}" destId="{A84F03E2-F9EA-C94D-AD93-13923F0055A8}" srcOrd="0" destOrd="0" presId="urn:microsoft.com/office/officeart/2005/8/layout/list1"/>
    <dgm:cxn modelId="{7E31C0FE-C1AF-7B40-8076-CBAC47674A04}" srcId="{91984B6D-CD19-FE43-BEAE-0E799DF27D43}" destId="{5EB1E116-9108-5041-82FF-E86E8C94C1A9}" srcOrd="0" destOrd="0" parTransId="{0214350C-1246-1843-BEEB-628379095719}" sibTransId="{C95C1D8A-6AFB-5146-9731-ED577DB6E8B0}"/>
    <dgm:cxn modelId="{55073CB4-7F0B-0B43-BEDA-E6D0E04AD300}" type="presParOf" srcId="{FB2FE7A4-BF26-5246-957B-D4DDACD54EE4}" destId="{75AEEAF0-6636-7A4B-AC28-2D6920786958}" srcOrd="0" destOrd="0" presId="urn:microsoft.com/office/officeart/2005/8/layout/list1"/>
    <dgm:cxn modelId="{F9CAECBD-4C4E-2A45-8C16-18AF30D0C96E}" type="presParOf" srcId="{75AEEAF0-6636-7A4B-AC28-2D6920786958}" destId="{02F1EC8A-0E98-6F4F-81E4-128269BE9247}" srcOrd="0" destOrd="0" presId="urn:microsoft.com/office/officeart/2005/8/layout/list1"/>
    <dgm:cxn modelId="{AD0ACA4B-A999-6F49-A065-B857F54658A4}" type="presParOf" srcId="{75AEEAF0-6636-7A4B-AC28-2D6920786958}" destId="{7C0D2C5B-322D-9045-B418-FF8D3F881A30}" srcOrd="1" destOrd="0" presId="urn:microsoft.com/office/officeart/2005/8/layout/list1"/>
    <dgm:cxn modelId="{6B40BD1A-23F8-3041-AB14-844BE482BB16}" type="presParOf" srcId="{FB2FE7A4-BF26-5246-957B-D4DDACD54EE4}" destId="{9BA17364-C4BE-1F4C-A926-52FA284D13AC}" srcOrd="1" destOrd="0" presId="urn:microsoft.com/office/officeart/2005/8/layout/list1"/>
    <dgm:cxn modelId="{9C3DCB35-AFA8-0E49-BCB8-25ED50B10B94}" type="presParOf" srcId="{FB2FE7A4-BF26-5246-957B-D4DDACD54EE4}" destId="{94FC4253-C5DD-2F40-AF14-A6F8E87BF8EB}" srcOrd="2" destOrd="0" presId="urn:microsoft.com/office/officeart/2005/8/layout/list1"/>
    <dgm:cxn modelId="{A9FC753D-0E2C-8B44-94F9-B4290DC6B324}" type="presParOf" srcId="{FB2FE7A4-BF26-5246-957B-D4DDACD54EE4}" destId="{2B71BA69-D6B9-2041-8D90-C51CD6545C6D}" srcOrd="3" destOrd="0" presId="urn:microsoft.com/office/officeart/2005/8/layout/list1"/>
    <dgm:cxn modelId="{857DA4DE-FC7E-064D-8484-F4CD86E46933}" type="presParOf" srcId="{FB2FE7A4-BF26-5246-957B-D4DDACD54EE4}" destId="{09D3498D-A602-5348-A1FB-49B93FEFB771}" srcOrd="4" destOrd="0" presId="urn:microsoft.com/office/officeart/2005/8/layout/list1"/>
    <dgm:cxn modelId="{A042B265-EB9C-DE48-97B4-B7D02A717982}" type="presParOf" srcId="{09D3498D-A602-5348-A1FB-49B93FEFB771}" destId="{DC97F160-ACC9-694B-AD54-3141CE9124B0}" srcOrd="0" destOrd="0" presId="urn:microsoft.com/office/officeart/2005/8/layout/list1"/>
    <dgm:cxn modelId="{39C3F6FF-6ACB-FC4A-A21C-59693AE44929}" type="presParOf" srcId="{09D3498D-A602-5348-A1FB-49B93FEFB771}" destId="{FB5D3142-9F1C-A94D-A8A6-48AF5D364BD5}" srcOrd="1" destOrd="0" presId="urn:microsoft.com/office/officeart/2005/8/layout/list1"/>
    <dgm:cxn modelId="{6012F205-35AE-204E-B810-39621AA356A5}" type="presParOf" srcId="{FB2FE7A4-BF26-5246-957B-D4DDACD54EE4}" destId="{CE854633-C84A-1C4B-B243-A9F056606818}" srcOrd="5" destOrd="0" presId="urn:microsoft.com/office/officeart/2005/8/layout/list1"/>
    <dgm:cxn modelId="{0D4DF21D-1AB5-B949-87B9-C25E355F0954}" type="presParOf" srcId="{FB2FE7A4-BF26-5246-957B-D4DDACD54EE4}" destId="{A84F03E2-F9EA-C94D-AD93-13923F0055A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CC660F0-F51F-7942-83BE-3900525400E2}" type="doc">
      <dgm:prSet loTypeId="urn:microsoft.com/office/officeart/2005/8/layout/default#1" loCatId="list" qsTypeId="urn:microsoft.com/office/officeart/2005/8/quickstyle/simple4" qsCatId="simple" csTypeId="urn:microsoft.com/office/officeart/2005/8/colors/accent1_2#11" csCatId="accent1" phldr="1"/>
      <dgm:spPr/>
      <dgm:t>
        <a:bodyPr/>
        <a:lstStyle/>
        <a:p>
          <a:endParaRPr lang="en-US"/>
        </a:p>
      </dgm:t>
    </dgm:pt>
    <dgm:pt modelId="{CBCAA15B-4DF8-2449-A3E4-2FFBBD4228E2}">
      <dgm:prSet phldrT="[Text]"/>
      <dgm:spPr/>
      <dgm:t>
        <a:bodyPr/>
        <a:lstStyle/>
        <a:p>
          <a:r>
            <a:rPr lang="en-US" dirty="0"/>
            <a:t>Direct addressing</a:t>
          </a:r>
        </a:p>
      </dgm:t>
    </dgm:pt>
    <dgm:pt modelId="{5331A782-92F5-174C-ADE8-603BCC699445}" type="parTrans" cxnId="{B80E53F1-AE34-974D-BD2B-25A07BD9FD8E}">
      <dgm:prSet/>
      <dgm:spPr/>
      <dgm:t>
        <a:bodyPr/>
        <a:lstStyle/>
        <a:p>
          <a:endParaRPr lang="en-US"/>
        </a:p>
      </dgm:t>
    </dgm:pt>
    <dgm:pt modelId="{9DC2889C-314C-814D-BB7F-9B9EC7CF63FA}" type="sibTrans" cxnId="{B80E53F1-AE34-974D-BD2B-25A07BD9FD8E}">
      <dgm:prSet/>
      <dgm:spPr/>
      <dgm:t>
        <a:bodyPr/>
        <a:lstStyle/>
        <a:p>
          <a:endParaRPr lang="en-US"/>
        </a:p>
      </dgm:t>
    </dgm:pt>
    <dgm:pt modelId="{053799BB-CB52-8641-A4B3-79E4E6C7D5AD}">
      <dgm:prSet/>
      <dgm:spPr/>
      <dgm:t>
        <a:bodyPr/>
        <a:lstStyle/>
        <a:p>
          <a:r>
            <a:rPr lang="en-US" dirty="0"/>
            <a:t>Indirect addressing</a:t>
          </a:r>
        </a:p>
      </dgm:t>
    </dgm:pt>
    <dgm:pt modelId="{2F99FA1C-FA58-C84C-B814-ACFD809147B1}" type="parTrans" cxnId="{A4EFC327-8E42-6845-929D-1DD7802F5420}">
      <dgm:prSet/>
      <dgm:spPr/>
      <dgm:t>
        <a:bodyPr/>
        <a:lstStyle/>
        <a:p>
          <a:endParaRPr lang="en-US"/>
        </a:p>
      </dgm:t>
    </dgm:pt>
    <dgm:pt modelId="{C4399A46-221E-904A-B245-8E7B935BA7C2}" type="sibTrans" cxnId="{A4EFC327-8E42-6845-929D-1DD7802F5420}">
      <dgm:prSet/>
      <dgm:spPr/>
      <dgm:t>
        <a:bodyPr/>
        <a:lstStyle/>
        <a:p>
          <a:endParaRPr lang="en-US"/>
        </a:p>
      </dgm:t>
    </dgm:pt>
    <dgm:pt modelId="{95268C6E-CB32-D948-A12E-859ACF9C7366}" type="pres">
      <dgm:prSet presAssocID="{9CC660F0-F51F-7942-83BE-3900525400E2}" presName="diagram" presStyleCnt="0">
        <dgm:presLayoutVars>
          <dgm:dir/>
          <dgm:resizeHandles val="exact"/>
        </dgm:presLayoutVars>
      </dgm:prSet>
      <dgm:spPr/>
    </dgm:pt>
    <dgm:pt modelId="{CB5FB369-8671-004A-BE5D-38525B638D11}" type="pres">
      <dgm:prSet presAssocID="{CBCAA15B-4DF8-2449-A3E4-2FFBBD4228E2}" presName="node" presStyleLbl="node1" presStyleIdx="0" presStyleCnt="2">
        <dgm:presLayoutVars>
          <dgm:bulletEnabled val="1"/>
        </dgm:presLayoutVars>
      </dgm:prSet>
      <dgm:spPr/>
    </dgm:pt>
    <dgm:pt modelId="{3B34B650-2B64-FC4E-A434-787890AAF57B}" type="pres">
      <dgm:prSet presAssocID="{9DC2889C-314C-814D-BB7F-9B9EC7CF63FA}" presName="sibTrans" presStyleCnt="0"/>
      <dgm:spPr/>
    </dgm:pt>
    <dgm:pt modelId="{AE4CBB04-19C2-F24F-B25B-9E2E283ED7DC}" type="pres">
      <dgm:prSet presAssocID="{053799BB-CB52-8641-A4B3-79E4E6C7D5AD}" presName="node" presStyleLbl="node1" presStyleIdx="1" presStyleCnt="2">
        <dgm:presLayoutVars>
          <dgm:bulletEnabled val="1"/>
        </dgm:presLayoutVars>
      </dgm:prSet>
      <dgm:spPr/>
    </dgm:pt>
  </dgm:ptLst>
  <dgm:cxnLst>
    <dgm:cxn modelId="{A4EFC327-8E42-6845-929D-1DD7802F5420}" srcId="{9CC660F0-F51F-7942-83BE-3900525400E2}" destId="{053799BB-CB52-8641-A4B3-79E4E6C7D5AD}" srcOrd="1" destOrd="0" parTransId="{2F99FA1C-FA58-C84C-B814-ACFD809147B1}" sibTransId="{C4399A46-221E-904A-B245-8E7B935BA7C2}"/>
    <dgm:cxn modelId="{29A9C875-946D-0849-953B-AB23B8355A56}" type="presOf" srcId="{CBCAA15B-4DF8-2449-A3E4-2FFBBD4228E2}" destId="{CB5FB369-8671-004A-BE5D-38525B638D11}" srcOrd="0" destOrd="0" presId="urn:microsoft.com/office/officeart/2005/8/layout/default#1"/>
    <dgm:cxn modelId="{8A4093DA-D614-E746-998F-AEADE131AA98}" type="presOf" srcId="{9CC660F0-F51F-7942-83BE-3900525400E2}" destId="{95268C6E-CB32-D948-A12E-859ACF9C7366}" srcOrd="0" destOrd="0" presId="urn:microsoft.com/office/officeart/2005/8/layout/default#1"/>
    <dgm:cxn modelId="{777E9EE6-6DE6-6042-A187-60360C4DF0C6}" type="presOf" srcId="{053799BB-CB52-8641-A4B3-79E4E6C7D5AD}" destId="{AE4CBB04-19C2-F24F-B25B-9E2E283ED7DC}" srcOrd="0" destOrd="0" presId="urn:microsoft.com/office/officeart/2005/8/layout/default#1"/>
    <dgm:cxn modelId="{B80E53F1-AE34-974D-BD2B-25A07BD9FD8E}" srcId="{9CC660F0-F51F-7942-83BE-3900525400E2}" destId="{CBCAA15B-4DF8-2449-A3E4-2FFBBD4228E2}" srcOrd="0" destOrd="0" parTransId="{5331A782-92F5-174C-ADE8-603BCC699445}" sibTransId="{9DC2889C-314C-814D-BB7F-9B9EC7CF63FA}"/>
    <dgm:cxn modelId="{2499108F-41B4-1545-9E73-C714FEFAF3C8}" type="presParOf" srcId="{95268C6E-CB32-D948-A12E-859ACF9C7366}" destId="{CB5FB369-8671-004A-BE5D-38525B638D11}" srcOrd="0" destOrd="0" presId="urn:microsoft.com/office/officeart/2005/8/layout/default#1"/>
    <dgm:cxn modelId="{E69ED987-EC7C-8A40-9346-4A8589C6E3BF}" type="presParOf" srcId="{95268C6E-CB32-D948-A12E-859ACF9C7366}" destId="{3B34B650-2B64-FC4E-A434-787890AAF57B}" srcOrd="1" destOrd="0" presId="urn:microsoft.com/office/officeart/2005/8/layout/default#1"/>
    <dgm:cxn modelId="{E45280D0-55D1-C543-B504-CD319DA41B7B}" type="presParOf" srcId="{95268C6E-CB32-D948-A12E-859ACF9C7366}" destId="{AE4CBB04-19C2-F24F-B25B-9E2E283ED7DC}" srcOrd="2"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4DD884E-63E6-1444-A88B-CD7D08E920B1}" type="doc">
      <dgm:prSet loTypeId="urn:microsoft.com/office/officeart/2005/8/layout/process5" loCatId="process" qsTypeId="urn:microsoft.com/office/officeart/2005/8/quickstyle/simple4" qsCatId="simple" csTypeId="urn:microsoft.com/office/officeart/2005/8/colors/accent1_2#12" csCatId="accent1" phldr="1"/>
      <dgm:spPr/>
      <dgm:t>
        <a:bodyPr/>
        <a:lstStyle/>
        <a:p>
          <a:endParaRPr lang="en-US"/>
        </a:p>
      </dgm:t>
    </dgm:pt>
    <dgm:pt modelId="{3835C9AF-C8B8-1C4B-9620-F1414EB1BBA6}">
      <dgm:prSet/>
      <dgm:spPr/>
      <dgm:t>
        <a:bodyPr/>
        <a:lstStyle/>
        <a:p>
          <a:pPr rtl="0"/>
          <a:r>
            <a:rPr lang="en-US" dirty="0"/>
            <a:t>Messages are sent to a shared data structure consisting of queues that can temporarily hold messages</a:t>
          </a:r>
        </a:p>
      </dgm:t>
    </dgm:pt>
    <dgm:pt modelId="{D30EA9A2-157A-A94A-B794-891764C3925E}" type="parTrans" cxnId="{7D7BC587-81CE-5B40-BBC5-50A1A3C512ED}">
      <dgm:prSet/>
      <dgm:spPr/>
      <dgm:t>
        <a:bodyPr/>
        <a:lstStyle/>
        <a:p>
          <a:endParaRPr lang="en-US"/>
        </a:p>
      </dgm:t>
    </dgm:pt>
    <dgm:pt modelId="{EF07625C-3D8A-134E-9342-F205810A8C9A}" type="sibTrans" cxnId="{7D7BC587-81CE-5B40-BBC5-50A1A3C512ED}">
      <dgm:prSet/>
      <dgm:spPr/>
      <dgm:t>
        <a:bodyPr/>
        <a:lstStyle/>
        <a:p>
          <a:endParaRPr lang="en-US"/>
        </a:p>
      </dgm:t>
    </dgm:pt>
    <dgm:pt modelId="{8B723089-3212-E34B-B778-BE7311279152}">
      <dgm:prSet custT="1"/>
      <dgm:spPr/>
      <dgm:t>
        <a:bodyPr/>
        <a:lstStyle/>
        <a:p>
          <a:pPr rtl="0"/>
          <a:r>
            <a:rPr lang="en-US" sz="2300" dirty="0"/>
            <a:t>Queues are referred to as </a:t>
          </a:r>
          <a:r>
            <a:rPr lang="en-US" sz="2300" i="1" dirty="0"/>
            <a:t>mailboxes</a:t>
          </a:r>
        </a:p>
      </dgm:t>
    </dgm:pt>
    <dgm:pt modelId="{E44D4AF3-D810-924E-AE2E-3B93991C0F5E}" type="parTrans" cxnId="{C9E23825-C7E2-7D4A-9B06-ABCD730A26DC}">
      <dgm:prSet/>
      <dgm:spPr/>
      <dgm:t>
        <a:bodyPr/>
        <a:lstStyle/>
        <a:p>
          <a:endParaRPr lang="en-US"/>
        </a:p>
      </dgm:t>
    </dgm:pt>
    <dgm:pt modelId="{92F3AE1F-7CF4-0E4E-AD92-CC9DDA51D05A}" type="sibTrans" cxnId="{C9E23825-C7E2-7D4A-9B06-ABCD730A26DC}">
      <dgm:prSet/>
      <dgm:spPr/>
      <dgm:t>
        <a:bodyPr/>
        <a:lstStyle/>
        <a:p>
          <a:endParaRPr lang="en-US"/>
        </a:p>
      </dgm:t>
    </dgm:pt>
    <dgm:pt modelId="{14800147-5EB0-A046-ACFA-A00F2E46BB2A}">
      <dgm:prSet/>
      <dgm:spPr/>
      <dgm:t>
        <a:bodyPr/>
        <a:lstStyle/>
        <a:p>
          <a:pPr rtl="0"/>
          <a:r>
            <a:rPr lang="en-US" dirty="0"/>
            <a:t>One process sends a message to the mailbox and the other process picks up the message from the mailbox</a:t>
          </a:r>
        </a:p>
      </dgm:t>
    </dgm:pt>
    <dgm:pt modelId="{FD0168C6-54B9-894A-94DF-8791D73DEE01}" type="parTrans" cxnId="{DCE40618-414B-D941-BDEA-4FE6C4DA8C16}">
      <dgm:prSet/>
      <dgm:spPr/>
      <dgm:t>
        <a:bodyPr/>
        <a:lstStyle/>
        <a:p>
          <a:endParaRPr lang="en-US"/>
        </a:p>
      </dgm:t>
    </dgm:pt>
    <dgm:pt modelId="{FD890C16-4CAC-9942-8041-EA6A38E243FC}" type="sibTrans" cxnId="{DCE40618-414B-D941-BDEA-4FE6C4DA8C16}">
      <dgm:prSet/>
      <dgm:spPr/>
      <dgm:t>
        <a:bodyPr/>
        <a:lstStyle/>
        <a:p>
          <a:endParaRPr lang="en-US"/>
        </a:p>
      </dgm:t>
    </dgm:pt>
    <dgm:pt modelId="{21E31C66-B428-6049-A452-5922E2FF8434}">
      <dgm:prSet custT="1"/>
      <dgm:spPr/>
      <dgm:t>
        <a:bodyPr/>
        <a:lstStyle/>
        <a:p>
          <a:pPr rtl="0"/>
          <a:r>
            <a:rPr lang="en-US" sz="2300" dirty="0"/>
            <a:t>Allows for greater flexibility in the use of messages</a:t>
          </a:r>
        </a:p>
      </dgm:t>
    </dgm:pt>
    <dgm:pt modelId="{78EE7C33-1D98-FA4D-A3A8-8923D09F5D92}" type="parTrans" cxnId="{EFD69319-FD92-A64A-9E47-7C1D1C292482}">
      <dgm:prSet/>
      <dgm:spPr/>
      <dgm:t>
        <a:bodyPr/>
        <a:lstStyle/>
        <a:p>
          <a:endParaRPr lang="en-US"/>
        </a:p>
      </dgm:t>
    </dgm:pt>
    <dgm:pt modelId="{22F50B58-7AB8-8249-B714-65DD4BF45937}" type="sibTrans" cxnId="{EFD69319-FD92-A64A-9E47-7C1D1C292482}">
      <dgm:prSet/>
      <dgm:spPr/>
      <dgm:t>
        <a:bodyPr/>
        <a:lstStyle/>
        <a:p>
          <a:endParaRPr lang="en-US"/>
        </a:p>
      </dgm:t>
    </dgm:pt>
    <dgm:pt modelId="{ADB7CF85-0D40-EA4C-933F-CAFE371BFBC7}" type="pres">
      <dgm:prSet presAssocID="{A4DD884E-63E6-1444-A88B-CD7D08E920B1}" presName="diagram" presStyleCnt="0">
        <dgm:presLayoutVars>
          <dgm:dir/>
          <dgm:resizeHandles val="exact"/>
        </dgm:presLayoutVars>
      </dgm:prSet>
      <dgm:spPr/>
    </dgm:pt>
    <dgm:pt modelId="{8AD35B85-3272-3842-B975-0D28FA12B9EA}" type="pres">
      <dgm:prSet presAssocID="{3835C9AF-C8B8-1C4B-9620-F1414EB1BBA6}" presName="node" presStyleLbl="node1" presStyleIdx="0" presStyleCnt="4" custScaleX="117226">
        <dgm:presLayoutVars>
          <dgm:bulletEnabled val="1"/>
        </dgm:presLayoutVars>
      </dgm:prSet>
      <dgm:spPr/>
    </dgm:pt>
    <dgm:pt modelId="{FD726207-BDF7-F648-8A1D-4792344EE082}" type="pres">
      <dgm:prSet presAssocID="{EF07625C-3D8A-134E-9342-F205810A8C9A}" presName="sibTrans" presStyleLbl="sibTrans2D1" presStyleIdx="0" presStyleCnt="3"/>
      <dgm:spPr/>
    </dgm:pt>
    <dgm:pt modelId="{81E6D9A4-117C-BD4B-B9E4-DA7B085265F8}" type="pres">
      <dgm:prSet presAssocID="{EF07625C-3D8A-134E-9342-F205810A8C9A}" presName="connectorText" presStyleLbl="sibTrans2D1" presStyleIdx="0" presStyleCnt="3"/>
      <dgm:spPr/>
    </dgm:pt>
    <dgm:pt modelId="{42A3B1B7-2198-FC48-81A1-C2AC20C0214A}" type="pres">
      <dgm:prSet presAssocID="{8B723089-3212-E34B-B778-BE7311279152}" presName="node" presStyleLbl="node1" presStyleIdx="1" presStyleCnt="4">
        <dgm:presLayoutVars>
          <dgm:bulletEnabled val="1"/>
        </dgm:presLayoutVars>
      </dgm:prSet>
      <dgm:spPr/>
    </dgm:pt>
    <dgm:pt modelId="{7DC9C592-1D86-434A-96C8-545A7F4FECE4}" type="pres">
      <dgm:prSet presAssocID="{92F3AE1F-7CF4-0E4E-AD92-CC9DDA51D05A}" presName="sibTrans" presStyleLbl="sibTrans2D1" presStyleIdx="1" presStyleCnt="3" custAng="21403044"/>
      <dgm:spPr/>
    </dgm:pt>
    <dgm:pt modelId="{86F2A8CF-41AF-864D-8642-88310B73908A}" type="pres">
      <dgm:prSet presAssocID="{92F3AE1F-7CF4-0E4E-AD92-CC9DDA51D05A}" presName="connectorText" presStyleLbl="sibTrans2D1" presStyleIdx="1" presStyleCnt="3"/>
      <dgm:spPr/>
    </dgm:pt>
    <dgm:pt modelId="{E66579B5-8437-6E47-9E7B-772C542E5672}" type="pres">
      <dgm:prSet presAssocID="{14800147-5EB0-A046-ACFA-A00F2E46BB2A}" presName="node" presStyleLbl="node1" presStyleIdx="2" presStyleCnt="4" custScaleX="111471">
        <dgm:presLayoutVars>
          <dgm:bulletEnabled val="1"/>
        </dgm:presLayoutVars>
      </dgm:prSet>
      <dgm:spPr/>
    </dgm:pt>
    <dgm:pt modelId="{8C5B34E6-1EBB-5344-9E86-EF1BC7524739}" type="pres">
      <dgm:prSet presAssocID="{FD890C16-4CAC-9942-8041-EA6A38E243FC}" presName="sibTrans" presStyleLbl="sibTrans2D1" presStyleIdx="2" presStyleCnt="3"/>
      <dgm:spPr/>
    </dgm:pt>
    <dgm:pt modelId="{8FAC8C4F-DA4A-1C4E-8167-DD69A5077BC0}" type="pres">
      <dgm:prSet presAssocID="{FD890C16-4CAC-9942-8041-EA6A38E243FC}" presName="connectorText" presStyleLbl="sibTrans2D1" presStyleIdx="2" presStyleCnt="3"/>
      <dgm:spPr/>
    </dgm:pt>
    <dgm:pt modelId="{B17C5E11-C218-7B41-92DA-A351214BBDBE}" type="pres">
      <dgm:prSet presAssocID="{21E31C66-B428-6049-A452-5922E2FF8434}" presName="node" presStyleLbl="node1" presStyleIdx="3" presStyleCnt="4">
        <dgm:presLayoutVars>
          <dgm:bulletEnabled val="1"/>
        </dgm:presLayoutVars>
      </dgm:prSet>
      <dgm:spPr/>
    </dgm:pt>
  </dgm:ptLst>
  <dgm:cxnLst>
    <dgm:cxn modelId="{DCE40618-414B-D941-BDEA-4FE6C4DA8C16}" srcId="{A4DD884E-63E6-1444-A88B-CD7D08E920B1}" destId="{14800147-5EB0-A046-ACFA-A00F2E46BB2A}" srcOrd="2" destOrd="0" parTransId="{FD0168C6-54B9-894A-94DF-8791D73DEE01}" sibTransId="{FD890C16-4CAC-9942-8041-EA6A38E243FC}"/>
    <dgm:cxn modelId="{EFD69319-FD92-A64A-9E47-7C1D1C292482}" srcId="{A4DD884E-63E6-1444-A88B-CD7D08E920B1}" destId="{21E31C66-B428-6049-A452-5922E2FF8434}" srcOrd="3" destOrd="0" parTransId="{78EE7C33-1D98-FA4D-A3A8-8923D09F5D92}" sibTransId="{22F50B58-7AB8-8249-B714-65DD4BF45937}"/>
    <dgm:cxn modelId="{C9E23825-C7E2-7D4A-9B06-ABCD730A26DC}" srcId="{A4DD884E-63E6-1444-A88B-CD7D08E920B1}" destId="{8B723089-3212-E34B-B778-BE7311279152}" srcOrd="1" destOrd="0" parTransId="{E44D4AF3-D810-924E-AE2E-3B93991C0F5E}" sibTransId="{92F3AE1F-7CF4-0E4E-AD92-CC9DDA51D05A}"/>
    <dgm:cxn modelId="{2E23B82C-0D98-8645-ACC5-C584CB63A133}" type="presOf" srcId="{EF07625C-3D8A-134E-9342-F205810A8C9A}" destId="{FD726207-BDF7-F648-8A1D-4792344EE082}" srcOrd="0" destOrd="0" presId="urn:microsoft.com/office/officeart/2005/8/layout/process5"/>
    <dgm:cxn modelId="{4AE96B34-331C-F648-A8C2-C3C40CE83E5F}" type="presOf" srcId="{3835C9AF-C8B8-1C4B-9620-F1414EB1BBA6}" destId="{8AD35B85-3272-3842-B975-0D28FA12B9EA}" srcOrd="0" destOrd="0" presId="urn:microsoft.com/office/officeart/2005/8/layout/process5"/>
    <dgm:cxn modelId="{91C67C48-2B3B-FF41-883C-65463BB1F137}" type="presOf" srcId="{FD890C16-4CAC-9942-8041-EA6A38E243FC}" destId="{8FAC8C4F-DA4A-1C4E-8167-DD69A5077BC0}" srcOrd="1" destOrd="0" presId="urn:microsoft.com/office/officeart/2005/8/layout/process5"/>
    <dgm:cxn modelId="{BCCD5555-590D-8844-9955-982D6C094CA0}" type="presOf" srcId="{A4DD884E-63E6-1444-A88B-CD7D08E920B1}" destId="{ADB7CF85-0D40-EA4C-933F-CAFE371BFBC7}" srcOrd="0" destOrd="0" presId="urn:microsoft.com/office/officeart/2005/8/layout/process5"/>
    <dgm:cxn modelId="{E453625A-F952-F942-B4CD-D02B745CE88B}" type="presOf" srcId="{92F3AE1F-7CF4-0E4E-AD92-CC9DDA51D05A}" destId="{7DC9C592-1D86-434A-96C8-545A7F4FECE4}" srcOrd="0" destOrd="0" presId="urn:microsoft.com/office/officeart/2005/8/layout/process5"/>
    <dgm:cxn modelId="{7D7BC587-81CE-5B40-BBC5-50A1A3C512ED}" srcId="{A4DD884E-63E6-1444-A88B-CD7D08E920B1}" destId="{3835C9AF-C8B8-1C4B-9620-F1414EB1BBA6}" srcOrd="0" destOrd="0" parTransId="{D30EA9A2-157A-A94A-B794-891764C3925E}" sibTransId="{EF07625C-3D8A-134E-9342-F205810A8C9A}"/>
    <dgm:cxn modelId="{46182992-57AB-B94F-8102-A63620C4ED09}" type="presOf" srcId="{14800147-5EB0-A046-ACFA-A00F2E46BB2A}" destId="{E66579B5-8437-6E47-9E7B-772C542E5672}" srcOrd="0" destOrd="0" presId="urn:microsoft.com/office/officeart/2005/8/layout/process5"/>
    <dgm:cxn modelId="{4FACF59C-3EB4-6D43-BE20-2027FCF72A16}" type="presOf" srcId="{8B723089-3212-E34B-B778-BE7311279152}" destId="{42A3B1B7-2198-FC48-81A1-C2AC20C0214A}" srcOrd="0" destOrd="0" presId="urn:microsoft.com/office/officeart/2005/8/layout/process5"/>
    <dgm:cxn modelId="{DE5A05B8-C8DD-644D-8544-6EDDBAD76462}" type="presOf" srcId="{92F3AE1F-7CF4-0E4E-AD92-CC9DDA51D05A}" destId="{86F2A8CF-41AF-864D-8642-88310B73908A}" srcOrd="1" destOrd="0" presId="urn:microsoft.com/office/officeart/2005/8/layout/process5"/>
    <dgm:cxn modelId="{E10B43DA-15B4-7F4E-9C06-FE93E04BBA66}" type="presOf" srcId="{EF07625C-3D8A-134E-9342-F205810A8C9A}" destId="{81E6D9A4-117C-BD4B-B9E4-DA7B085265F8}" srcOrd="1" destOrd="0" presId="urn:microsoft.com/office/officeart/2005/8/layout/process5"/>
    <dgm:cxn modelId="{C55A86E9-2ED7-AC49-80EE-929FFB47E1CB}" type="presOf" srcId="{FD890C16-4CAC-9942-8041-EA6A38E243FC}" destId="{8C5B34E6-1EBB-5344-9E86-EF1BC7524739}" srcOrd="0" destOrd="0" presId="urn:microsoft.com/office/officeart/2005/8/layout/process5"/>
    <dgm:cxn modelId="{0AC82CF3-5775-2743-B725-D9A3F3D82F65}" type="presOf" srcId="{21E31C66-B428-6049-A452-5922E2FF8434}" destId="{B17C5E11-C218-7B41-92DA-A351214BBDBE}" srcOrd="0" destOrd="0" presId="urn:microsoft.com/office/officeart/2005/8/layout/process5"/>
    <dgm:cxn modelId="{762E6213-13C2-8940-AE6E-D610CFB65AEA}" type="presParOf" srcId="{ADB7CF85-0D40-EA4C-933F-CAFE371BFBC7}" destId="{8AD35B85-3272-3842-B975-0D28FA12B9EA}" srcOrd="0" destOrd="0" presId="urn:microsoft.com/office/officeart/2005/8/layout/process5"/>
    <dgm:cxn modelId="{A0D1FFE8-E99D-634D-AE7A-82F62FC1F7C4}" type="presParOf" srcId="{ADB7CF85-0D40-EA4C-933F-CAFE371BFBC7}" destId="{FD726207-BDF7-F648-8A1D-4792344EE082}" srcOrd="1" destOrd="0" presId="urn:microsoft.com/office/officeart/2005/8/layout/process5"/>
    <dgm:cxn modelId="{B8A21F83-ABA0-F54C-8467-5010F15B19CE}" type="presParOf" srcId="{FD726207-BDF7-F648-8A1D-4792344EE082}" destId="{81E6D9A4-117C-BD4B-B9E4-DA7B085265F8}" srcOrd="0" destOrd="0" presId="urn:microsoft.com/office/officeart/2005/8/layout/process5"/>
    <dgm:cxn modelId="{407504D7-6A5B-4843-8EBD-AD6550F1C5B0}" type="presParOf" srcId="{ADB7CF85-0D40-EA4C-933F-CAFE371BFBC7}" destId="{42A3B1B7-2198-FC48-81A1-C2AC20C0214A}" srcOrd="2" destOrd="0" presId="urn:microsoft.com/office/officeart/2005/8/layout/process5"/>
    <dgm:cxn modelId="{90BB1221-F913-F645-9B81-5E9AA3A95E14}" type="presParOf" srcId="{ADB7CF85-0D40-EA4C-933F-CAFE371BFBC7}" destId="{7DC9C592-1D86-434A-96C8-545A7F4FECE4}" srcOrd="3" destOrd="0" presId="urn:microsoft.com/office/officeart/2005/8/layout/process5"/>
    <dgm:cxn modelId="{4B7A9356-EAFF-F94A-9351-2D631F4F4D31}" type="presParOf" srcId="{7DC9C592-1D86-434A-96C8-545A7F4FECE4}" destId="{86F2A8CF-41AF-864D-8642-88310B73908A}" srcOrd="0" destOrd="0" presId="urn:microsoft.com/office/officeart/2005/8/layout/process5"/>
    <dgm:cxn modelId="{8683AB3C-4D68-1C4F-B5E3-819A5E47A7B7}" type="presParOf" srcId="{ADB7CF85-0D40-EA4C-933F-CAFE371BFBC7}" destId="{E66579B5-8437-6E47-9E7B-772C542E5672}" srcOrd="4" destOrd="0" presId="urn:microsoft.com/office/officeart/2005/8/layout/process5"/>
    <dgm:cxn modelId="{407536AF-E113-DA42-92FF-DB781E358574}" type="presParOf" srcId="{ADB7CF85-0D40-EA4C-933F-CAFE371BFBC7}" destId="{8C5B34E6-1EBB-5344-9E86-EF1BC7524739}" srcOrd="5" destOrd="0" presId="urn:microsoft.com/office/officeart/2005/8/layout/process5"/>
    <dgm:cxn modelId="{34DA6F0F-D8AC-3B48-9379-4A595440A83D}" type="presParOf" srcId="{8C5B34E6-1EBB-5344-9E86-EF1BC7524739}" destId="{8FAC8C4F-DA4A-1C4E-8167-DD69A5077BC0}" srcOrd="0" destOrd="0" presId="urn:microsoft.com/office/officeart/2005/8/layout/process5"/>
    <dgm:cxn modelId="{CA26D5DF-FE97-9C48-831C-061E0989DB4A}" type="presParOf" srcId="{ADB7CF85-0D40-EA4C-933F-CAFE371BFBC7}" destId="{B17C5E11-C218-7B41-92DA-A351214BBDBE}"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22F58D-B635-F14D-A7B0-F6371807DE43}">
      <dsp:nvSpPr>
        <dsp:cNvPr id="0" name=""/>
        <dsp:cNvSpPr/>
      </dsp:nvSpPr>
      <dsp:spPr>
        <a:xfrm>
          <a:off x="4419593" y="228600"/>
          <a:ext cx="3364185" cy="2018511"/>
        </a:xfrm>
        <a:prstGeom prst="roundRect">
          <a:avLst>
            <a:gd name="adj" fmla="val 10000"/>
          </a:avLst>
        </a:prstGeom>
        <a:solidFill>
          <a:schemeClr val="accent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kern="1200" dirty="0"/>
            <a:t>There is no way to inspect or manipulate semaphores other than these three operations</a:t>
          </a:r>
        </a:p>
      </dsp:txBody>
      <dsp:txXfrm>
        <a:off x="4478713" y="287720"/>
        <a:ext cx="3245945" cy="1900271"/>
      </dsp:txXfrm>
    </dsp:sp>
    <dsp:sp modelId="{2F146ECA-E547-3B4A-A33E-83CC028577F2}">
      <dsp:nvSpPr>
        <dsp:cNvPr id="0" name=""/>
        <dsp:cNvSpPr/>
      </dsp:nvSpPr>
      <dsp:spPr>
        <a:xfrm>
          <a:off x="3715242" y="820696"/>
          <a:ext cx="478597" cy="834317"/>
        </a:xfrm>
        <a:prstGeom prst="rightArrow">
          <a:avLst>
            <a:gd name="adj1" fmla="val 60000"/>
            <a:gd name="adj2" fmla="val 50000"/>
          </a:avLst>
        </a:prstGeom>
        <a:solidFill>
          <a:schemeClr val="bg2">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15242" y="987559"/>
        <a:ext cx="335018" cy="500591"/>
      </dsp:txXfrm>
    </dsp:sp>
    <dsp:sp modelId="{536CC010-3CA8-CD44-BED7-E2E67E4A6B14}">
      <dsp:nvSpPr>
        <dsp:cNvPr id="0" name=""/>
        <dsp:cNvSpPr/>
      </dsp:nvSpPr>
      <dsp:spPr>
        <a:xfrm>
          <a:off x="152394" y="228600"/>
          <a:ext cx="3364185" cy="2018511"/>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NZ" sz="2500" kern="1200" dirty="0"/>
            <a:t>A variable that has an integer value upon which only three operations are defined: </a:t>
          </a:r>
          <a:endParaRPr lang="en-US" sz="2500" kern="1200" dirty="0"/>
        </a:p>
      </dsp:txBody>
      <dsp:txXfrm>
        <a:off x="211514" y="287720"/>
        <a:ext cx="3245945" cy="19002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A5E69-E325-F142-A0D4-B743109408EA}">
      <dsp:nvSpPr>
        <dsp:cNvPr id="0" name=""/>
        <dsp:cNvSpPr/>
      </dsp:nvSpPr>
      <dsp:spPr>
        <a:xfrm rot="16200000">
          <a:off x="-550467" y="634016"/>
          <a:ext cx="3840163" cy="2572129"/>
        </a:xfrm>
        <a:prstGeom prst="flowChartManualOperation">
          <a:avLst/>
        </a:prstGeom>
        <a:solidFill>
          <a:schemeClr val="accent3">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0" tIns="0" rIns="128285" bIns="0" numCol="1" spcCol="1270" anchor="ctr" anchorCtr="0">
          <a:noAutofit/>
        </a:bodyPr>
        <a:lstStyle/>
        <a:p>
          <a:pPr marL="0" lvl="0" indent="0" algn="ctr" defTabSz="889000" rtl="0">
            <a:lnSpc>
              <a:spcPct val="90000"/>
            </a:lnSpc>
            <a:spcBef>
              <a:spcPct val="0"/>
            </a:spcBef>
            <a:spcAft>
              <a:spcPct val="35000"/>
            </a:spcAft>
            <a:buNone/>
          </a:pPr>
          <a:r>
            <a:rPr lang="en-US" sz="2000" kern="1200" dirty="0"/>
            <a:t>There is no way to know before a process decrements a semaphore whether it will block or not</a:t>
          </a:r>
        </a:p>
      </dsp:txBody>
      <dsp:txXfrm rot="5400000">
        <a:off x="83550" y="768032"/>
        <a:ext cx="2572129" cy="2304097"/>
      </dsp:txXfrm>
    </dsp:sp>
    <dsp:sp modelId="{49FA2FAC-FF0C-C14A-8048-646F866CB8A7}">
      <dsp:nvSpPr>
        <dsp:cNvPr id="0" name=""/>
        <dsp:cNvSpPr/>
      </dsp:nvSpPr>
      <dsp:spPr>
        <a:xfrm rot="16200000">
          <a:off x="2132012" y="634016"/>
          <a:ext cx="3840163" cy="2572129"/>
        </a:xfrm>
        <a:prstGeom prst="flowChartManualOperation">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0" tIns="0" rIns="128285" bIns="0" numCol="1" spcCol="1270" anchor="ctr" anchorCtr="0">
          <a:noAutofit/>
        </a:bodyPr>
        <a:lstStyle/>
        <a:p>
          <a:pPr marL="0" lvl="0" indent="0" algn="ctr" defTabSz="889000" rtl="0">
            <a:lnSpc>
              <a:spcPct val="90000"/>
            </a:lnSpc>
            <a:spcBef>
              <a:spcPct val="0"/>
            </a:spcBef>
            <a:spcAft>
              <a:spcPct val="35000"/>
            </a:spcAft>
            <a:buNone/>
          </a:pPr>
          <a:r>
            <a:rPr lang="en-US" sz="2000" kern="1200" dirty="0"/>
            <a:t>There is no way to know which process will continue immediately on a </a:t>
          </a:r>
          <a:r>
            <a:rPr lang="en-US" sz="2000" kern="1200" dirty="0" err="1"/>
            <a:t>uniprocessor</a:t>
          </a:r>
          <a:r>
            <a:rPr lang="en-US" sz="2000" kern="1200" dirty="0"/>
            <a:t> system when two processes are running concurrently</a:t>
          </a:r>
        </a:p>
      </dsp:txBody>
      <dsp:txXfrm rot="5400000">
        <a:off x="2766029" y="768032"/>
        <a:ext cx="2572129" cy="2304097"/>
      </dsp:txXfrm>
    </dsp:sp>
    <dsp:sp modelId="{9BE6FA6B-34B4-C242-82E5-DC5F191FF1E9}">
      <dsp:nvSpPr>
        <dsp:cNvPr id="0" name=""/>
        <dsp:cNvSpPr/>
      </dsp:nvSpPr>
      <dsp:spPr>
        <a:xfrm rot="16200000">
          <a:off x="4897051" y="634016"/>
          <a:ext cx="3840163" cy="2572129"/>
        </a:xfrm>
        <a:prstGeom prst="flowChartManualOperation">
          <a:avLst/>
        </a:prstGeom>
        <a:solidFill>
          <a:schemeClr val="accent6">
            <a:lumMod val="7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0" tIns="0" rIns="128285" bIns="0" numCol="1" spcCol="1270" anchor="ctr" anchorCtr="0">
          <a:noAutofit/>
        </a:bodyPr>
        <a:lstStyle/>
        <a:p>
          <a:pPr marL="0" lvl="0" indent="0" algn="ctr" defTabSz="889000" rtl="0">
            <a:lnSpc>
              <a:spcPct val="90000"/>
            </a:lnSpc>
            <a:spcBef>
              <a:spcPct val="0"/>
            </a:spcBef>
            <a:spcAft>
              <a:spcPct val="35000"/>
            </a:spcAft>
            <a:buNone/>
          </a:pPr>
          <a:r>
            <a:rPr lang="en-US" sz="2000" kern="1200" dirty="0"/>
            <a:t>You don’t know whether another process is waiting so the number of unblocked processes may be zero or one</a:t>
          </a:r>
        </a:p>
      </dsp:txBody>
      <dsp:txXfrm rot="5400000">
        <a:off x="5531068" y="768032"/>
        <a:ext cx="2572129" cy="23040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4B5A1A-5870-5C40-8ADE-32EFF8546961}">
      <dsp:nvSpPr>
        <dsp:cNvPr id="0" name=""/>
        <dsp:cNvSpPr/>
      </dsp:nvSpPr>
      <dsp:spPr>
        <a:xfrm>
          <a:off x="0" y="399099"/>
          <a:ext cx="8229600" cy="1304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79044" rIns="638708" bIns="163576" numCol="1" spcCol="1270" anchor="t" anchorCtr="0">
          <a:noAutofit/>
        </a:bodyPr>
        <a:lstStyle/>
        <a:p>
          <a:pPr marL="228600" lvl="1" indent="-228600" algn="l" defTabSz="1022350">
            <a:lnSpc>
              <a:spcPct val="90000"/>
            </a:lnSpc>
            <a:spcBef>
              <a:spcPct val="0"/>
            </a:spcBef>
            <a:spcAft>
              <a:spcPct val="15000"/>
            </a:spcAft>
            <a:buChar char="•"/>
          </a:pPr>
          <a:r>
            <a:rPr lang="en-NZ" sz="2300" kern="1200" dirty="0"/>
            <a:t>the process that has been blocked the longest is released from the queue first (FIFO)</a:t>
          </a:r>
        </a:p>
      </dsp:txBody>
      <dsp:txXfrm>
        <a:off x="0" y="399099"/>
        <a:ext cx="8229600" cy="1304100"/>
      </dsp:txXfrm>
    </dsp:sp>
    <dsp:sp modelId="{DD1D9237-EB74-E84E-AC7E-51428224DD48}">
      <dsp:nvSpPr>
        <dsp:cNvPr id="0" name=""/>
        <dsp:cNvSpPr/>
      </dsp:nvSpPr>
      <dsp:spPr>
        <a:xfrm>
          <a:off x="411480" y="59619"/>
          <a:ext cx="5760720" cy="678960"/>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NZ" sz="2800" b="1" i="1" kern="1200" dirty="0"/>
            <a:t>Strong Semaphores</a:t>
          </a:r>
          <a:r>
            <a:rPr lang="en-NZ" sz="2800" kern="1200" dirty="0"/>
            <a:t> </a:t>
          </a:r>
          <a:endParaRPr lang="en-US" sz="2800" kern="1200" dirty="0"/>
        </a:p>
      </dsp:txBody>
      <dsp:txXfrm>
        <a:off x="444624" y="92763"/>
        <a:ext cx="5694432" cy="612672"/>
      </dsp:txXfrm>
    </dsp:sp>
    <dsp:sp modelId="{40B0B400-5226-0F4B-98AB-E6B21FAA5A13}">
      <dsp:nvSpPr>
        <dsp:cNvPr id="0" name=""/>
        <dsp:cNvSpPr/>
      </dsp:nvSpPr>
      <dsp:spPr>
        <a:xfrm>
          <a:off x="0" y="2166880"/>
          <a:ext cx="8229600" cy="1304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79044" rIns="638708" bIns="163576" numCol="1" spcCol="1270" anchor="t" anchorCtr="0">
          <a:noAutofit/>
        </a:bodyPr>
        <a:lstStyle/>
        <a:p>
          <a:pPr marL="228600" lvl="1" indent="-228600" algn="l" defTabSz="1022350">
            <a:lnSpc>
              <a:spcPct val="90000"/>
            </a:lnSpc>
            <a:spcBef>
              <a:spcPct val="0"/>
            </a:spcBef>
            <a:spcAft>
              <a:spcPct val="15000"/>
            </a:spcAft>
            <a:buChar char="•"/>
          </a:pPr>
          <a:r>
            <a:rPr lang="en-NZ" sz="2300" kern="1200"/>
            <a:t>the order in which processes are removed from the queue is not specified</a:t>
          </a:r>
          <a:endParaRPr lang="en-NZ" sz="2300" kern="1200" dirty="0"/>
        </a:p>
      </dsp:txBody>
      <dsp:txXfrm>
        <a:off x="0" y="2166880"/>
        <a:ext cx="8229600" cy="1304100"/>
      </dsp:txXfrm>
    </dsp:sp>
    <dsp:sp modelId="{2E01E895-987A-1640-8719-30A986FB6C86}">
      <dsp:nvSpPr>
        <dsp:cNvPr id="0" name=""/>
        <dsp:cNvSpPr/>
      </dsp:nvSpPr>
      <dsp:spPr>
        <a:xfrm>
          <a:off x="411480" y="1827400"/>
          <a:ext cx="5760720" cy="678960"/>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NZ" sz="2800" b="1" i="1" kern="1200" dirty="0"/>
            <a:t>Weak Semaphores </a:t>
          </a:r>
          <a:r>
            <a:rPr lang="en-NZ" sz="2300" kern="1200" dirty="0"/>
            <a:t> </a:t>
          </a:r>
        </a:p>
      </dsp:txBody>
      <dsp:txXfrm>
        <a:off x="444624" y="1860544"/>
        <a:ext cx="5694432" cy="6126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6EB41-3B3B-EA42-AE9D-C2314DC42775}">
      <dsp:nvSpPr>
        <dsp:cNvPr id="0" name=""/>
        <dsp:cNvSpPr/>
      </dsp:nvSpPr>
      <dsp:spPr>
        <a:xfrm>
          <a:off x="134732" y="0"/>
          <a:ext cx="3591475" cy="4114800"/>
        </a:xfrm>
        <a:prstGeom prst="roundRect">
          <a:avLst>
            <a:gd name="adj" fmla="val 10000"/>
          </a:avLst>
        </a:prstGeom>
        <a:solidFill>
          <a:schemeClr val="accent3">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1600200">
            <a:lnSpc>
              <a:spcPct val="90000"/>
            </a:lnSpc>
            <a:spcBef>
              <a:spcPct val="0"/>
            </a:spcBef>
            <a:spcAft>
              <a:spcPct val="35000"/>
            </a:spcAft>
            <a:buNone/>
          </a:pPr>
          <a:r>
            <a:rPr lang="en-US" sz="3600" kern="1200" dirty="0"/>
            <a:t>General Situation:</a:t>
          </a:r>
        </a:p>
        <a:p>
          <a:pPr marL="228600" lvl="1" indent="-228600" algn="l" defTabSz="933450">
            <a:lnSpc>
              <a:spcPct val="90000"/>
            </a:lnSpc>
            <a:spcBef>
              <a:spcPct val="0"/>
            </a:spcBef>
            <a:spcAft>
              <a:spcPct val="15000"/>
            </a:spcAft>
            <a:buChar char="•"/>
          </a:pPr>
          <a:r>
            <a:rPr lang="en-US" sz="2100" kern="1200" dirty="0"/>
            <a:t>one or more producers are generating data and placing these in a buffer</a:t>
          </a:r>
        </a:p>
        <a:p>
          <a:pPr marL="228600" lvl="1" indent="-228600" algn="l" defTabSz="933450">
            <a:lnSpc>
              <a:spcPct val="90000"/>
            </a:lnSpc>
            <a:spcBef>
              <a:spcPct val="0"/>
            </a:spcBef>
            <a:spcAft>
              <a:spcPct val="15000"/>
            </a:spcAft>
            <a:buChar char="•"/>
          </a:pPr>
          <a:r>
            <a:rPr lang="en-US" sz="2100" kern="1200" dirty="0"/>
            <a:t>a single consumer is taking items out of the buffer one at time</a:t>
          </a:r>
        </a:p>
        <a:p>
          <a:pPr marL="228600" lvl="1" indent="-228600" algn="l" defTabSz="933450">
            <a:lnSpc>
              <a:spcPct val="90000"/>
            </a:lnSpc>
            <a:spcBef>
              <a:spcPct val="0"/>
            </a:spcBef>
            <a:spcAft>
              <a:spcPct val="15000"/>
            </a:spcAft>
            <a:buChar char="•"/>
          </a:pPr>
          <a:r>
            <a:rPr lang="en-US" sz="2100" kern="1200" dirty="0"/>
            <a:t>only one producer or consumer may access the buffer at any one time</a:t>
          </a:r>
        </a:p>
      </dsp:txBody>
      <dsp:txXfrm>
        <a:off x="239923" y="105191"/>
        <a:ext cx="3381093" cy="3904418"/>
      </dsp:txXfrm>
    </dsp:sp>
    <dsp:sp modelId="{2FC5CD5F-1F07-7F44-B8F2-45124A5E3E66}">
      <dsp:nvSpPr>
        <dsp:cNvPr id="0" name=""/>
        <dsp:cNvSpPr/>
      </dsp:nvSpPr>
      <dsp:spPr>
        <a:xfrm>
          <a:off x="3980019" y="1702494"/>
          <a:ext cx="538081" cy="709811"/>
        </a:xfrm>
        <a:prstGeom prst="rightArrow">
          <a:avLst>
            <a:gd name="adj1" fmla="val 60000"/>
            <a:gd name="adj2" fmla="val 50000"/>
          </a:avLst>
        </a:prstGeom>
        <a:solidFill>
          <a:schemeClr val="accent2">
            <a:lumMod val="50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980019" y="1844456"/>
        <a:ext cx="376657" cy="425887"/>
      </dsp:txXfrm>
    </dsp:sp>
    <dsp:sp modelId="{97C10248-49D4-BA42-A96D-F06C469FE9B5}">
      <dsp:nvSpPr>
        <dsp:cNvPr id="0" name=""/>
        <dsp:cNvSpPr/>
      </dsp:nvSpPr>
      <dsp:spPr>
        <a:xfrm>
          <a:off x="4741456" y="433138"/>
          <a:ext cx="2873420" cy="3248523"/>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The Problem:</a:t>
          </a:r>
        </a:p>
        <a:p>
          <a:pPr marL="228600" lvl="1" indent="-228600" algn="l" defTabSz="977900">
            <a:lnSpc>
              <a:spcPct val="90000"/>
            </a:lnSpc>
            <a:spcBef>
              <a:spcPct val="0"/>
            </a:spcBef>
            <a:spcAft>
              <a:spcPct val="15000"/>
            </a:spcAft>
            <a:buChar char="•"/>
          </a:pPr>
          <a:r>
            <a:rPr lang="en-US" sz="2200" kern="1200" dirty="0"/>
            <a:t>ensure that the producer can’t add data into full buffer and consumer can’t remove data from an empty buffer</a:t>
          </a:r>
        </a:p>
      </dsp:txBody>
      <dsp:txXfrm>
        <a:off x="4825616" y="517298"/>
        <a:ext cx="2705100" cy="30802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ED8C3-E406-2842-BD01-BCFEA1E9CFC2}">
      <dsp:nvSpPr>
        <dsp:cNvPr id="0" name=""/>
        <dsp:cNvSpPr/>
      </dsp:nvSpPr>
      <dsp:spPr>
        <a:xfrm>
          <a:off x="0" y="1485900"/>
          <a:ext cx="8229600" cy="1981200"/>
        </a:xfrm>
        <a:prstGeom prst="notchedRightArrow">
          <a:avLst/>
        </a:prstGeom>
        <a:solidFill>
          <a:schemeClr val="accent5">
            <a:lumMod val="50000"/>
            <a:alpha val="7300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58893B8B-7919-3541-8D99-D3AEC91FB799}">
      <dsp:nvSpPr>
        <dsp:cNvPr id="0" name=""/>
        <dsp:cNvSpPr/>
      </dsp:nvSpPr>
      <dsp:spPr>
        <a:xfrm>
          <a:off x="3616" y="0"/>
          <a:ext cx="2386905" cy="198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rtl="0">
            <a:lnSpc>
              <a:spcPct val="90000"/>
            </a:lnSpc>
            <a:spcBef>
              <a:spcPct val="0"/>
            </a:spcBef>
            <a:spcAft>
              <a:spcPct val="35000"/>
            </a:spcAft>
            <a:buNone/>
          </a:pPr>
          <a:r>
            <a:rPr lang="en-US" sz="2000" kern="1200" dirty="0"/>
            <a:t>Local data variables are accessible only by the monitor’s procedures and not by any external procedure</a:t>
          </a:r>
        </a:p>
      </dsp:txBody>
      <dsp:txXfrm>
        <a:off x="3616" y="0"/>
        <a:ext cx="2386905" cy="1981200"/>
      </dsp:txXfrm>
    </dsp:sp>
    <dsp:sp modelId="{A1A147BE-7D78-004C-B935-FAA4F498AEEE}">
      <dsp:nvSpPr>
        <dsp:cNvPr id="0" name=""/>
        <dsp:cNvSpPr/>
      </dsp:nvSpPr>
      <dsp:spPr>
        <a:xfrm>
          <a:off x="949419" y="2228849"/>
          <a:ext cx="495300" cy="495300"/>
        </a:xfrm>
        <a:prstGeom prst="ellipse">
          <a:avLst/>
        </a:prstGeom>
        <a:solidFill>
          <a:schemeClr val="bg1">
            <a:lumMod val="8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5F9EB354-648F-9643-A087-BCC60CED9639}">
      <dsp:nvSpPr>
        <dsp:cNvPr id="0" name=""/>
        <dsp:cNvSpPr/>
      </dsp:nvSpPr>
      <dsp:spPr>
        <a:xfrm>
          <a:off x="2509867" y="2971800"/>
          <a:ext cx="2386905" cy="198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ctr" defTabSz="889000" rtl="0">
            <a:lnSpc>
              <a:spcPct val="90000"/>
            </a:lnSpc>
            <a:spcBef>
              <a:spcPct val="0"/>
            </a:spcBef>
            <a:spcAft>
              <a:spcPct val="35000"/>
            </a:spcAft>
            <a:buNone/>
          </a:pPr>
          <a:r>
            <a:rPr lang="en-US" sz="2000" kern="1200" dirty="0"/>
            <a:t>Process enters monitor by invoking one of its procedures</a:t>
          </a:r>
        </a:p>
      </dsp:txBody>
      <dsp:txXfrm>
        <a:off x="2509867" y="2971800"/>
        <a:ext cx="2386905" cy="1981200"/>
      </dsp:txXfrm>
    </dsp:sp>
    <dsp:sp modelId="{5BF15F84-4D4A-644D-84F8-62271DC370A9}">
      <dsp:nvSpPr>
        <dsp:cNvPr id="0" name=""/>
        <dsp:cNvSpPr/>
      </dsp:nvSpPr>
      <dsp:spPr>
        <a:xfrm>
          <a:off x="3455669" y="2228849"/>
          <a:ext cx="495300" cy="495300"/>
        </a:xfrm>
        <a:prstGeom prst="ellipse">
          <a:avLst/>
        </a:prstGeom>
        <a:solidFill>
          <a:schemeClr val="bg1">
            <a:lumMod val="8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566C022D-D681-2E41-B689-7BBB02AA63E8}">
      <dsp:nvSpPr>
        <dsp:cNvPr id="0" name=""/>
        <dsp:cNvSpPr/>
      </dsp:nvSpPr>
      <dsp:spPr>
        <a:xfrm>
          <a:off x="5016118" y="0"/>
          <a:ext cx="2386905" cy="198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rtl="0">
            <a:lnSpc>
              <a:spcPct val="90000"/>
            </a:lnSpc>
            <a:spcBef>
              <a:spcPct val="0"/>
            </a:spcBef>
            <a:spcAft>
              <a:spcPct val="35000"/>
            </a:spcAft>
            <a:buNone/>
          </a:pPr>
          <a:r>
            <a:rPr lang="en-US" sz="2000" kern="1200" dirty="0"/>
            <a:t>Only one process may be executing in the monitor at a time</a:t>
          </a:r>
        </a:p>
      </dsp:txBody>
      <dsp:txXfrm>
        <a:off x="5016118" y="0"/>
        <a:ext cx="2386905" cy="1981200"/>
      </dsp:txXfrm>
    </dsp:sp>
    <dsp:sp modelId="{C07DF334-9E43-C046-A30B-E200F2167D98}">
      <dsp:nvSpPr>
        <dsp:cNvPr id="0" name=""/>
        <dsp:cNvSpPr/>
      </dsp:nvSpPr>
      <dsp:spPr>
        <a:xfrm>
          <a:off x="5961920" y="2228849"/>
          <a:ext cx="495300" cy="495300"/>
        </a:xfrm>
        <a:prstGeom prst="ellipse">
          <a:avLst/>
        </a:prstGeom>
        <a:solidFill>
          <a:schemeClr val="bg1">
            <a:lumMod val="8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516BB1-9D39-E449-8773-CABC43961BCF}">
      <dsp:nvSpPr>
        <dsp:cNvPr id="0" name=""/>
        <dsp:cNvSpPr/>
      </dsp:nvSpPr>
      <dsp:spPr>
        <a:xfrm>
          <a:off x="29" y="34800"/>
          <a:ext cx="2812963" cy="576000"/>
        </a:xfrm>
        <a:prstGeom prst="rect">
          <a:avLst/>
        </a:prstGeom>
        <a:solidFill>
          <a:schemeClr val="accent6">
            <a:lumMod val="75000"/>
          </a:schemeClr>
        </a:soli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NZ" sz="2000" kern="1200" dirty="0"/>
            <a:t>synchronization</a:t>
          </a:r>
          <a:endParaRPr lang="en-US" sz="2000" kern="1200" dirty="0"/>
        </a:p>
      </dsp:txBody>
      <dsp:txXfrm>
        <a:off x="29" y="34800"/>
        <a:ext cx="2812963" cy="576000"/>
      </dsp:txXfrm>
    </dsp:sp>
    <dsp:sp modelId="{57087B52-C684-5341-9E12-7A8A7012CF46}">
      <dsp:nvSpPr>
        <dsp:cNvPr id="0" name=""/>
        <dsp:cNvSpPr/>
      </dsp:nvSpPr>
      <dsp:spPr>
        <a:xfrm>
          <a:off x="29" y="610800"/>
          <a:ext cx="2812963" cy="878400"/>
        </a:xfrm>
        <a:prstGeom prst="rect">
          <a:avLst/>
        </a:prstGeom>
        <a:solidFill>
          <a:schemeClr val="accent5">
            <a:lumMod val="60000"/>
            <a:lumOff val="40000"/>
            <a:alpha val="4600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NZ" sz="2000" kern="1200" dirty="0"/>
            <a:t>to enforce mutual exclusion</a:t>
          </a:r>
        </a:p>
      </dsp:txBody>
      <dsp:txXfrm>
        <a:off x="29" y="610800"/>
        <a:ext cx="2812963" cy="878400"/>
      </dsp:txXfrm>
    </dsp:sp>
    <dsp:sp modelId="{58C9E88D-0AFF-9A46-9A58-7E5B47B8FB75}">
      <dsp:nvSpPr>
        <dsp:cNvPr id="0" name=""/>
        <dsp:cNvSpPr/>
      </dsp:nvSpPr>
      <dsp:spPr>
        <a:xfrm>
          <a:off x="3206807" y="34800"/>
          <a:ext cx="2812963" cy="576000"/>
        </a:xfrm>
        <a:prstGeom prst="rect">
          <a:avLst/>
        </a:prstGeom>
        <a:solidFill>
          <a:schemeClr val="accent6">
            <a:lumMod val="75000"/>
          </a:schemeClr>
        </a:soli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NZ" sz="2000" kern="1200"/>
            <a:t>communication  </a:t>
          </a:r>
          <a:endParaRPr lang="en-NZ" sz="2000" kern="1200" dirty="0"/>
        </a:p>
      </dsp:txBody>
      <dsp:txXfrm>
        <a:off x="3206807" y="34800"/>
        <a:ext cx="2812963" cy="576000"/>
      </dsp:txXfrm>
    </dsp:sp>
    <dsp:sp modelId="{DEB9BAE2-8339-A243-A12C-F23AFF408E60}">
      <dsp:nvSpPr>
        <dsp:cNvPr id="0" name=""/>
        <dsp:cNvSpPr/>
      </dsp:nvSpPr>
      <dsp:spPr>
        <a:xfrm>
          <a:off x="3206807" y="610800"/>
          <a:ext cx="2812963" cy="878400"/>
        </a:xfrm>
        <a:prstGeom prst="rect">
          <a:avLst/>
        </a:prstGeom>
        <a:solidFill>
          <a:schemeClr val="accent5">
            <a:lumMod val="60000"/>
            <a:lumOff val="40000"/>
            <a:alpha val="4600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NZ" sz="2000" kern="1200"/>
            <a:t>to exchange information</a:t>
          </a:r>
          <a:endParaRPr lang="en-NZ" sz="2000" kern="1200" dirty="0"/>
        </a:p>
      </dsp:txBody>
      <dsp:txXfrm>
        <a:off x="3206807" y="610800"/>
        <a:ext cx="2812963" cy="8784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CE5C9F-7A29-B049-BF80-D80F2A8B9162}">
      <dsp:nvSpPr>
        <dsp:cNvPr id="0" name=""/>
        <dsp:cNvSpPr/>
      </dsp:nvSpPr>
      <dsp:spPr>
        <a:xfrm rot="21364723">
          <a:off x="727792" y="928327"/>
          <a:ext cx="2681113" cy="1320065"/>
        </a:xfrm>
        <a:prstGeom prst="roundRect">
          <a:avLst>
            <a:gd name="adj" fmla="val 10000"/>
          </a:avLst>
        </a:prstGeom>
        <a:solidFill>
          <a:schemeClr val="accent5">
            <a:lumMod val="5000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Communication of a message between two processes implies synchronization between the two</a:t>
          </a:r>
        </a:p>
      </dsp:txBody>
      <dsp:txXfrm>
        <a:off x="766455" y="966990"/>
        <a:ext cx="2603787" cy="1242739"/>
      </dsp:txXfrm>
    </dsp:sp>
    <dsp:sp modelId="{B0876E2E-024F-E840-B429-8A6DDBD3C0B7}">
      <dsp:nvSpPr>
        <dsp:cNvPr id="0" name=""/>
        <dsp:cNvSpPr/>
      </dsp:nvSpPr>
      <dsp:spPr>
        <a:xfrm rot="469402">
          <a:off x="4699574" y="591669"/>
          <a:ext cx="3161805" cy="971147"/>
        </a:xfrm>
        <a:prstGeom prst="roundRect">
          <a:avLst>
            <a:gd name="adj" fmla="val 10000"/>
          </a:avLst>
        </a:prstGeom>
        <a:solidFill>
          <a:schemeClr val="accent5">
            <a:lumMod val="5000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NZ" sz="1600" b="1" i="0" kern="1200" dirty="0">
              <a:solidFill>
                <a:schemeClr val="bg1"/>
              </a:solidFill>
            </a:rPr>
            <a:t>When a receive primitive is executed in a process there are two possibilities:</a:t>
          </a:r>
          <a:endParaRPr lang="en-US" sz="1600" b="1" i="0" kern="1200" dirty="0">
            <a:solidFill>
              <a:schemeClr val="bg1"/>
            </a:solidFill>
          </a:endParaRPr>
        </a:p>
      </dsp:txBody>
      <dsp:txXfrm>
        <a:off x="4728018" y="620113"/>
        <a:ext cx="3104917" cy="914259"/>
      </dsp:txXfrm>
    </dsp:sp>
    <dsp:sp modelId="{4F3C4FFF-DBC4-E343-860C-7EE99D254749}">
      <dsp:nvSpPr>
        <dsp:cNvPr id="0" name=""/>
        <dsp:cNvSpPr/>
      </dsp:nvSpPr>
      <dsp:spPr>
        <a:xfrm>
          <a:off x="3429002" y="4267200"/>
          <a:ext cx="677405" cy="677405"/>
        </a:xfrm>
        <a:prstGeom prst="triangle">
          <a:avLst/>
        </a:prstGeom>
        <a:solidFill>
          <a:schemeClr val="accent3">
            <a:lumMod val="5000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E958576-B4BC-E74E-86DC-B7A96B976014}">
      <dsp:nvSpPr>
        <dsp:cNvPr id="0" name=""/>
        <dsp:cNvSpPr/>
      </dsp:nvSpPr>
      <dsp:spPr>
        <a:xfrm rot="240000">
          <a:off x="1757585" y="4027654"/>
          <a:ext cx="4065677" cy="284299"/>
        </a:xfrm>
        <a:prstGeom prst="rect">
          <a:avLst/>
        </a:prstGeom>
        <a:solidFill>
          <a:schemeClr val="accent3">
            <a:lumMod val="50000"/>
          </a:schemeClr>
        </a:solidFill>
        <a:ln w="1270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023CDB2-16FA-3B49-BF46-F81510603726}">
      <dsp:nvSpPr>
        <dsp:cNvPr id="0" name=""/>
        <dsp:cNvSpPr/>
      </dsp:nvSpPr>
      <dsp:spPr>
        <a:xfrm rot="510070">
          <a:off x="3894263" y="2946371"/>
          <a:ext cx="2810684" cy="1107253"/>
        </a:xfrm>
        <a:prstGeom prst="roundRect">
          <a:avLst/>
        </a:prstGeom>
        <a:solidFill>
          <a:schemeClr val="accent1">
            <a:alpha val="2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if a message has previously been sent the message is received and execution continues</a:t>
          </a:r>
        </a:p>
      </dsp:txBody>
      <dsp:txXfrm>
        <a:off x="3948315" y="3000423"/>
        <a:ext cx="2702580" cy="999149"/>
      </dsp:txXfrm>
    </dsp:sp>
    <dsp:sp modelId="{5EB8A7DA-62E2-E440-9AA1-AFABD63FDF67}">
      <dsp:nvSpPr>
        <dsp:cNvPr id="0" name=""/>
        <dsp:cNvSpPr/>
      </dsp:nvSpPr>
      <dsp:spPr>
        <a:xfrm rot="537530">
          <a:off x="4002361" y="1649870"/>
          <a:ext cx="3653134" cy="1273339"/>
        </a:xfrm>
        <a:prstGeom prst="roundRect">
          <a:avLst/>
        </a:prstGeom>
        <a:solidFill>
          <a:schemeClr val="accent1">
            <a:alpha val="2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if there is no waiting message the process is blocked until a message arrives or the process continues to execute, abandoning the attempt to receive</a:t>
          </a:r>
        </a:p>
      </dsp:txBody>
      <dsp:txXfrm>
        <a:off x="4064520" y="1712029"/>
        <a:ext cx="3528816" cy="1149021"/>
      </dsp:txXfrm>
    </dsp:sp>
    <dsp:sp modelId="{9C6B398F-15AB-5548-AB75-EDD00D3829AC}">
      <dsp:nvSpPr>
        <dsp:cNvPr id="0" name=""/>
        <dsp:cNvSpPr/>
      </dsp:nvSpPr>
      <dsp:spPr>
        <a:xfrm rot="21331824">
          <a:off x="1206728" y="2519659"/>
          <a:ext cx="2317665" cy="1141728"/>
        </a:xfrm>
        <a:prstGeom prst="roundRect">
          <a:avLst/>
        </a:prstGeom>
        <a:solidFill>
          <a:schemeClr val="accent1">
            <a:alpha val="2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the receiver cannot receive a message until it has been sent by another process</a:t>
          </a:r>
        </a:p>
      </dsp:txBody>
      <dsp:txXfrm>
        <a:off x="1262463" y="2575394"/>
        <a:ext cx="2206195" cy="103025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C4253-C5DD-2F40-AF14-A6F8E87BF8EB}">
      <dsp:nvSpPr>
        <dsp:cNvPr id="0" name=""/>
        <dsp:cNvSpPr/>
      </dsp:nvSpPr>
      <dsp:spPr>
        <a:xfrm>
          <a:off x="0" y="337949"/>
          <a:ext cx="8077200" cy="2709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16560" rIns="626880" bIns="14224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t>sender continues on but receiver is blocked until the requested message arrives</a:t>
          </a:r>
        </a:p>
        <a:p>
          <a:pPr marL="228600" lvl="1" indent="-228600" algn="l" defTabSz="889000" rtl="0">
            <a:lnSpc>
              <a:spcPct val="90000"/>
            </a:lnSpc>
            <a:spcBef>
              <a:spcPct val="0"/>
            </a:spcBef>
            <a:spcAft>
              <a:spcPct val="15000"/>
            </a:spcAft>
            <a:buChar char="•"/>
          </a:pPr>
          <a:r>
            <a:rPr lang="en-US" sz="2000" kern="1200" dirty="0"/>
            <a:t>most useful combination</a:t>
          </a:r>
        </a:p>
        <a:p>
          <a:pPr marL="228600" lvl="1" indent="-228600" algn="l" defTabSz="889000" rtl="0">
            <a:lnSpc>
              <a:spcPct val="90000"/>
            </a:lnSpc>
            <a:spcBef>
              <a:spcPct val="0"/>
            </a:spcBef>
            <a:spcAft>
              <a:spcPct val="15000"/>
            </a:spcAft>
            <a:buChar char="•"/>
          </a:pPr>
          <a:r>
            <a:rPr lang="en-US" sz="2000" kern="1200" dirty="0"/>
            <a:t>sends one or more messages to a variety of destinations as quickly as possible</a:t>
          </a:r>
        </a:p>
        <a:p>
          <a:pPr marL="228600" lvl="1" indent="-228600" algn="l" defTabSz="889000" rtl="0">
            <a:lnSpc>
              <a:spcPct val="90000"/>
            </a:lnSpc>
            <a:spcBef>
              <a:spcPct val="0"/>
            </a:spcBef>
            <a:spcAft>
              <a:spcPct val="15000"/>
            </a:spcAft>
            <a:buChar char="•"/>
          </a:pPr>
          <a:r>
            <a:rPr lang="en-US" sz="2000" kern="1200" dirty="0"/>
            <a:t>example -- a service process that exists to provide a service or resource to other processes</a:t>
          </a:r>
        </a:p>
      </dsp:txBody>
      <dsp:txXfrm>
        <a:off x="0" y="337949"/>
        <a:ext cx="8077200" cy="2709000"/>
      </dsp:txXfrm>
    </dsp:sp>
    <dsp:sp modelId="{7C0D2C5B-322D-9045-B418-FF8D3F881A30}">
      <dsp:nvSpPr>
        <dsp:cNvPr id="0" name=""/>
        <dsp:cNvSpPr/>
      </dsp:nvSpPr>
      <dsp:spPr>
        <a:xfrm>
          <a:off x="403860" y="42749"/>
          <a:ext cx="5654040" cy="590400"/>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rtl="0">
            <a:lnSpc>
              <a:spcPct val="90000"/>
            </a:lnSpc>
            <a:spcBef>
              <a:spcPct val="0"/>
            </a:spcBef>
            <a:spcAft>
              <a:spcPct val="35000"/>
            </a:spcAft>
            <a:buNone/>
          </a:pPr>
          <a:r>
            <a:rPr lang="en-US" sz="2400" kern="1200" dirty="0" err="1"/>
            <a:t>Nonblocking</a:t>
          </a:r>
          <a:r>
            <a:rPr lang="en-US" sz="2400" kern="1200" dirty="0"/>
            <a:t> send, blocking receive</a:t>
          </a:r>
        </a:p>
      </dsp:txBody>
      <dsp:txXfrm>
        <a:off x="432681" y="71570"/>
        <a:ext cx="5596398" cy="532758"/>
      </dsp:txXfrm>
    </dsp:sp>
    <dsp:sp modelId="{A84F03E2-F9EA-C94D-AD93-13923F0055A8}">
      <dsp:nvSpPr>
        <dsp:cNvPr id="0" name=""/>
        <dsp:cNvSpPr/>
      </dsp:nvSpPr>
      <dsp:spPr>
        <a:xfrm>
          <a:off x="0" y="3450150"/>
          <a:ext cx="8077200" cy="850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16560" rIns="626880" bIns="14224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t>neither party is required to wait</a:t>
          </a:r>
        </a:p>
      </dsp:txBody>
      <dsp:txXfrm>
        <a:off x="0" y="3450150"/>
        <a:ext cx="8077200" cy="850500"/>
      </dsp:txXfrm>
    </dsp:sp>
    <dsp:sp modelId="{FB5D3142-9F1C-A94D-A8A6-48AF5D364BD5}">
      <dsp:nvSpPr>
        <dsp:cNvPr id="0" name=""/>
        <dsp:cNvSpPr/>
      </dsp:nvSpPr>
      <dsp:spPr>
        <a:xfrm>
          <a:off x="403860" y="3154950"/>
          <a:ext cx="6187442" cy="590400"/>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rtl="0">
            <a:lnSpc>
              <a:spcPct val="90000"/>
            </a:lnSpc>
            <a:spcBef>
              <a:spcPct val="0"/>
            </a:spcBef>
            <a:spcAft>
              <a:spcPct val="35000"/>
            </a:spcAft>
            <a:buNone/>
          </a:pPr>
          <a:r>
            <a:rPr lang="en-US" sz="2400" kern="1200" dirty="0" err="1"/>
            <a:t>Nonblocking</a:t>
          </a:r>
          <a:r>
            <a:rPr lang="en-US" sz="2400" kern="1200" dirty="0"/>
            <a:t> send, </a:t>
          </a:r>
          <a:r>
            <a:rPr lang="en-US" sz="2400" kern="1200" dirty="0" err="1"/>
            <a:t>nonblocking</a:t>
          </a:r>
          <a:r>
            <a:rPr lang="en-US" sz="2400" kern="1200" dirty="0"/>
            <a:t> receive</a:t>
          </a:r>
        </a:p>
      </dsp:txBody>
      <dsp:txXfrm>
        <a:off x="432681" y="3183771"/>
        <a:ext cx="6129800" cy="5327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5FB369-8671-004A-BE5D-38525B638D11}">
      <dsp:nvSpPr>
        <dsp:cNvPr id="0" name=""/>
        <dsp:cNvSpPr/>
      </dsp:nvSpPr>
      <dsp:spPr>
        <a:xfrm>
          <a:off x="974154" y="744"/>
          <a:ext cx="2918519" cy="1751111"/>
        </a:xfrm>
        <a:prstGeom prst="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a:t>Direct addressing</a:t>
          </a:r>
        </a:p>
      </dsp:txBody>
      <dsp:txXfrm>
        <a:off x="974154" y="744"/>
        <a:ext cx="2918519" cy="1751111"/>
      </dsp:txXfrm>
    </dsp:sp>
    <dsp:sp modelId="{AE4CBB04-19C2-F24F-B25B-9E2E283ED7DC}">
      <dsp:nvSpPr>
        <dsp:cNvPr id="0" name=""/>
        <dsp:cNvSpPr/>
      </dsp:nvSpPr>
      <dsp:spPr>
        <a:xfrm>
          <a:off x="4184525" y="744"/>
          <a:ext cx="2918519" cy="1751111"/>
        </a:xfrm>
        <a:prstGeom prst="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a:t>Indirect addressing</a:t>
          </a:r>
        </a:p>
      </dsp:txBody>
      <dsp:txXfrm>
        <a:off x="4184525" y="744"/>
        <a:ext cx="2918519" cy="175111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35B85-3272-3842-B975-0D28FA12B9EA}">
      <dsp:nvSpPr>
        <dsp:cNvPr id="0" name=""/>
        <dsp:cNvSpPr/>
      </dsp:nvSpPr>
      <dsp:spPr>
        <a:xfrm>
          <a:off x="209483" y="2291"/>
          <a:ext cx="2899743" cy="1484181"/>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Messages are sent to a shared data structure consisting of queues that can temporarily hold messages</a:t>
          </a:r>
        </a:p>
      </dsp:txBody>
      <dsp:txXfrm>
        <a:off x="252953" y="45761"/>
        <a:ext cx="2812803" cy="1397241"/>
      </dsp:txXfrm>
    </dsp:sp>
    <dsp:sp modelId="{FD726207-BDF7-F648-8A1D-4792344EE082}">
      <dsp:nvSpPr>
        <dsp:cNvPr id="0" name=""/>
        <dsp:cNvSpPr/>
      </dsp:nvSpPr>
      <dsp:spPr>
        <a:xfrm>
          <a:off x="3326907" y="437651"/>
          <a:ext cx="524410" cy="613461"/>
        </a:xfrm>
        <a:prstGeom prst="rightArrow">
          <a:avLst>
            <a:gd name="adj1" fmla="val 60000"/>
            <a:gd name="adj2" fmla="val 50000"/>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326907" y="560343"/>
        <a:ext cx="367087" cy="368077"/>
      </dsp:txXfrm>
    </dsp:sp>
    <dsp:sp modelId="{42A3B1B7-2198-FC48-81A1-C2AC20C0214A}">
      <dsp:nvSpPr>
        <dsp:cNvPr id="0" name=""/>
        <dsp:cNvSpPr/>
      </dsp:nvSpPr>
      <dsp:spPr>
        <a:xfrm>
          <a:off x="4098681" y="2291"/>
          <a:ext cx="2473635" cy="1484181"/>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Queues are referred to as </a:t>
          </a:r>
          <a:r>
            <a:rPr lang="en-US" sz="2300" i="1" kern="1200" dirty="0"/>
            <a:t>mailboxes</a:t>
          </a:r>
        </a:p>
      </dsp:txBody>
      <dsp:txXfrm>
        <a:off x="4142151" y="45761"/>
        <a:ext cx="2386695" cy="1397241"/>
      </dsp:txXfrm>
    </dsp:sp>
    <dsp:sp modelId="{7DC9C592-1D86-434A-96C8-545A7F4FECE4}">
      <dsp:nvSpPr>
        <dsp:cNvPr id="0" name=""/>
        <dsp:cNvSpPr/>
      </dsp:nvSpPr>
      <dsp:spPr>
        <a:xfrm rot="5400000">
          <a:off x="5002776" y="1659627"/>
          <a:ext cx="525272" cy="613461"/>
        </a:xfrm>
        <a:prstGeom prst="rightArrow">
          <a:avLst>
            <a:gd name="adj1" fmla="val 60000"/>
            <a:gd name="adj2" fmla="val 50000"/>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081374" y="1703721"/>
        <a:ext cx="368077" cy="367690"/>
      </dsp:txXfrm>
    </dsp:sp>
    <dsp:sp modelId="{E66579B5-8437-6E47-9E7B-772C542E5672}">
      <dsp:nvSpPr>
        <dsp:cNvPr id="0" name=""/>
        <dsp:cNvSpPr/>
      </dsp:nvSpPr>
      <dsp:spPr>
        <a:xfrm>
          <a:off x="3814930" y="2475927"/>
          <a:ext cx="2757385" cy="1484181"/>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One process sends a message to the mailbox and the other process picks up the message from the mailbox</a:t>
          </a:r>
        </a:p>
      </dsp:txBody>
      <dsp:txXfrm>
        <a:off x="3858400" y="2519397"/>
        <a:ext cx="2670445" cy="1397241"/>
      </dsp:txXfrm>
    </dsp:sp>
    <dsp:sp modelId="{8C5B34E6-1EBB-5344-9E86-EF1BC7524739}">
      <dsp:nvSpPr>
        <dsp:cNvPr id="0" name=""/>
        <dsp:cNvSpPr/>
      </dsp:nvSpPr>
      <dsp:spPr>
        <a:xfrm rot="10800000">
          <a:off x="3072840" y="2911286"/>
          <a:ext cx="524410" cy="613461"/>
        </a:xfrm>
        <a:prstGeom prst="rightArrow">
          <a:avLst>
            <a:gd name="adj1" fmla="val 60000"/>
            <a:gd name="adj2" fmla="val 50000"/>
          </a:avLst>
        </a:prstGeom>
        <a:gradFill rotWithShape="0">
          <a:gsLst>
            <a:gs pos="0">
              <a:schemeClr val="accent1">
                <a:tint val="60000"/>
                <a:hueOff val="0"/>
                <a:satOff val="0"/>
                <a:lumOff val="0"/>
                <a:alphaOff val="0"/>
                <a:shade val="85000"/>
                <a:satMod val="130000"/>
              </a:schemeClr>
            </a:gs>
            <a:gs pos="34000">
              <a:schemeClr val="accent1">
                <a:tint val="60000"/>
                <a:hueOff val="0"/>
                <a:satOff val="0"/>
                <a:lumOff val="0"/>
                <a:alphaOff val="0"/>
                <a:shade val="87000"/>
                <a:satMod val="125000"/>
              </a:schemeClr>
            </a:gs>
            <a:gs pos="70000">
              <a:schemeClr val="accent1">
                <a:tint val="60000"/>
                <a:hueOff val="0"/>
                <a:satOff val="0"/>
                <a:lumOff val="0"/>
                <a:alphaOff val="0"/>
                <a:tint val="100000"/>
                <a:shade val="90000"/>
                <a:satMod val="130000"/>
              </a:schemeClr>
            </a:gs>
            <a:gs pos="100000">
              <a:schemeClr val="accent1">
                <a:tint val="6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3230163" y="3033978"/>
        <a:ext cx="367087" cy="368077"/>
      </dsp:txXfrm>
    </dsp:sp>
    <dsp:sp modelId="{B17C5E11-C218-7B41-92DA-A351214BBDBE}">
      <dsp:nvSpPr>
        <dsp:cNvPr id="0" name=""/>
        <dsp:cNvSpPr/>
      </dsp:nvSpPr>
      <dsp:spPr>
        <a:xfrm>
          <a:off x="351841" y="2475927"/>
          <a:ext cx="2473635" cy="1484181"/>
        </a:xfrm>
        <a:prstGeom prst="roundRect">
          <a:avLst>
            <a:gd name="adj" fmla="val 1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Allows for greater flexibility in the use of messages</a:t>
          </a:r>
        </a:p>
      </dsp:txBody>
      <dsp:txXfrm>
        <a:off x="395311" y="2519397"/>
        <a:ext cx="2386695" cy="13972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1">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867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EE68FAFB-57B6-45A7-998E-FCB823A4D2A8}" type="datetimeFigureOut">
              <a:rPr lang="en-US"/>
              <a:pPr>
                <a:defRPr/>
              </a:pPr>
              <a:t>10/28/2025</a:t>
            </a:fld>
            <a:endParaRPr lang="en-US"/>
          </a:p>
        </p:txBody>
      </p:sp>
      <p:sp>
        <p:nvSpPr>
          <p:cNvPr id="2867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867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020173A-BA50-4523-B6A2-A37BFE36B802}" type="slidenum">
              <a:rPr lang="en-US"/>
              <a:pPr>
                <a:defRPr/>
              </a:pPr>
              <a:t>‹#›</a:t>
            </a:fld>
            <a:endParaRPr lang="en-US"/>
          </a:p>
        </p:txBody>
      </p:sp>
    </p:spTree>
    <p:extLst>
      <p:ext uri="{BB962C8B-B14F-4D97-AF65-F5344CB8AC3E}">
        <p14:creationId xmlns:p14="http://schemas.microsoft.com/office/powerpoint/2010/main" val="1459470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C863BA3E-C03B-4DC6-B626-7D74496E6881}" type="datetimeFigureOut">
              <a:rPr lang="en-US"/>
              <a:pPr>
                <a:defRPr/>
              </a:pPr>
              <a:t>10/28/2025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561B788-C893-427D-983E-A97D3EDB92C5}" type="slidenum">
              <a:rPr lang="en-US"/>
              <a:pPr>
                <a:defRPr/>
              </a:pPr>
              <a:t>‹#›</a:t>
            </a:fld>
            <a:endParaRPr lang="en-US" dirty="0"/>
          </a:p>
        </p:txBody>
      </p:sp>
    </p:spTree>
    <p:extLst>
      <p:ext uri="{BB962C8B-B14F-4D97-AF65-F5344CB8AC3E}">
        <p14:creationId xmlns:p14="http://schemas.microsoft.com/office/powerpoint/2010/main" val="10308037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p:cNvSpPr>
          <p:nvPr>
            <p:ph type="sldImg"/>
          </p:nvPr>
        </p:nvSpPr>
        <p:spPr bwMode="auto">
          <a:noFill/>
          <a:ln>
            <a:solidFill>
              <a:srgbClr val="000000"/>
            </a:solidFill>
            <a:miter lim="800000"/>
            <a:headEnd/>
            <a:tailEnd/>
          </a:ln>
        </p:spPr>
      </p:sp>
      <p:sp>
        <p:nvSpPr>
          <p:cNvPr id="3379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AU" dirty="0">
              <a:latin typeface="Times New Roman" pitchFamily="18" charset="0"/>
              <a:ea typeface="ＭＳ Ｐゴシック" pitchFamily="34" charset="-128"/>
            </a:endParaRPr>
          </a:p>
        </p:txBody>
      </p:sp>
      <p:sp>
        <p:nvSpPr>
          <p:cNvPr id="4" name="Slide Number Placeholder 3"/>
          <p:cNvSpPr>
            <a:spLocks noGrp="1"/>
          </p:cNvSpPr>
          <p:nvPr>
            <p:ph type="sldNum" sz="quarter" idx="5"/>
          </p:nvPr>
        </p:nvSpPr>
        <p:spPr/>
        <p:txBody>
          <a:bodyPr/>
          <a:lstStyle/>
          <a:p>
            <a:pPr>
              <a:defRPr/>
            </a:pPr>
            <a:fld id="{47E576FB-1200-4209-AE96-15A4D506FDAC}"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p:cNvSpPr>
          <p:nvPr>
            <p:ph type="sldImg"/>
          </p:nvPr>
        </p:nvSpPr>
        <p:spPr bwMode="auto">
          <a:noFill/>
          <a:ln>
            <a:solidFill>
              <a:srgbClr val="000000"/>
            </a:solidFill>
            <a:miter lim="800000"/>
            <a:headEnd/>
            <a:tailEnd/>
          </a:ln>
        </p:spPr>
      </p:sp>
      <p:sp>
        <p:nvSpPr>
          <p:cNvPr id="37890"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6404B081-553F-4603-A2CF-C551FBC9207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Key terms related to concurrency.</a:t>
            </a:r>
          </a:p>
        </p:txBody>
      </p:sp>
      <p:sp>
        <p:nvSpPr>
          <p:cNvPr id="4" name="Slide Number Placeholder 3"/>
          <p:cNvSpPr>
            <a:spLocks noGrp="1"/>
          </p:cNvSpPr>
          <p:nvPr>
            <p:ph type="sldNum" sz="quarter" idx="5"/>
          </p:nvPr>
        </p:nvSpPr>
        <p:spPr/>
        <p:txBody>
          <a:bodyPr/>
          <a:lstStyle/>
          <a:p>
            <a:pPr>
              <a:defRPr/>
            </a:pPr>
            <a:fld id="{13D62068-3F03-490A-B36D-1DACADA71EFC}" type="slidenum">
              <a:rPr lang="en-US" smtClean="0"/>
              <a:pPr>
                <a:defRPr/>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p:cNvSpPr>
          <p:nvPr>
            <p:ph type="sldImg"/>
          </p:nvPr>
        </p:nvSpPr>
        <p:spPr bwMode="auto">
          <a:noFill/>
          <a:ln>
            <a:solidFill>
              <a:srgbClr val="000000"/>
            </a:solidFill>
            <a:miter lim="800000"/>
            <a:headEnd/>
            <a:tailEnd/>
          </a:ln>
        </p:spPr>
      </p:sp>
      <p:sp>
        <p:nvSpPr>
          <p:cNvPr id="4710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728B69A1-0C2C-4D63-A633-1CB3E37E9F79}" type="slidenum">
              <a:rPr lang="en-US" smtClean="0"/>
              <a:pPr>
                <a:defRPr/>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6612C332-EA4C-4E06-9A40-8450624F28E7}" type="slidenum">
              <a:rPr lang="en-US" smtClean="0"/>
              <a:pPr>
                <a:defRPr/>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p:cNvSpPr>
          <p:nvPr>
            <p:ph type="sldImg"/>
          </p:nvPr>
        </p:nvSpPr>
        <p:spPr bwMode="auto">
          <a:noFill/>
          <a:ln>
            <a:solidFill>
              <a:srgbClr val="000000"/>
            </a:solidFill>
            <a:miter lim="800000"/>
            <a:headEnd/>
            <a:tailEnd/>
          </a:ln>
        </p:spPr>
      </p:sp>
      <p:sp>
        <p:nvSpPr>
          <p:cNvPr id="51202" name="Notes Placeholder 2"/>
          <p:cNvSpPr>
            <a:spLocks noGrp="1"/>
          </p:cNvSpPr>
          <p:nvPr>
            <p:ph type="body" idx="1"/>
          </p:nvPr>
        </p:nvSpPr>
        <p:spPr bwMode="auto">
          <a:noFill/>
        </p:spPr>
        <p:txBody>
          <a:bodyPr wrap="square" numCol="1" anchor="t" anchorCtr="0" compatLnSpc="1">
            <a:prstTxWarp prst="textNoShape">
              <a:avLst/>
            </a:prstTxWarp>
            <a:normAutofit/>
          </a:bodyPr>
          <a:lstStyle/>
          <a:p>
            <a:endParaRPr lang="en-US" dirty="0"/>
          </a:p>
        </p:txBody>
      </p:sp>
      <p:sp>
        <p:nvSpPr>
          <p:cNvPr id="4" name="Slide Number Placeholder 3"/>
          <p:cNvSpPr>
            <a:spLocks noGrp="1"/>
          </p:cNvSpPr>
          <p:nvPr>
            <p:ph type="sldNum" sz="quarter" idx="5"/>
          </p:nvPr>
        </p:nvSpPr>
        <p:spPr/>
        <p:txBody>
          <a:bodyPr/>
          <a:lstStyle/>
          <a:p>
            <a:pPr>
              <a:defRPr/>
            </a:pPr>
            <a:fld id="{D74BAB9F-F5C2-4FDC-A63E-2DE1BD39DD79}" type="slidenum">
              <a:rPr lang="en-US" smtClean="0"/>
              <a:pPr>
                <a:defRPr/>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Slide Image Placeholder 1"/>
          <p:cNvSpPr>
            <a:spLocks noGrp="1" noRot="1" noChangeAspect="1"/>
          </p:cNvSpPr>
          <p:nvPr>
            <p:ph type="sldImg"/>
          </p:nvPr>
        </p:nvSpPr>
        <p:spPr bwMode="auto">
          <a:noFill/>
          <a:ln>
            <a:solidFill>
              <a:srgbClr val="000000"/>
            </a:solidFill>
            <a:miter lim="800000"/>
            <a:headEnd/>
            <a:tailEnd/>
          </a:ln>
        </p:spPr>
      </p:sp>
      <p:sp>
        <p:nvSpPr>
          <p:cNvPr id="289794" name="Notes Placeholder 2"/>
          <p:cNvSpPr>
            <a:spLocks noGrp="1"/>
          </p:cNvSpPr>
          <p:nvPr>
            <p:ph type="body" idx="1"/>
          </p:nvPr>
        </p:nvSpPr>
        <p:spPr bwMode="auto">
          <a:noFill/>
        </p:spPr>
        <p:txBody>
          <a:bodyPr wrap="square" numCol="1" anchor="t" anchorCtr="0" compatLnSpc="1">
            <a:prstTxWarp prst="textNoShape">
              <a:avLst/>
            </a:prstTxWarp>
            <a:normAutofit/>
          </a:bodyPr>
          <a:lstStyle/>
          <a:p>
            <a:endParaRPr lang="en-US" dirty="0"/>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A85F86DC-D364-450C-A376-217B1B2AC21A}" type="slidenum">
              <a:rPr lang="en-US" sz="1200">
                <a:latin typeface="+mn-lt"/>
                <a:cs typeface="+mn-cs"/>
              </a:rPr>
              <a:pPr algn="r" fontAlgn="auto">
                <a:spcBef>
                  <a:spcPts val="0"/>
                </a:spcBef>
                <a:spcAft>
                  <a:spcPts val="0"/>
                </a:spcAft>
                <a:defRPr/>
              </a:pPr>
              <a:t>8</a:t>
            </a:fld>
            <a:endParaRPr lang="en-US" sz="1200" dirty="0">
              <a:latin typeface="+mn-lt"/>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Slide Image Placeholder 1"/>
          <p:cNvSpPr>
            <a:spLocks noGrp="1" noRot="1" noChangeAspect="1"/>
          </p:cNvSpPr>
          <p:nvPr>
            <p:ph type="sldImg"/>
          </p:nvPr>
        </p:nvSpPr>
        <p:spPr bwMode="auto">
          <a:noFill/>
          <a:ln>
            <a:solidFill>
              <a:srgbClr val="000000"/>
            </a:solidFill>
            <a:miter lim="800000"/>
            <a:headEnd/>
            <a:tailEnd/>
          </a:ln>
        </p:spPr>
      </p:sp>
      <p:sp>
        <p:nvSpPr>
          <p:cNvPr id="291842" name="Notes Placeholder 2"/>
          <p:cNvSpPr>
            <a:spLocks noGrp="1"/>
          </p:cNvSpPr>
          <p:nvPr>
            <p:ph type="body" idx="1"/>
          </p:nvPr>
        </p:nvSpPr>
        <p:spPr bwMode="auto">
          <a:noFill/>
        </p:spPr>
        <p:txBody>
          <a:bodyPr wrap="square" numCol="1" anchor="t" anchorCtr="0" compatLnSpc="1">
            <a:prstTxWarp prst="textNoShape">
              <a:avLst/>
            </a:prstTxWarp>
            <a:normAutofit/>
          </a:bodyPr>
          <a:lstStyle/>
          <a:p>
            <a:endParaRPr lang="en-US" dirty="0"/>
          </a:p>
        </p:txBody>
      </p:sp>
      <p:sp>
        <p:nvSpPr>
          <p:cNvPr id="4" name="Slide Number Placeholder 3"/>
          <p:cNvSpPr>
            <a:spLocks noGrp="1"/>
          </p:cNvSpPr>
          <p:nvPr>
            <p:ph type="sldNum" sz="quarter" idx="5"/>
          </p:nvPr>
        </p:nvSpPr>
        <p:spPr/>
        <p:txBody>
          <a:bodyPr/>
          <a:lstStyle/>
          <a:p>
            <a:pPr>
              <a:defRPr/>
            </a:pPr>
            <a:fld id="{6DAE9EDF-9D7F-4C7A-9D13-A03F87EA4DCC}" type="slidenum">
              <a:rPr lang="en-US" smtClean="0"/>
              <a:pPr>
                <a:defRPr/>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5" name="Slide Image Placeholder 1"/>
          <p:cNvSpPr>
            <a:spLocks noGrp="1" noRot="1" noChangeAspect="1"/>
          </p:cNvSpPr>
          <p:nvPr>
            <p:ph type="sldImg"/>
          </p:nvPr>
        </p:nvSpPr>
        <p:spPr bwMode="auto">
          <a:noFill/>
          <a:ln>
            <a:solidFill>
              <a:srgbClr val="000000"/>
            </a:solidFill>
            <a:miter lim="800000"/>
            <a:headEnd/>
            <a:tailEnd/>
          </a:ln>
        </p:spPr>
      </p:sp>
      <p:sp>
        <p:nvSpPr>
          <p:cNvPr id="30310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69955CE5-2360-437A-A7F9-0FF0F00F00DF}" type="slidenum">
              <a:rPr lang="en-US" smtClean="0"/>
              <a:pPr>
                <a:defRPr/>
              </a:pPr>
              <a:t>18</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3" name="Slide Image Placeholder 1"/>
          <p:cNvSpPr>
            <a:spLocks noGrp="1" noRot="1" noChangeAspect="1"/>
          </p:cNvSpPr>
          <p:nvPr>
            <p:ph type="sldImg"/>
          </p:nvPr>
        </p:nvSpPr>
        <p:spPr bwMode="auto">
          <a:noFill/>
          <a:ln>
            <a:solidFill>
              <a:srgbClr val="000000"/>
            </a:solidFill>
            <a:miter lim="800000"/>
            <a:headEnd/>
            <a:tailEnd/>
          </a:ln>
        </p:spPr>
      </p:sp>
      <p:sp>
        <p:nvSpPr>
          <p:cNvPr id="305154" name="Notes Placeholder 2"/>
          <p:cNvSpPr>
            <a:spLocks noGrp="1"/>
          </p:cNvSpPr>
          <p:nvPr>
            <p:ph type="body" idx="1"/>
          </p:nvPr>
        </p:nvSpPr>
        <p:spPr bwMode="auto">
          <a:noFill/>
        </p:spPr>
        <p:txBody>
          <a:bodyPr wrap="square" numCol="1" anchor="t" anchorCtr="0" compatLnSpc="1">
            <a:prstTxWarp prst="textNoShape">
              <a:avLst/>
            </a:prstTxWarp>
            <a:normAutofit/>
          </a:bodyPr>
          <a:lstStyle/>
          <a:p>
            <a:endParaRPr lang="en-US" dirty="0"/>
          </a:p>
        </p:txBody>
      </p:sp>
      <p:sp>
        <p:nvSpPr>
          <p:cNvPr id="4" name="Slide Number Placeholder 3"/>
          <p:cNvSpPr>
            <a:spLocks noGrp="1"/>
          </p:cNvSpPr>
          <p:nvPr>
            <p:ph type="sldNum" sz="quarter" idx="5"/>
          </p:nvPr>
        </p:nvSpPr>
        <p:spPr/>
        <p:txBody>
          <a:bodyPr/>
          <a:lstStyle/>
          <a:p>
            <a:pPr>
              <a:defRPr/>
            </a:pPr>
            <a:fld id="{4B147964-BA99-41E1-9009-191897A93610}" type="slidenum">
              <a:rPr lang="en-US" smtClean="0"/>
              <a:pPr>
                <a:defRPr/>
              </a:pPr>
              <a:t>19</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71C621-1986-4EAB-8A40-A26D8220EC66}" type="slidenum">
              <a:rPr lang="en-US" altLang="en-US"/>
              <a:pPr/>
              <a:t>40</a:t>
            </a:fld>
            <a:endParaRPr lang="en-US" altLang="en-US"/>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a:xfrm>
            <a:off x="730250" y="4554538"/>
            <a:ext cx="5842000" cy="4314825"/>
          </a:xfrm>
        </p:spPr>
        <p:txBody>
          <a:bodyPr/>
          <a:lstStyle/>
          <a:p>
            <a:endParaRPr lang="en-US" altLang="en-US"/>
          </a:p>
        </p:txBody>
      </p:sp>
    </p:spTree>
    <p:extLst>
      <p:ext uri="{BB962C8B-B14F-4D97-AF65-F5344CB8AC3E}">
        <p14:creationId xmlns:p14="http://schemas.microsoft.com/office/powerpoint/2010/main" val="1492853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A86A68-0402-44FA-AB7B-4E303458C853}" type="slidenum">
              <a:rPr lang="en-US" altLang="en-US"/>
              <a:pPr/>
              <a:t>41</a:t>
            </a:fld>
            <a:endParaRPr lang="en-US" altLang="en-US"/>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a:xfrm>
            <a:off x="730250" y="4554538"/>
            <a:ext cx="5842000" cy="4314825"/>
          </a:xfrm>
        </p:spPr>
        <p:txBody>
          <a:bodyPr/>
          <a:lstStyle/>
          <a:p>
            <a:endParaRPr lang="en-US" altLang="en-US"/>
          </a:p>
        </p:txBody>
      </p:sp>
    </p:spTree>
    <p:extLst>
      <p:ext uri="{BB962C8B-B14F-4D97-AF65-F5344CB8AC3E}">
        <p14:creationId xmlns:p14="http://schemas.microsoft.com/office/powerpoint/2010/main" val="1543637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Slide Image Placeholder 1"/>
          <p:cNvSpPr>
            <a:spLocks noGrp="1" noRot="1" noChangeAspect="1"/>
          </p:cNvSpPr>
          <p:nvPr>
            <p:ph type="sldImg"/>
          </p:nvPr>
        </p:nvSpPr>
        <p:spPr bwMode="auto">
          <a:noFill/>
          <a:ln>
            <a:solidFill>
              <a:srgbClr val="000000"/>
            </a:solidFill>
            <a:miter lim="800000"/>
            <a:headEnd/>
            <a:tailEnd/>
          </a:ln>
        </p:spPr>
      </p:sp>
      <p:sp>
        <p:nvSpPr>
          <p:cNvPr id="30822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NZ" dirty="0"/>
          </a:p>
        </p:txBody>
      </p:sp>
      <p:sp>
        <p:nvSpPr>
          <p:cNvPr id="4" name="Slide Number Placeholder 3"/>
          <p:cNvSpPr>
            <a:spLocks noGrp="1"/>
          </p:cNvSpPr>
          <p:nvPr>
            <p:ph type="sldNum" sz="quarter" idx="5"/>
          </p:nvPr>
        </p:nvSpPr>
        <p:spPr/>
        <p:txBody>
          <a:bodyPr/>
          <a:lstStyle/>
          <a:p>
            <a:pPr>
              <a:defRPr/>
            </a:pPr>
            <a:fld id="{E0B5BDA3-8A9F-4B65-9CBE-42E30B49BAC8}" type="slidenum">
              <a:rPr lang="en-US" smtClean="0"/>
              <a:pPr>
                <a:defRPr/>
              </a:pPr>
              <a:t>42</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Slide Image Placeholder 1"/>
          <p:cNvSpPr>
            <a:spLocks noGrp="1" noRot="1" noChangeAspect="1"/>
          </p:cNvSpPr>
          <p:nvPr>
            <p:ph type="sldImg"/>
          </p:nvPr>
        </p:nvSpPr>
        <p:spPr bwMode="auto">
          <a:noFill/>
          <a:ln>
            <a:solidFill>
              <a:srgbClr val="000000"/>
            </a:solidFill>
            <a:miter lim="800000"/>
            <a:headEnd/>
            <a:tailEnd/>
          </a:ln>
        </p:spPr>
      </p:sp>
      <p:sp>
        <p:nvSpPr>
          <p:cNvPr id="30822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NZ" dirty="0"/>
          </a:p>
        </p:txBody>
      </p:sp>
      <p:sp>
        <p:nvSpPr>
          <p:cNvPr id="4" name="Slide Number Placeholder 3"/>
          <p:cNvSpPr>
            <a:spLocks noGrp="1"/>
          </p:cNvSpPr>
          <p:nvPr>
            <p:ph type="sldNum" sz="quarter" idx="5"/>
          </p:nvPr>
        </p:nvSpPr>
        <p:spPr/>
        <p:txBody>
          <a:bodyPr/>
          <a:lstStyle/>
          <a:p>
            <a:pPr>
              <a:defRPr/>
            </a:pPr>
            <a:fld id="{E0B5BDA3-8A9F-4B65-9CBE-42E30B49BAC8}" type="slidenum">
              <a:rPr lang="en-US" smtClean="0"/>
              <a:pPr>
                <a:defRPr/>
              </a:pPr>
              <a:t>43</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3" name="Slide Image Placeholder 1"/>
          <p:cNvSpPr>
            <a:spLocks noGrp="1" noRot="1" noChangeAspect="1"/>
          </p:cNvSpPr>
          <p:nvPr>
            <p:ph type="sldImg"/>
          </p:nvPr>
        </p:nvSpPr>
        <p:spPr bwMode="auto">
          <a:noFill/>
          <a:ln>
            <a:solidFill>
              <a:srgbClr val="000000"/>
            </a:solidFill>
            <a:miter lim="800000"/>
            <a:headEnd/>
            <a:tailEnd/>
          </a:ln>
        </p:spPr>
      </p:sp>
      <p:sp>
        <p:nvSpPr>
          <p:cNvPr id="31027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BE453654-6F93-4D9C-A814-5EDD79442D36}" type="slidenum">
              <a:rPr lang="en-US" smtClean="0"/>
              <a:pPr>
                <a:defRPr/>
              </a:pPr>
              <a:t>44</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Slide Image Placeholder 1"/>
          <p:cNvSpPr>
            <a:spLocks noGrp="1" noRot="1" noChangeAspect="1"/>
          </p:cNvSpPr>
          <p:nvPr>
            <p:ph type="sldImg"/>
          </p:nvPr>
        </p:nvSpPr>
        <p:spPr bwMode="auto">
          <a:noFill/>
          <a:ln>
            <a:solidFill>
              <a:srgbClr val="000000"/>
            </a:solidFill>
            <a:miter lim="800000"/>
            <a:headEnd/>
            <a:tailEnd/>
          </a:ln>
        </p:spPr>
      </p:sp>
      <p:sp>
        <p:nvSpPr>
          <p:cNvPr id="31232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Figure  shows a mutual exclusion protocol based on the use of an exchange instruction. A shared variable </a:t>
            </a:r>
            <a:r>
              <a:rPr lang="en-US" i="1" dirty="0"/>
              <a:t>bolt is initialized to 0. Each process uses a local variable key that is initialized to 1. The only process that may enter its critical section </a:t>
            </a:r>
            <a:r>
              <a:rPr lang="en-US" dirty="0"/>
              <a:t>is one that finds </a:t>
            </a:r>
            <a:r>
              <a:rPr lang="en-US" i="1" dirty="0"/>
              <a:t>bolt equal to 0. It excludes all other processes from the critical section </a:t>
            </a:r>
            <a:r>
              <a:rPr lang="en-US" dirty="0"/>
              <a:t>by setting </a:t>
            </a:r>
            <a:r>
              <a:rPr lang="en-US" i="1" dirty="0"/>
              <a:t>bolt to 1. When a process leaves its critical section, it resets bolt to 0, </a:t>
            </a:r>
            <a:r>
              <a:rPr lang="en-US" dirty="0"/>
              <a:t>allowing another process to gain access to its critical section.</a:t>
            </a:r>
            <a:endParaRPr lang="en-NZ" dirty="0"/>
          </a:p>
        </p:txBody>
      </p:sp>
      <p:sp>
        <p:nvSpPr>
          <p:cNvPr id="4" name="Slide Number Placeholder 3"/>
          <p:cNvSpPr>
            <a:spLocks noGrp="1"/>
          </p:cNvSpPr>
          <p:nvPr>
            <p:ph type="sldNum" sz="quarter" idx="5"/>
          </p:nvPr>
        </p:nvSpPr>
        <p:spPr/>
        <p:txBody>
          <a:bodyPr/>
          <a:lstStyle/>
          <a:p>
            <a:pPr>
              <a:defRPr/>
            </a:pPr>
            <a:fld id="{3BA02DD2-3D18-490B-B2D9-6F3479D80131}" type="slidenum">
              <a:rPr lang="en-US" smtClean="0"/>
              <a:pPr>
                <a:defRPr/>
              </a:pPr>
              <a:t>45</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Slide Image Placeholder 1"/>
          <p:cNvSpPr>
            <a:spLocks noGrp="1" noRot="1" noChangeAspect="1"/>
          </p:cNvSpPr>
          <p:nvPr>
            <p:ph type="sldImg"/>
          </p:nvPr>
        </p:nvSpPr>
        <p:spPr bwMode="auto">
          <a:noFill/>
          <a:ln>
            <a:solidFill>
              <a:srgbClr val="000000"/>
            </a:solidFill>
            <a:miter lim="800000"/>
            <a:headEnd/>
            <a:tailEnd/>
          </a:ln>
        </p:spPr>
      </p:sp>
      <p:sp>
        <p:nvSpPr>
          <p:cNvPr id="31437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The use of a special machine instruction to enforce mutual exclusion has a number of advantages:</a:t>
            </a:r>
          </a:p>
          <a:p>
            <a:r>
              <a:rPr lang="en-US"/>
              <a:t>• It is applicable to any number of processes on either a single processor or multiple processors sharing main memory.</a:t>
            </a:r>
          </a:p>
          <a:p>
            <a:r>
              <a:rPr lang="en-US"/>
              <a:t>• It is simple and therefore easy to verify.</a:t>
            </a:r>
          </a:p>
          <a:p>
            <a:r>
              <a:rPr lang="en-US"/>
              <a:t>• It can be used to support multiple critical sections; each critical section can be defined by its own variable.</a:t>
            </a:r>
          </a:p>
        </p:txBody>
      </p:sp>
      <p:sp>
        <p:nvSpPr>
          <p:cNvPr id="4" name="Slide Number Placeholder 3"/>
          <p:cNvSpPr>
            <a:spLocks noGrp="1"/>
          </p:cNvSpPr>
          <p:nvPr>
            <p:ph type="sldNum" sz="quarter" idx="5"/>
          </p:nvPr>
        </p:nvSpPr>
        <p:spPr/>
        <p:txBody>
          <a:bodyPr/>
          <a:lstStyle/>
          <a:p>
            <a:pPr>
              <a:defRPr/>
            </a:pPr>
            <a:fld id="{E0486A8B-2224-4156-9F8B-79493CD603EF}" type="slidenum">
              <a:rPr lang="en-US" smtClean="0"/>
              <a:pPr>
                <a:defRPr/>
              </a:pPr>
              <a:t>46</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Slide Image Placeholder 1"/>
          <p:cNvSpPr>
            <a:spLocks noGrp="1" noRot="1" noChangeAspect="1"/>
          </p:cNvSpPr>
          <p:nvPr>
            <p:ph type="sldImg"/>
          </p:nvPr>
        </p:nvSpPr>
        <p:spPr bwMode="auto">
          <a:noFill/>
          <a:ln>
            <a:solidFill>
              <a:srgbClr val="000000"/>
            </a:solidFill>
            <a:miter lim="800000"/>
            <a:headEnd/>
            <a:tailEnd/>
          </a:ln>
        </p:spPr>
      </p:sp>
      <p:sp>
        <p:nvSpPr>
          <p:cNvPr id="31641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There are some serious disadvantages:</a:t>
            </a:r>
          </a:p>
          <a:p>
            <a:endParaRPr lang="en-US" dirty="0"/>
          </a:p>
          <a:p>
            <a:r>
              <a:rPr lang="en-US" dirty="0"/>
              <a:t>• </a:t>
            </a:r>
            <a:r>
              <a:rPr lang="en-US" b="1" dirty="0"/>
              <a:t>Busy waiting is employed: </a:t>
            </a:r>
            <a:r>
              <a:rPr lang="en-US" dirty="0"/>
              <a:t>Thus, while a process is waiting for access to a critical section, it continues to consume processor time.</a:t>
            </a:r>
          </a:p>
          <a:p>
            <a:pPr>
              <a:buFontTx/>
              <a:buChar char="•"/>
            </a:pPr>
            <a:r>
              <a:rPr lang="en-US" b="1" dirty="0"/>
              <a:t>Starvation is possible: </a:t>
            </a:r>
            <a:r>
              <a:rPr lang="en-US" dirty="0"/>
              <a:t>When a process leaves a critical section and more than one process is waiting, the selection of a waiting process is arbitrary. Thus, some process could indefinitely be denied access.</a:t>
            </a:r>
          </a:p>
          <a:p>
            <a:r>
              <a:rPr lang="en-US" dirty="0"/>
              <a:t>• </a:t>
            </a:r>
            <a:r>
              <a:rPr lang="en-US" b="1" dirty="0"/>
              <a:t>Deadlock is possible: </a:t>
            </a:r>
            <a:r>
              <a:rPr lang="en-US" dirty="0"/>
              <a:t>Consider the following scenario on a single-processor system. Process P1 executes the special instruction (e.g., compare &amp; swap, exchange ) and enters its critical section. P1 is then interrupted to give the processor to P2, which has higher priority. If P2 now attempts to use the same resource as P1, it will be denied access because of the mutual exclusion mechanism. Thus, it will go into a busy waiting loop. However, P1 will never be dispatched</a:t>
            </a:r>
          </a:p>
          <a:p>
            <a:r>
              <a:rPr lang="en-US" dirty="0"/>
              <a:t>because it is of lower priority than another ready process, P2. </a:t>
            </a:r>
          </a:p>
          <a:p>
            <a:endParaRPr lang="en-US" dirty="0"/>
          </a:p>
          <a:p>
            <a:r>
              <a:rPr lang="en-US" dirty="0"/>
              <a:t>Because of the drawbacks of both the software and hardware solutions just outlined, we need to look for other mechanisms.</a:t>
            </a:r>
          </a:p>
        </p:txBody>
      </p:sp>
      <p:sp>
        <p:nvSpPr>
          <p:cNvPr id="4" name="Slide Number Placeholder 3"/>
          <p:cNvSpPr>
            <a:spLocks noGrp="1"/>
          </p:cNvSpPr>
          <p:nvPr>
            <p:ph type="sldNum" sz="quarter" idx="5"/>
          </p:nvPr>
        </p:nvSpPr>
        <p:spPr/>
        <p:txBody>
          <a:bodyPr/>
          <a:lstStyle/>
          <a:p>
            <a:pPr>
              <a:defRPr/>
            </a:pPr>
            <a:fld id="{65A3CD52-90CB-467C-9347-9BFD6E896FCE}" type="slidenum">
              <a:rPr lang="en-US" smtClean="0"/>
              <a:pPr>
                <a:defRPr/>
              </a:pPr>
              <a:t>47</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Slide Image Placeholder 1"/>
          <p:cNvSpPr>
            <a:spLocks noGrp="1" noRot="1" noChangeAspect="1"/>
          </p:cNvSpPr>
          <p:nvPr>
            <p:ph type="sldImg"/>
          </p:nvPr>
        </p:nvSpPr>
        <p:spPr bwMode="auto">
          <a:noFill/>
          <a:ln>
            <a:solidFill>
              <a:srgbClr val="000000"/>
            </a:solidFill>
            <a:miter lim="800000"/>
            <a:headEnd/>
            <a:tailEnd/>
          </a:ln>
        </p:spPr>
      </p:sp>
      <p:sp>
        <p:nvSpPr>
          <p:cNvPr id="31846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We now turn to OS and programming language mechanisms that are used to provide concurrency. Table 5.3 summarizes mechanisms in common use. We begin, in this section, with semaphores. The next two sections discuss monitors and message passing. The other mechanisms in Table 5.3 are discussed when treating specific operating system examples, in Chapters 6 and 13 .</a:t>
            </a:r>
          </a:p>
        </p:txBody>
      </p:sp>
      <p:sp>
        <p:nvSpPr>
          <p:cNvPr id="4" name="Slide Number Placeholder 3"/>
          <p:cNvSpPr>
            <a:spLocks noGrp="1"/>
          </p:cNvSpPr>
          <p:nvPr>
            <p:ph type="sldNum" sz="quarter" idx="5"/>
          </p:nvPr>
        </p:nvSpPr>
        <p:spPr/>
        <p:txBody>
          <a:bodyPr/>
          <a:lstStyle/>
          <a:p>
            <a:pPr>
              <a:defRPr/>
            </a:pPr>
            <a:fld id="{3C386D84-C4CA-4F63-8089-90795DCA4058}" type="slidenum">
              <a:rPr lang="en-US" smtClean="0"/>
              <a:pPr>
                <a:defRPr/>
              </a:pPr>
              <a:t>48</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3" name="Slide Image Placeholder 1"/>
          <p:cNvSpPr>
            <a:spLocks noGrp="1" noRot="1" noChangeAspect="1"/>
          </p:cNvSpPr>
          <p:nvPr>
            <p:ph type="sldImg"/>
          </p:nvPr>
        </p:nvSpPr>
        <p:spPr bwMode="auto">
          <a:noFill/>
          <a:ln>
            <a:solidFill>
              <a:srgbClr val="000000"/>
            </a:solidFill>
            <a:miter lim="800000"/>
            <a:headEnd/>
            <a:tailEnd/>
          </a:ln>
        </p:spPr>
      </p:sp>
      <p:sp>
        <p:nvSpPr>
          <p:cNvPr id="320514" name="Notes Placeholder 2"/>
          <p:cNvSpPr>
            <a:spLocks noGrp="1"/>
          </p:cNvSpPr>
          <p:nvPr>
            <p:ph type="body" idx="1"/>
          </p:nvPr>
        </p:nvSpPr>
        <p:spPr bwMode="auto">
          <a:noFill/>
        </p:spPr>
        <p:txBody>
          <a:bodyPr wrap="square" numCol="1" anchor="t" anchorCtr="0" compatLnSpc="1">
            <a:prstTxWarp prst="textNoShape">
              <a:avLst/>
            </a:prstTxWarp>
            <a:normAutofit fontScale="85000" lnSpcReduction="10000"/>
          </a:bodyPr>
          <a:lstStyle/>
          <a:p>
            <a:r>
              <a:rPr lang="en-US"/>
              <a:t>The fundamental principle is this: Two or more processes can cooperate by means of simple signals, such that a process can be forced to stop at a specified place until it has received a specific signal. Any complex coordination requirement can be satisfied by the appropriate structure of signals. For signaling, special variables called semaphores are used. To transmit a signal via semaphore s , a process executes the primitive semSignal(s) . To receive a signal via semaphore s , a process executes the primitive semWait(s) ; if the corresponding signal has not yet been transmitted, the process is suspended until the transmission takes place.  </a:t>
            </a:r>
          </a:p>
          <a:p>
            <a:endParaRPr lang="en-US"/>
          </a:p>
          <a:p>
            <a:r>
              <a:rPr lang="en-US"/>
              <a:t>To achieve the desired effect, we can view the semaphore as a variable that has an integer value upon which only three operations are defined:</a:t>
            </a:r>
          </a:p>
          <a:p>
            <a:r>
              <a:rPr lang="en-US" b="1"/>
              <a:t>1. A semaphore may be initialized to a nonnegative integer value.</a:t>
            </a:r>
          </a:p>
          <a:p>
            <a:r>
              <a:rPr lang="en-US" b="1"/>
              <a:t>2. The semWait operation decrements the semaphore value. </a:t>
            </a:r>
            <a:r>
              <a:rPr lang="en-US"/>
              <a:t>If the value becomes negative, then the process executing the semWait is blocked.</a:t>
            </a:r>
          </a:p>
          <a:p>
            <a:r>
              <a:rPr lang="en-US"/>
              <a:t>Otherwise, the process continues execution.</a:t>
            </a:r>
          </a:p>
          <a:p>
            <a:r>
              <a:rPr lang="en-US" b="1"/>
              <a:t>3. The semSignal operation increments the semaphore value</a:t>
            </a:r>
            <a:r>
              <a:rPr lang="en-US"/>
              <a:t>. If the resulting value is less than or equal to zero, then a process blocked by a semWait operation,</a:t>
            </a:r>
          </a:p>
          <a:p>
            <a:r>
              <a:rPr lang="en-US"/>
              <a:t>if any, is unblocked. Other than these three operations, there is no way to inspect or manipulate semaphores.</a:t>
            </a:r>
          </a:p>
          <a:p>
            <a:endParaRPr lang="en-US"/>
          </a:p>
          <a:p>
            <a:r>
              <a:rPr lang="en-US"/>
              <a:t>We explain these operations as follows. To begin, the semaphore has a zero or positive value. If the value is positive, that value equals the number of processes that can issue a wait and immediately continue to execute. If the value is zero, either by initialization or because a number of processes equal to the initial semaphore value have issued a wait, the next process to issue a wait is blocked, and the semaphore value goes negative. Each subsequent wait drives the semaphore value further into minus territory. The negative value equals the number of processes waiting to be unblocked. Each signal unblocks one of the waiting processes when the semaphore value is negative.</a:t>
            </a:r>
            <a:endParaRPr lang="en-NZ"/>
          </a:p>
        </p:txBody>
      </p:sp>
      <p:sp>
        <p:nvSpPr>
          <p:cNvPr id="4" name="Slide Number Placeholder 3"/>
          <p:cNvSpPr>
            <a:spLocks noGrp="1"/>
          </p:cNvSpPr>
          <p:nvPr>
            <p:ph type="sldNum" sz="quarter" idx="5"/>
          </p:nvPr>
        </p:nvSpPr>
        <p:spPr/>
        <p:txBody>
          <a:bodyPr/>
          <a:lstStyle/>
          <a:p>
            <a:pPr>
              <a:defRPr/>
            </a:pPr>
            <a:fld id="{7EBDAECB-3040-49A8-9B40-AB72968524FA}" type="slidenum">
              <a:rPr lang="en-US" smtClean="0"/>
              <a:pPr>
                <a:defRPr/>
              </a:pPr>
              <a:t>49</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1" name="Slide Image Placeholder 1"/>
          <p:cNvSpPr>
            <a:spLocks noGrp="1" noRot="1" noChangeAspect="1"/>
          </p:cNvSpPr>
          <p:nvPr>
            <p:ph type="sldImg"/>
          </p:nvPr>
        </p:nvSpPr>
        <p:spPr bwMode="auto">
          <a:noFill/>
          <a:ln>
            <a:solidFill>
              <a:srgbClr val="000000"/>
            </a:solidFill>
            <a:miter lim="800000"/>
            <a:headEnd/>
            <a:tailEnd/>
          </a:ln>
        </p:spPr>
      </p:sp>
      <p:sp>
        <p:nvSpPr>
          <p:cNvPr id="32256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[DOWN08] points out three interesting consequences of the semaphore definition:</a:t>
            </a:r>
          </a:p>
          <a:p>
            <a:r>
              <a:rPr lang="en-US" dirty="0"/>
              <a:t>• In general, there is no way to know before a process decrements a semaphore whether it will block or not.</a:t>
            </a:r>
          </a:p>
          <a:p>
            <a:pPr>
              <a:buFontTx/>
              <a:buChar char="•"/>
            </a:pPr>
            <a:r>
              <a:rPr lang="en-US" dirty="0"/>
              <a:t>After a process increments a semaphore and another process gets woken up, both processes continue running concurrently. There is no way to know which process, if either, will continue immediately on a uniprocessor system.</a:t>
            </a:r>
          </a:p>
          <a:p>
            <a:r>
              <a:rPr lang="en-US" dirty="0"/>
              <a:t>• When you signal a semaphore, you don’t necessarily know whether another process is waiting, so the number of unblocked processes may be zero or one. </a:t>
            </a:r>
          </a:p>
        </p:txBody>
      </p:sp>
      <p:sp>
        <p:nvSpPr>
          <p:cNvPr id="4" name="Slide Number Placeholder 3"/>
          <p:cNvSpPr>
            <a:spLocks noGrp="1"/>
          </p:cNvSpPr>
          <p:nvPr>
            <p:ph type="sldNum" sz="quarter" idx="5"/>
          </p:nvPr>
        </p:nvSpPr>
        <p:spPr/>
        <p:txBody>
          <a:bodyPr/>
          <a:lstStyle/>
          <a:p>
            <a:pPr>
              <a:defRPr/>
            </a:pPr>
            <a:fld id="{6D90E52B-5201-4252-8B53-ABF6E1B526AC}" type="slidenum">
              <a:rPr lang="en-US" smtClean="0"/>
              <a:pPr>
                <a:defRPr/>
              </a:pPr>
              <a:t>50</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09" name="Slide Image Placeholder 1"/>
          <p:cNvSpPr>
            <a:spLocks noGrp="1" noRot="1" noChangeAspect="1"/>
          </p:cNvSpPr>
          <p:nvPr>
            <p:ph type="sldImg"/>
          </p:nvPr>
        </p:nvSpPr>
        <p:spPr bwMode="auto">
          <a:noFill/>
          <a:ln>
            <a:solidFill>
              <a:srgbClr val="000000"/>
            </a:solidFill>
            <a:miter lim="800000"/>
            <a:headEnd/>
            <a:tailEnd/>
          </a:ln>
        </p:spPr>
      </p:sp>
      <p:sp>
        <p:nvSpPr>
          <p:cNvPr id="32461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Figure 5.3 suggests a more formal definition of the primitives for semaphores. The semWait and semSignal primitives are assumed to be atomic.</a:t>
            </a:r>
          </a:p>
          <a:p>
            <a:endParaRPr lang="en-US"/>
          </a:p>
          <a:p>
            <a:endParaRPr lang="en-US"/>
          </a:p>
        </p:txBody>
      </p:sp>
      <p:sp>
        <p:nvSpPr>
          <p:cNvPr id="4" name="Slide Number Placeholder 3"/>
          <p:cNvSpPr>
            <a:spLocks noGrp="1"/>
          </p:cNvSpPr>
          <p:nvPr>
            <p:ph type="sldNum" sz="quarter" idx="5"/>
          </p:nvPr>
        </p:nvSpPr>
        <p:spPr/>
        <p:txBody>
          <a:bodyPr/>
          <a:lstStyle/>
          <a:p>
            <a:pPr>
              <a:defRPr/>
            </a:pPr>
            <a:fld id="{23AD9045-D725-4431-8E68-23002BB4FF47}" type="slidenum">
              <a:rPr lang="en-US" smtClean="0"/>
              <a:pPr>
                <a:defRPr/>
              </a:pPr>
              <a:t>51</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7" name="Slide Image Placeholder 1"/>
          <p:cNvSpPr>
            <a:spLocks noGrp="1" noRot="1" noChangeAspect="1"/>
          </p:cNvSpPr>
          <p:nvPr>
            <p:ph type="sldImg"/>
          </p:nvPr>
        </p:nvSpPr>
        <p:spPr bwMode="auto">
          <a:noFill/>
          <a:ln>
            <a:solidFill>
              <a:srgbClr val="000000"/>
            </a:solidFill>
            <a:miter lim="800000"/>
            <a:headEnd/>
            <a:tailEnd/>
          </a:ln>
        </p:spPr>
      </p:sp>
      <p:sp>
        <p:nvSpPr>
          <p:cNvPr id="326658" name="Notes Placeholder 2"/>
          <p:cNvSpPr>
            <a:spLocks noGrp="1"/>
          </p:cNvSpPr>
          <p:nvPr>
            <p:ph type="body" idx="1"/>
          </p:nvPr>
        </p:nvSpPr>
        <p:spPr bwMode="auto">
          <a:noFill/>
        </p:spPr>
        <p:txBody>
          <a:bodyPr wrap="square" numCol="1" anchor="t" anchorCtr="0" compatLnSpc="1">
            <a:prstTxWarp prst="textNoShape">
              <a:avLst/>
            </a:prstTxWarp>
            <a:normAutofit lnSpcReduction="10000"/>
          </a:bodyPr>
          <a:lstStyle/>
          <a:p>
            <a:r>
              <a:rPr lang="en-US"/>
              <a:t>A more restricted version, known as the </a:t>
            </a:r>
            <a:r>
              <a:rPr lang="en-US" b="1"/>
              <a:t>binary semaphore , </a:t>
            </a:r>
            <a:r>
              <a:rPr lang="en-US"/>
              <a:t>is defined in Figure 5.4 . A binary semaphore may only take on the values 0 and 1 and can be defined by the</a:t>
            </a:r>
          </a:p>
          <a:p>
            <a:r>
              <a:rPr lang="en-US"/>
              <a:t>following three operations:</a:t>
            </a:r>
          </a:p>
          <a:p>
            <a:r>
              <a:rPr lang="en-US"/>
              <a:t>1. A binary semaphore may be initialized to 0 or 1.</a:t>
            </a:r>
          </a:p>
          <a:p>
            <a:r>
              <a:rPr lang="en-US"/>
              <a:t>2. The semWaitB operation checks the semaphore value</a:t>
            </a:r>
            <a:r>
              <a:rPr lang="en-US" b="1"/>
              <a:t>. </a:t>
            </a:r>
            <a:r>
              <a:rPr lang="en-US"/>
              <a:t>If the value is zero, then the process executing the semWaitB is blocked. If the value is one, then the value is changed to zero and the process continues execution.</a:t>
            </a:r>
          </a:p>
          <a:p>
            <a:r>
              <a:rPr lang="en-US"/>
              <a:t>3. The semSignalB operation checks to see if any processes are blocked</a:t>
            </a:r>
            <a:r>
              <a:rPr lang="en-US" b="1"/>
              <a:t> </a:t>
            </a:r>
            <a:r>
              <a:rPr lang="en-US"/>
              <a:t>on this semaphore (semaphore value equals 0). If so, then a process blocked by a semWaitB operation is unblocked. If no processes are blocked, then the value of the semaphore is set to one.</a:t>
            </a:r>
          </a:p>
          <a:p>
            <a:endParaRPr lang="en-US"/>
          </a:p>
          <a:p>
            <a:r>
              <a:rPr lang="en-US"/>
              <a:t>In principle, it should be easier to implement the binary semaphore, and it can be shown that it has the same expressive power as the general semaphore (see Problem 5.17). To contrast the two types of semaphores, the nonbinary semaphore is often referred to as either a </a:t>
            </a:r>
            <a:r>
              <a:rPr lang="en-US" b="1"/>
              <a:t>counting semaphore </a:t>
            </a:r>
            <a:r>
              <a:rPr lang="en-US"/>
              <a:t>or a</a:t>
            </a:r>
            <a:r>
              <a:rPr lang="en-US" b="1"/>
              <a:t> general semaphore .</a:t>
            </a:r>
          </a:p>
          <a:p>
            <a:endParaRPr lang="en-US" b="1"/>
          </a:p>
          <a:p>
            <a:r>
              <a:rPr lang="en-US"/>
              <a:t>A concept related to the binary semaphore is the </a:t>
            </a:r>
            <a:r>
              <a:rPr lang="en-US" b="1"/>
              <a:t>mutex . </a:t>
            </a:r>
            <a:r>
              <a:rPr lang="en-US"/>
              <a:t>A key difference between the two is that the process that locks the mutex (sets the value to zero) must be the one to unlock it (sets the value to 1). In contrast, it is possible for one process to lock a binary semaphore and for another to unlock it.</a:t>
            </a:r>
          </a:p>
        </p:txBody>
      </p:sp>
      <p:sp>
        <p:nvSpPr>
          <p:cNvPr id="4" name="Slide Number Placeholder 3"/>
          <p:cNvSpPr>
            <a:spLocks noGrp="1"/>
          </p:cNvSpPr>
          <p:nvPr>
            <p:ph type="sldNum" sz="quarter" idx="5"/>
          </p:nvPr>
        </p:nvSpPr>
        <p:spPr/>
        <p:txBody>
          <a:bodyPr/>
          <a:lstStyle/>
          <a:p>
            <a:pPr>
              <a:defRPr/>
            </a:pPr>
            <a:fld id="{5C93C079-FF6E-4E22-953C-E4B017AA0AB5}" type="slidenum">
              <a:rPr lang="en-US" smtClean="0"/>
              <a:pPr>
                <a:defRPr/>
              </a:pPr>
              <a:t>52</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5" name="Slide Image Placeholder 1"/>
          <p:cNvSpPr>
            <a:spLocks noGrp="1" noRot="1" noChangeAspect="1"/>
          </p:cNvSpPr>
          <p:nvPr>
            <p:ph type="sldImg"/>
          </p:nvPr>
        </p:nvSpPr>
        <p:spPr bwMode="auto">
          <a:noFill/>
          <a:ln>
            <a:solidFill>
              <a:srgbClr val="000000"/>
            </a:solidFill>
            <a:miter lim="800000"/>
            <a:headEnd/>
            <a:tailEnd/>
          </a:ln>
        </p:spPr>
      </p:sp>
      <p:sp>
        <p:nvSpPr>
          <p:cNvPr id="32870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For both counting semaphores and binary semaphores, a queue is used to hold processes waiting on the semaphore. The question arises of the order in which processes are removed from such a queue. The fairest removal policy is first-in-first-out (FIFO): The process that has been blocked the longest is released from the queue first; a semaphore whose definition includes this policy is called a </a:t>
            </a:r>
            <a:r>
              <a:rPr lang="en-US" b="1"/>
              <a:t>strong semaphore . </a:t>
            </a:r>
            <a:r>
              <a:rPr lang="en-US"/>
              <a:t>A semaphore that does not specify the order in which processes are removed from the queue is a </a:t>
            </a:r>
            <a:r>
              <a:rPr lang="en-US" b="1"/>
              <a:t>weak semaphore .</a:t>
            </a:r>
            <a:endParaRPr lang="en-NZ"/>
          </a:p>
        </p:txBody>
      </p:sp>
      <p:sp>
        <p:nvSpPr>
          <p:cNvPr id="4" name="Slide Number Placeholder 3"/>
          <p:cNvSpPr>
            <a:spLocks noGrp="1"/>
          </p:cNvSpPr>
          <p:nvPr>
            <p:ph type="sldNum" sz="quarter" idx="5"/>
          </p:nvPr>
        </p:nvSpPr>
        <p:spPr/>
        <p:txBody>
          <a:bodyPr/>
          <a:lstStyle/>
          <a:p>
            <a:pPr>
              <a:defRPr/>
            </a:pPr>
            <a:fld id="{E4BC10AD-29BD-4C7D-A16A-3C9EA0C21984}" type="slidenum">
              <a:rPr lang="en-US" smtClean="0"/>
              <a:pPr>
                <a:defRPr/>
              </a:pPr>
              <a:t>53</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3" name="Slide Image Placeholder 1"/>
          <p:cNvSpPr>
            <a:spLocks noGrp="1" noRot="1" noChangeAspect="1"/>
          </p:cNvSpPr>
          <p:nvPr>
            <p:ph type="sldImg"/>
          </p:nvPr>
        </p:nvSpPr>
        <p:spPr bwMode="auto">
          <a:noFill/>
          <a:ln>
            <a:solidFill>
              <a:srgbClr val="000000"/>
            </a:solidFill>
            <a:miter lim="800000"/>
            <a:headEnd/>
            <a:tailEnd/>
          </a:ln>
        </p:spPr>
      </p:sp>
      <p:sp>
        <p:nvSpPr>
          <p:cNvPr id="33075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Figure 5.5 , based on one in [DENN84], is an example of the operation of a strong semaphore. </a:t>
            </a:r>
            <a:r>
              <a:rPr lang="en-US" dirty="0"/>
              <a:t>Here processes A, B, and C depend on a result from process D. Initially (1), A is running;</a:t>
            </a:r>
          </a:p>
          <a:p>
            <a:r>
              <a:rPr lang="en-US" dirty="0"/>
              <a:t>B, C, and D are ready; and the semaphore count is 1, indicating that one of D’s results is available. When A issues a </a:t>
            </a:r>
            <a:r>
              <a:rPr lang="en-US" dirty="0" err="1"/>
              <a:t>semWait</a:t>
            </a:r>
            <a:r>
              <a:rPr lang="en-US" dirty="0"/>
              <a:t> instruction on semaphore </a:t>
            </a:r>
            <a:r>
              <a:rPr lang="en-US" i="1" dirty="0"/>
              <a:t>s , </a:t>
            </a:r>
            <a:r>
              <a:rPr lang="en-US" dirty="0"/>
              <a:t>the semaphore decrements to 0, and A can continue to execute; subsequently it rejoins the ready queue. Then B runs (2), eventually issues a </a:t>
            </a:r>
            <a:r>
              <a:rPr lang="en-US" dirty="0" err="1"/>
              <a:t>semWait</a:t>
            </a:r>
            <a:r>
              <a:rPr lang="en-US" dirty="0"/>
              <a:t> instruction, and is blocked, allowing D to run (3). When D completes a new result, it issues a </a:t>
            </a:r>
            <a:r>
              <a:rPr lang="en-US" dirty="0" err="1"/>
              <a:t>semSignal</a:t>
            </a:r>
            <a:r>
              <a:rPr lang="en-US" dirty="0"/>
              <a:t> instruction, which allows B to move to the ready queue (4). D rejoins the ready queue and C begins to run (5) but is blocked when it issues a </a:t>
            </a:r>
            <a:r>
              <a:rPr lang="en-US" dirty="0" err="1"/>
              <a:t>semWait</a:t>
            </a:r>
            <a:r>
              <a:rPr lang="en-US" dirty="0"/>
              <a:t> instruction. Similarly, A and B run and are blocked on the semaphore, allowing D to resume execution (6). When D has a result, it issues a </a:t>
            </a:r>
            <a:r>
              <a:rPr lang="en-US" dirty="0" err="1"/>
              <a:t>semSignal</a:t>
            </a:r>
            <a:r>
              <a:rPr lang="en-US" dirty="0"/>
              <a:t> , which transfers C to the ready queue. Later cycles of D will release A and B from the Blocked state.</a:t>
            </a:r>
          </a:p>
        </p:txBody>
      </p:sp>
      <p:sp>
        <p:nvSpPr>
          <p:cNvPr id="4" name="Slide Number Placeholder 3"/>
          <p:cNvSpPr>
            <a:spLocks noGrp="1"/>
          </p:cNvSpPr>
          <p:nvPr>
            <p:ph type="sldNum" sz="quarter" idx="5"/>
          </p:nvPr>
        </p:nvSpPr>
        <p:spPr/>
        <p:txBody>
          <a:bodyPr/>
          <a:lstStyle/>
          <a:p>
            <a:pPr>
              <a:defRPr/>
            </a:pPr>
            <a:fld id="{70812164-E903-48B3-BE4E-B26075C0D2D3}" type="slidenum">
              <a:rPr lang="en-US" smtClean="0"/>
              <a:pPr>
                <a:defRPr/>
              </a:pPr>
              <a:t>54</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1" name="Slide Image Placeholder 1"/>
          <p:cNvSpPr>
            <a:spLocks noGrp="1" noRot="1" noChangeAspect="1"/>
          </p:cNvSpPr>
          <p:nvPr>
            <p:ph type="sldImg"/>
          </p:nvPr>
        </p:nvSpPr>
        <p:spPr bwMode="auto">
          <a:noFill/>
          <a:ln>
            <a:solidFill>
              <a:srgbClr val="000000"/>
            </a:solidFill>
            <a:miter lim="800000"/>
            <a:headEnd/>
            <a:tailEnd/>
          </a:ln>
        </p:spPr>
      </p:sp>
      <p:sp>
        <p:nvSpPr>
          <p:cNvPr id="332802" name="Notes Placeholder 2"/>
          <p:cNvSpPr>
            <a:spLocks noGrp="1"/>
          </p:cNvSpPr>
          <p:nvPr>
            <p:ph type="body" idx="1"/>
          </p:nvPr>
        </p:nvSpPr>
        <p:spPr bwMode="auto">
          <a:noFill/>
        </p:spPr>
        <p:txBody>
          <a:bodyPr wrap="square" numCol="1" anchor="t" anchorCtr="0" compatLnSpc="1">
            <a:prstTxWarp prst="textNoShape">
              <a:avLst/>
            </a:prstTxWarp>
            <a:normAutofit fontScale="92500"/>
          </a:bodyPr>
          <a:lstStyle/>
          <a:p>
            <a:r>
              <a:rPr lang="en-US"/>
              <a:t>For the mutual exclusion algorithm discussed in the next subsection and illustrated in Figure 5.6 , strong semaphores guarantee freedom from starvation, while weak semaphores do not. We will assume strong semaphores because they are more convenient and because this is the form of semaphore typically provided by operating systems.</a:t>
            </a:r>
          </a:p>
          <a:p>
            <a:endParaRPr lang="en-US"/>
          </a:p>
          <a:p>
            <a:r>
              <a:rPr lang="en-US"/>
              <a:t>Figure 5.6 shows a straightforward solution to the mutual exclusion problem using a semaphore </a:t>
            </a:r>
            <a:r>
              <a:rPr lang="en-US" i="1"/>
              <a:t>s (compare Figure 5.1 ). Consider n processes, identified in the array P ( i ), all of which need access to the same resource. Each process has a critical section </a:t>
            </a:r>
            <a:r>
              <a:rPr lang="en-US"/>
              <a:t>used to access the resource. In each process, a semWait(s) is executed just before its critical section. If the value of s becomes negative, the process is blocked. If the value is 1, then it is decremented to 0 and the process immediately enters its critical section; because s is no longer positive, no other process will be able to enter its critical section.</a:t>
            </a:r>
          </a:p>
          <a:p>
            <a:endParaRPr lang="en-US"/>
          </a:p>
          <a:p>
            <a:r>
              <a:rPr lang="en-US"/>
              <a:t>The semaphore is initialized to 1. Thus, the first process that executes a semWait will be able to enter the critical section immediately, setting the value of s to 0. Any other process attempting to enter the critical section will find it busy and will be blocked, setting the value of s to –1. Any number of processes may attempt entry; each such unsuccessful attempt results in a further decrement of the value of s . When the process that initially entered its critical section departs, s is incremented and one of the blocked processes (if any) is removed from the queue of blocked processes associated with the semaphore and put in a Ready state. When it is next scheduled by the OS, it may enter the critical section.</a:t>
            </a:r>
          </a:p>
        </p:txBody>
      </p:sp>
      <p:sp>
        <p:nvSpPr>
          <p:cNvPr id="4" name="Slide Number Placeholder 3"/>
          <p:cNvSpPr>
            <a:spLocks noGrp="1"/>
          </p:cNvSpPr>
          <p:nvPr>
            <p:ph type="sldNum" sz="quarter" idx="5"/>
          </p:nvPr>
        </p:nvSpPr>
        <p:spPr/>
        <p:txBody>
          <a:bodyPr/>
          <a:lstStyle/>
          <a:p>
            <a:pPr>
              <a:defRPr/>
            </a:pPr>
            <a:fld id="{1B4E2E04-1F31-49BC-A6E4-4B798201A705}" type="slidenum">
              <a:rPr lang="en-US" smtClean="0"/>
              <a:pPr>
                <a:defRPr/>
              </a:pPr>
              <a:t>55</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Slide Image Placeholder 1"/>
          <p:cNvSpPr>
            <a:spLocks noGrp="1" noRot="1" noChangeAspect="1"/>
          </p:cNvSpPr>
          <p:nvPr>
            <p:ph type="sldImg"/>
          </p:nvPr>
        </p:nvSpPr>
        <p:spPr bwMode="auto">
          <a:noFill/>
          <a:ln>
            <a:solidFill>
              <a:srgbClr val="000000"/>
            </a:solidFill>
            <a:miter lim="800000"/>
            <a:headEnd/>
            <a:tailEnd/>
          </a:ln>
        </p:spPr>
      </p:sp>
      <p:sp>
        <p:nvSpPr>
          <p:cNvPr id="33485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Figure 5.7 , based on one in [BACO03], shows a possible sequence for three processes using the mutual exclusion discipline of Figure 5.6 . In this example three processes (A, B, C) access a shared resource protected by the semaphore </a:t>
            </a:r>
            <a:r>
              <a:rPr lang="en-US" i="1"/>
              <a:t>lock . </a:t>
            </a:r>
            <a:r>
              <a:rPr lang="en-US"/>
              <a:t>Process A executes semWait( </a:t>
            </a:r>
            <a:r>
              <a:rPr lang="en-US" i="1"/>
              <a:t>lock ) ; because the semaphore has a value of 1 at </a:t>
            </a:r>
            <a:r>
              <a:rPr lang="en-US"/>
              <a:t>the time of the semWait operation, A can immediately enter its critical section and the semaphore takes on the value 0. While A is in its critical section, both B and CFigure 5.7 , based on one in [BACO03], shows a possible sequence for three processes using the mutual exclusion discipline of Figure 5.6 . In this example three processes (A, B, C) access a shared resource protected by the semaphore </a:t>
            </a:r>
            <a:r>
              <a:rPr lang="en-US" i="1"/>
              <a:t>lock .</a:t>
            </a:r>
          </a:p>
          <a:p>
            <a:r>
              <a:rPr lang="en-US"/>
              <a:t>Process A executes semWait( </a:t>
            </a:r>
            <a:r>
              <a:rPr lang="en-US" i="1"/>
              <a:t>lock ) ; because the semaphore has a value of 1 at </a:t>
            </a:r>
            <a:r>
              <a:rPr lang="en-US"/>
              <a:t>the time of the semWait operation, A can immediately enter its critical section and the semaphore takes on the value 0. While A is in its critical section, both B and C perform a semWait operation and are blocked pending the availability of the semaphore. When A exits its critical section and performs semSignal( </a:t>
            </a:r>
            <a:r>
              <a:rPr lang="en-US" i="1"/>
              <a:t>lock ) , B, which </a:t>
            </a:r>
            <a:r>
              <a:rPr lang="en-US"/>
              <a:t>was the first process in the queue, can now enter its critical section.</a:t>
            </a:r>
            <a:endParaRPr lang="en-NZ"/>
          </a:p>
        </p:txBody>
      </p:sp>
      <p:sp>
        <p:nvSpPr>
          <p:cNvPr id="4" name="Slide Number Placeholder 3"/>
          <p:cNvSpPr>
            <a:spLocks noGrp="1"/>
          </p:cNvSpPr>
          <p:nvPr>
            <p:ph type="sldNum" sz="quarter" idx="5"/>
          </p:nvPr>
        </p:nvSpPr>
        <p:spPr/>
        <p:txBody>
          <a:bodyPr/>
          <a:lstStyle/>
          <a:p>
            <a:pPr>
              <a:defRPr/>
            </a:pPr>
            <a:fld id="{4503002E-B634-49A6-A534-19756010104A}" type="slidenum">
              <a:rPr lang="en-US" smtClean="0"/>
              <a:pPr>
                <a:defRPr/>
              </a:pPr>
              <a:t>56</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7" name="Slide Image Placeholder 1"/>
          <p:cNvSpPr>
            <a:spLocks noGrp="1" noRot="1" noChangeAspect="1"/>
          </p:cNvSpPr>
          <p:nvPr>
            <p:ph type="sldImg"/>
          </p:nvPr>
        </p:nvSpPr>
        <p:spPr bwMode="auto">
          <a:noFill/>
          <a:ln>
            <a:solidFill>
              <a:srgbClr val="000000"/>
            </a:solidFill>
            <a:miter lim="800000"/>
            <a:headEnd/>
            <a:tailEnd/>
          </a:ln>
        </p:spPr>
      </p:sp>
      <p:sp>
        <p:nvSpPr>
          <p:cNvPr id="33689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To begin, let us assume that the buffer is infinite and consists of a linear array of elements.</a:t>
            </a:r>
          </a:p>
          <a:p>
            <a:endParaRPr lang="en-US"/>
          </a:p>
          <a:p>
            <a:r>
              <a:rPr lang="en-US"/>
              <a:t>We now examine one of the most common problems faced in concurrent processing: the producer/consumer problem. The general statement is this: There are one or more producers generating some type of data (records, characters) and placing these in a buffer. There is a single consumer that is taking items out of the buffer one at a time. The system is to be constrained to prevent the overlap of buffer operations. That is, only one agent (producer or consumer) may access the buffer at any one time. The problem is to make sure that the producer won’t try to add data into the buffer if it’s full and that the consumer won’t try to remove data from an empty buffer. We will look at a number of solutions to this problem to illustrate both the power and the pitfalls of semaphores.</a:t>
            </a:r>
          </a:p>
        </p:txBody>
      </p:sp>
      <p:sp>
        <p:nvSpPr>
          <p:cNvPr id="4" name="Slide Number Placeholder 3"/>
          <p:cNvSpPr>
            <a:spLocks noGrp="1"/>
          </p:cNvSpPr>
          <p:nvPr>
            <p:ph type="sldNum" sz="quarter" idx="5"/>
          </p:nvPr>
        </p:nvSpPr>
        <p:spPr/>
        <p:txBody>
          <a:bodyPr/>
          <a:lstStyle/>
          <a:p>
            <a:pPr>
              <a:defRPr/>
            </a:pPr>
            <a:fld id="{F897825D-CE8C-414F-AFD3-122F67085143}" type="slidenum">
              <a:rPr lang="en-US" smtClean="0"/>
              <a:pPr>
                <a:defRPr/>
              </a:pPr>
              <a:t>57</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5" name="Slide Image Placeholder 1"/>
          <p:cNvSpPr>
            <a:spLocks noGrp="1" noRot="1" noChangeAspect="1"/>
          </p:cNvSpPr>
          <p:nvPr>
            <p:ph type="sldImg"/>
          </p:nvPr>
        </p:nvSpPr>
        <p:spPr bwMode="auto">
          <a:noFill/>
          <a:ln>
            <a:solidFill>
              <a:srgbClr val="000000"/>
            </a:solidFill>
            <a:miter lim="800000"/>
            <a:headEnd/>
            <a:tailEnd/>
          </a:ln>
        </p:spPr>
      </p:sp>
      <p:sp>
        <p:nvSpPr>
          <p:cNvPr id="33894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Figure 5.8 illustrates the structure of buffer b . The producer can generate items and store them in the buffer at its own pace. Each time, an index ( </a:t>
            </a:r>
            <a:r>
              <a:rPr lang="en-US" i="1"/>
              <a:t>in ) into the </a:t>
            </a:r>
            <a:r>
              <a:rPr lang="en-US"/>
              <a:t>buffer is incremented. The consumer proceeds in a similar fashion but must make sure that it does not attempt to read from an empty buffer. Hence, the consumer makes sure that the producer has advanced beyond it ( </a:t>
            </a:r>
            <a:r>
              <a:rPr lang="en-US" i="1"/>
              <a:t>in &gt; out ) before proceeding.</a:t>
            </a:r>
            <a:endParaRPr lang="en-NZ"/>
          </a:p>
          <a:p>
            <a:endParaRPr lang="en-NZ"/>
          </a:p>
          <a:p>
            <a:endParaRPr lang="en-US"/>
          </a:p>
        </p:txBody>
      </p:sp>
      <p:sp>
        <p:nvSpPr>
          <p:cNvPr id="4" name="Slide Number Placeholder 3"/>
          <p:cNvSpPr>
            <a:spLocks noGrp="1"/>
          </p:cNvSpPr>
          <p:nvPr>
            <p:ph type="sldNum" sz="quarter" idx="5"/>
          </p:nvPr>
        </p:nvSpPr>
        <p:spPr/>
        <p:txBody>
          <a:bodyPr/>
          <a:lstStyle/>
          <a:p>
            <a:pPr>
              <a:defRPr/>
            </a:pPr>
            <a:fld id="{2C738A5E-0F7F-4828-8F7B-1FDC4591BC2D}" type="slidenum">
              <a:rPr lang="en-US" smtClean="0"/>
              <a:pPr>
                <a:defRPr/>
              </a:pPr>
              <a:t>58</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3" name="Slide Image Placeholder 1"/>
          <p:cNvSpPr>
            <a:spLocks noGrp="1" noRot="1" noChangeAspect="1"/>
          </p:cNvSpPr>
          <p:nvPr>
            <p:ph type="sldImg"/>
          </p:nvPr>
        </p:nvSpPr>
        <p:spPr bwMode="auto">
          <a:noFill/>
          <a:ln>
            <a:solidFill>
              <a:srgbClr val="000000"/>
            </a:solidFill>
            <a:miter lim="800000"/>
            <a:headEnd/>
            <a:tailEnd/>
          </a:ln>
        </p:spPr>
      </p:sp>
      <p:sp>
        <p:nvSpPr>
          <p:cNvPr id="340994" name="Notes Placeholder 2"/>
          <p:cNvSpPr>
            <a:spLocks noGrp="1"/>
          </p:cNvSpPr>
          <p:nvPr>
            <p:ph type="body" idx="1"/>
          </p:nvPr>
        </p:nvSpPr>
        <p:spPr bwMode="auto">
          <a:noFill/>
        </p:spPr>
        <p:txBody>
          <a:bodyPr wrap="square" numCol="1" anchor="t" anchorCtr="0" compatLnSpc="1">
            <a:prstTxWarp prst="textNoShape">
              <a:avLst/>
            </a:prstTxWarp>
            <a:normAutofit lnSpcReduction="10000"/>
          </a:bodyPr>
          <a:lstStyle/>
          <a:p>
            <a:r>
              <a:rPr lang="en-US"/>
              <a:t>Let us try to implement this system using binary semaphores. Figure 5.9 is a first attempt. Rather than deal with the indices </a:t>
            </a:r>
            <a:r>
              <a:rPr lang="en-US" i="1"/>
              <a:t>in and out , we can simply keep track </a:t>
            </a:r>
            <a:r>
              <a:rPr lang="en-US"/>
              <a:t>of the number of items in the buffer, using the integer variable </a:t>
            </a:r>
            <a:r>
              <a:rPr lang="en-US" i="1"/>
              <a:t>n (= in – out ). The </a:t>
            </a:r>
            <a:r>
              <a:rPr lang="en-US"/>
              <a:t>semaphore s is used to enforce mutual exclusion; the semaphore delay is used to force the consumer to semWait if the buffer is empty.</a:t>
            </a:r>
          </a:p>
          <a:p>
            <a:endParaRPr lang="en-US"/>
          </a:p>
          <a:p>
            <a:r>
              <a:rPr lang="en-US"/>
              <a:t>This solution seems rather straightforward. The producer is free to add to the buffer at any time. It performs semWaitB(s) before appending and semSignalB(s) afterward to prevent the consumer or any other producer from accessing the buffer during the append operation. Also, while in the critical section, the producer increments the value of </a:t>
            </a:r>
            <a:r>
              <a:rPr lang="en-US" i="1"/>
              <a:t>n . If n = 1, then the buffer was empty just prior </a:t>
            </a:r>
            <a:r>
              <a:rPr lang="en-US"/>
              <a:t>to this append, so the producer performs semSignalB(delay) to alert the consumer of this fact. The consumer begins by waiting for the first item to be produced,</a:t>
            </a:r>
          </a:p>
          <a:p>
            <a:r>
              <a:rPr lang="en-US"/>
              <a:t>using semWaitB(delay) . It then takes an item and decrements </a:t>
            </a:r>
            <a:r>
              <a:rPr lang="en-US" i="1"/>
              <a:t>n in its critical </a:t>
            </a:r>
            <a:r>
              <a:rPr lang="en-US"/>
              <a:t>section. If the producer is able to stay ahead of the consumer (a common situation), then the consumer will rarely block on the semaphore delay because </a:t>
            </a:r>
            <a:r>
              <a:rPr lang="en-US" i="1"/>
              <a:t>n will usually </a:t>
            </a:r>
            <a:r>
              <a:rPr lang="en-US"/>
              <a:t>be positive. Hence both producer and consumer run smoothly. </a:t>
            </a:r>
          </a:p>
          <a:p>
            <a:endParaRPr lang="en-US"/>
          </a:p>
          <a:p>
            <a:r>
              <a:rPr lang="en-US"/>
              <a:t>There is, however, a flaw in this program. When the consumer has exhausted the buffer, it needs to reset the delay semaphore so that it will be forced to wait until the producer has placed more items in the buffer. This is the purpose of the statement: </a:t>
            </a:r>
            <a:r>
              <a:rPr lang="en-US" b="1"/>
              <a:t>if </a:t>
            </a:r>
            <a:r>
              <a:rPr lang="en-US" b="1" i="1"/>
              <a:t>n == 0 semWaitB(delay) .</a:t>
            </a:r>
            <a:endParaRPr lang="en-NZ"/>
          </a:p>
        </p:txBody>
      </p:sp>
      <p:sp>
        <p:nvSpPr>
          <p:cNvPr id="4" name="Slide Number Placeholder 3"/>
          <p:cNvSpPr>
            <a:spLocks noGrp="1"/>
          </p:cNvSpPr>
          <p:nvPr>
            <p:ph type="sldNum" sz="quarter" idx="5"/>
          </p:nvPr>
        </p:nvSpPr>
        <p:spPr/>
        <p:txBody>
          <a:bodyPr/>
          <a:lstStyle/>
          <a:p>
            <a:pPr>
              <a:defRPr/>
            </a:pPr>
            <a:fld id="{65C315B6-FAD9-4B85-89D3-071B53C698CD}" type="slidenum">
              <a:rPr lang="en-US" smtClean="0"/>
              <a:pPr>
                <a:defRPr/>
              </a:pPr>
              <a:t>59</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1" name="Slide Image Placeholder 1"/>
          <p:cNvSpPr>
            <a:spLocks noGrp="1" noRot="1" noChangeAspect="1"/>
          </p:cNvSpPr>
          <p:nvPr>
            <p:ph type="sldImg"/>
          </p:nvPr>
        </p:nvSpPr>
        <p:spPr bwMode="auto">
          <a:noFill/>
          <a:ln>
            <a:solidFill>
              <a:srgbClr val="000000"/>
            </a:solidFill>
            <a:miter lim="800000"/>
            <a:headEnd/>
            <a:tailEnd/>
          </a:ln>
        </p:spPr>
      </p:sp>
      <p:sp>
        <p:nvSpPr>
          <p:cNvPr id="34304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Consider the scenario outlined in Table 5.4 . In line 14, the consumer fails to execute the semWaitB operation. The consumer did indeed exhaust the buffer and set </a:t>
            </a:r>
            <a:r>
              <a:rPr lang="en-US" i="1"/>
              <a:t>n to 0 (line 8), but the producer has incremented n </a:t>
            </a:r>
            <a:r>
              <a:rPr lang="en-US"/>
              <a:t>before the consumer can test it in line 14. The result is a semSignalB not matched by a prior semWaitB . The value of –1 for </a:t>
            </a:r>
            <a:r>
              <a:rPr lang="en-US" i="1"/>
              <a:t>n in line 20 means that the consumer has </a:t>
            </a:r>
            <a:r>
              <a:rPr lang="en-US"/>
              <a:t>consumed an item from the buffer that does not exist. It would not do simply to move the conditional statement inside the critical section of the consumer because this</a:t>
            </a:r>
          </a:p>
          <a:p>
            <a:r>
              <a:rPr lang="en-US"/>
              <a:t>could lead to deadlock (e.g., after line 8 of Table 5.4 ).</a:t>
            </a:r>
            <a:endParaRPr lang="en-NZ"/>
          </a:p>
        </p:txBody>
      </p:sp>
      <p:sp>
        <p:nvSpPr>
          <p:cNvPr id="4" name="Slide Number Placeholder 3"/>
          <p:cNvSpPr>
            <a:spLocks noGrp="1"/>
          </p:cNvSpPr>
          <p:nvPr>
            <p:ph type="sldNum" sz="quarter" idx="5"/>
          </p:nvPr>
        </p:nvSpPr>
        <p:spPr/>
        <p:txBody>
          <a:bodyPr/>
          <a:lstStyle/>
          <a:p>
            <a:pPr>
              <a:defRPr/>
            </a:pPr>
            <a:fld id="{9ABCDA2D-E1A4-46BE-8A2E-6F2DCB1860F0}" type="slidenum">
              <a:rPr lang="en-US" smtClean="0"/>
              <a:pPr>
                <a:defRPr/>
              </a:pPr>
              <a:t>60</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89" name="Slide Image Placeholder 1"/>
          <p:cNvSpPr>
            <a:spLocks noGrp="1" noRot="1" noChangeAspect="1"/>
          </p:cNvSpPr>
          <p:nvPr>
            <p:ph type="sldImg"/>
          </p:nvPr>
        </p:nvSpPr>
        <p:spPr bwMode="auto">
          <a:noFill/>
          <a:ln>
            <a:solidFill>
              <a:srgbClr val="000000"/>
            </a:solidFill>
            <a:miter lim="800000"/>
            <a:headEnd/>
            <a:tailEnd/>
          </a:ln>
        </p:spPr>
      </p:sp>
      <p:sp>
        <p:nvSpPr>
          <p:cNvPr id="34509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A fix for the problem is to introduce an auxiliary variable that can be set in the consumer’s critical section for use later on. This is shown in Figure 5.10 . A careful trace of the logic should convince you that deadlock can no longer occur.</a:t>
            </a:r>
            <a:endParaRPr lang="en-NZ"/>
          </a:p>
        </p:txBody>
      </p:sp>
      <p:sp>
        <p:nvSpPr>
          <p:cNvPr id="4" name="Slide Number Placeholder 3"/>
          <p:cNvSpPr>
            <a:spLocks noGrp="1"/>
          </p:cNvSpPr>
          <p:nvPr>
            <p:ph type="sldNum" sz="quarter" idx="5"/>
          </p:nvPr>
        </p:nvSpPr>
        <p:spPr/>
        <p:txBody>
          <a:bodyPr/>
          <a:lstStyle/>
          <a:p>
            <a:pPr>
              <a:defRPr/>
            </a:pPr>
            <a:fld id="{3794CF69-97B0-4B91-8DA3-DF4B64199B8C}" type="slidenum">
              <a:rPr lang="en-US" smtClean="0"/>
              <a:pPr>
                <a:defRPr/>
              </a:pPr>
              <a:t>61</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7" name="Slide Image Placeholder 1"/>
          <p:cNvSpPr>
            <a:spLocks noGrp="1" noRot="1" noChangeAspect="1"/>
          </p:cNvSpPr>
          <p:nvPr>
            <p:ph type="sldImg"/>
          </p:nvPr>
        </p:nvSpPr>
        <p:spPr bwMode="auto">
          <a:noFill/>
          <a:ln>
            <a:solidFill>
              <a:srgbClr val="000000"/>
            </a:solidFill>
            <a:miter lim="800000"/>
            <a:headEnd/>
            <a:tailEnd/>
          </a:ln>
        </p:spPr>
      </p:sp>
      <p:sp>
        <p:nvSpPr>
          <p:cNvPr id="34713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A somewhat cleaner solution can be obtained if general semaphores (also called counting semaphores) are used, as shown in Figure 5.11 . The variable n is now a semaphore. Its value still is equal to the number of items in the buffer. Suppose now that in transcribing this program, a mistake is made and the operations semSignal(s) and semSignal(n) are interchanged. This would require that the semSignal(n) operation be performed in the producer’s critical section without interruption by the consumer or another producer. Would this affect the program? No, because the consumer must wait on both semaphores before proceeding in any case.</a:t>
            </a:r>
          </a:p>
        </p:txBody>
      </p:sp>
      <p:sp>
        <p:nvSpPr>
          <p:cNvPr id="4" name="Slide Number Placeholder 3"/>
          <p:cNvSpPr>
            <a:spLocks noGrp="1"/>
          </p:cNvSpPr>
          <p:nvPr>
            <p:ph type="sldNum" sz="quarter" idx="5"/>
          </p:nvPr>
        </p:nvSpPr>
        <p:spPr/>
        <p:txBody>
          <a:bodyPr/>
          <a:lstStyle/>
          <a:p>
            <a:pPr>
              <a:defRPr/>
            </a:pPr>
            <a:fld id="{4C789706-DD7C-40F5-B734-D93CB3057A26}" type="slidenum">
              <a:rPr lang="en-US" smtClean="0"/>
              <a:pPr>
                <a:defRPr/>
              </a:pPr>
              <a:t>62</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5" name="Slide Image Placeholder 1"/>
          <p:cNvSpPr>
            <a:spLocks noGrp="1" noRot="1" noChangeAspect="1"/>
          </p:cNvSpPr>
          <p:nvPr>
            <p:ph type="sldImg"/>
          </p:nvPr>
        </p:nvSpPr>
        <p:spPr bwMode="auto">
          <a:noFill/>
          <a:ln>
            <a:solidFill>
              <a:srgbClr val="000000"/>
            </a:solidFill>
            <a:miter lim="800000"/>
            <a:headEnd/>
            <a:tailEnd/>
          </a:ln>
        </p:spPr>
      </p:sp>
      <p:sp>
        <p:nvSpPr>
          <p:cNvPr id="34918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Finally, let us add a new and realistic restriction to the producer/consumer problem: namely, that the buffer is finite. The buffer is treated as a circular storage ( Figure 5.12 ), and pointer values must be expressed modulo the size of the buffer.</a:t>
            </a:r>
          </a:p>
          <a:p>
            <a:endParaRPr lang="en-US"/>
          </a:p>
        </p:txBody>
      </p:sp>
      <p:sp>
        <p:nvSpPr>
          <p:cNvPr id="4" name="Slide Number Placeholder 3"/>
          <p:cNvSpPr>
            <a:spLocks noGrp="1"/>
          </p:cNvSpPr>
          <p:nvPr>
            <p:ph type="sldNum" sz="quarter" idx="5"/>
          </p:nvPr>
        </p:nvSpPr>
        <p:spPr/>
        <p:txBody>
          <a:bodyPr/>
          <a:lstStyle/>
          <a:p>
            <a:pPr>
              <a:defRPr/>
            </a:pPr>
            <a:fld id="{A23FA055-C911-4D7A-ABB0-D05A907FE0E3}" type="slidenum">
              <a:rPr lang="en-US" smtClean="0"/>
              <a:pPr>
                <a:defRPr/>
              </a:pPr>
              <a:t>63</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3" name="Slide Image Placeholder 1"/>
          <p:cNvSpPr>
            <a:spLocks noGrp="1" noRot="1" noChangeAspect="1"/>
          </p:cNvSpPr>
          <p:nvPr>
            <p:ph type="sldImg"/>
          </p:nvPr>
        </p:nvSpPr>
        <p:spPr bwMode="auto">
          <a:noFill/>
          <a:ln>
            <a:solidFill>
              <a:srgbClr val="000000"/>
            </a:solidFill>
            <a:miter lim="800000"/>
            <a:headEnd/>
            <a:tailEnd/>
          </a:ln>
        </p:spPr>
      </p:sp>
      <p:sp>
        <p:nvSpPr>
          <p:cNvPr id="35123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Figure 5.13 shows a solution using general semaphores. The semaphore </a:t>
            </a:r>
            <a:r>
              <a:rPr lang="en-US" i="1"/>
              <a:t>e has </a:t>
            </a:r>
            <a:r>
              <a:rPr lang="en-US"/>
              <a:t>been added to keep track of the number of empty spaces.</a:t>
            </a:r>
          </a:p>
        </p:txBody>
      </p:sp>
      <p:sp>
        <p:nvSpPr>
          <p:cNvPr id="4" name="Slide Number Placeholder 3"/>
          <p:cNvSpPr>
            <a:spLocks noGrp="1"/>
          </p:cNvSpPr>
          <p:nvPr>
            <p:ph type="sldNum" sz="quarter" idx="5"/>
          </p:nvPr>
        </p:nvSpPr>
        <p:spPr/>
        <p:txBody>
          <a:bodyPr/>
          <a:lstStyle/>
          <a:p>
            <a:pPr>
              <a:defRPr/>
            </a:pPr>
            <a:fld id="{F070A0F4-60A8-4A86-A51A-09B5B4CE73F4}" type="slidenum">
              <a:rPr lang="en-US" smtClean="0"/>
              <a:pPr>
                <a:defRPr/>
              </a:pPr>
              <a:t>64</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1" name="Slide Image Placeholder 1"/>
          <p:cNvSpPr>
            <a:spLocks noGrp="1" noRot="1" noChangeAspect="1"/>
          </p:cNvSpPr>
          <p:nvPr>
            <p:ph type="sldImg"/>
          </p:nvPr>
        </p:nvSpPr>
        <p:spPr bwMode="auto">
          <a:noFill/>
          <a:ln>
            <a:solidFill>
              <a:srgbClr val="000000"/>
            </a:solidFill>
            <a:miter lim="800000"/>
            <a:headEnd/>
            <a:tailEnd/>
          </a:ln>
        </p:spPr>
      </p:sp>
      <p:sp>
        <p:nvSpPr>
          <p:cNvPr id="35328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As was mentioned earlier, it is imperative that the semWait and semSignal operations be implemented as atomic primitives. One obvious way is to implement them in hardware or firmware. Failing this, a variety of schemes have been suggested. The essence of the problem is one of mutual exclusion: Only one process at a time may manipulate a semaphore with either a semWait or semSignal operation. Thus, any of the software schemes, such as Dekker’s algorithm or Peterson’s algorithm ( Appendix A ), could be used; this would entail a substantial processing overhead.</a:t>
            </a:r>
          </a:p>
          <a:p>
            <a:endParaRPr lang="en-US"/>
          </a:p>
          <a:p>
            <a:r>
              <a:rPr lang="en-US"/>
              <a:t>Another alternative is to use one of the hardware-supported schemes for mutual exclusion.</a:t>
            </a:r>
          </a:p>
        </p:txBody>
      </p:sp>
      <p:sp>
        <p:nvSpPr>
          <p:cNvPr id="4" name="Slide Number Placeholder 3"/>
          <p:cNvSpPr>
            <a:spLocks noGrp="1"/>
          </p:cNvSpPr>
          <p:nvPr>
            <p:ph type="sldNum" sz="quarter" idx="5"/>
          </p:nvPr>
        </p:nvSpPr>
        <p:spPr/>
        <p:txBody>
          <a:bodyPr/>
          <a:lstStyle/>
          <a:p>
            <a:pPr>
              <a:defRPr/>
            </a:pPr>
            <a:fld id="{8EC740A9-2E26-4F3D-8797-E961F2ECD038}" type="slidenum">
              <a:rPr lang="en-US" smtClean="0"/>
              <a:pPr>
                <a:defRPr/>
              </a:pPr>
              <a:t>65</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3" name="Slide Image Placeholder 1"/>
          <p:cNvSpPr>
            <a:spLocks noGrp="1" noRot="1" noChangeAspect="1"/>
          </p:cNvSpPr>
          <p:nvPr>
            <p:ph type="sldImg"/>
          </p:nvPr>
        </p:nvSpPr>
        <p:spPr bwMode="auto">
          <a:noFill/>
          <a:ln>
            <a:solidFill>
              <a:srgbClr val="000000"/>
            </a:solidFill>
            <a:miter lim="800000"/>
            <a:headEnd/>
            <a:tailEnd/>
          </a:ln>
        </p:spPr>
      </p:sp>
      <p:sp>
        <p:nvSpPr>
          <p:cNvPr id="39219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The readers/writers problem is defined as follows: There is a data area shared among a number of processes. The data area could be a file, a block of main memory, or even a bank of processor registers. There are a number of processes that only read the data area (readers) and a number that only write to the data area (writers). The conditions that must be satisfied are as follows:</a:t>
            </a:r>
          </a:p>
          <a:p>
            <a:r>
              <a:rPr lang="en-US" b="1"/>
              <a:t>1. Any number of readers may simultaneously read the file.</a:t>
            </a:r>
          </a:p>
          <a:p>
            <a:r>
              <a:rPr lang="en-US" b="1"/>
              <a:t>2. Only one writer at a time may write to the file.</a:t>
            </a:r>
          </a:p>
          <a:p>
            <a:r>
              <a:rPr lang="en-US" b="1"/>
              <a:t>3. If a writer is writing to the file, no reader may read it.</a:t>
            </a:r>
          </a:p>
          <a:p>
            <a:endParaRPr lang="en-US"/>
          </a:p>
          <a:p>
            <a:r>
              <a:rPr lang="en-US"/>
              <a:t>Thus, readers are processes that are not required to exclude one another and writers are processes that are required to exclude all other processes, readers and writers alike.</a:t>
            </a:r>
            <a:endParaRPr lang="en-NZ" sz="2400"/>
          </a:p>
        </p:txBody>
      </p:sp>
      <p:sp>
        <p:nvSpPr>
          <p:cNvPr id="4" name="Slide Number Placeholder 3"/>
          <p:cNvSpPr>
            <a:spLocks noGrp="1"/>
          </p:cNvSpPr>
          <p:nvPr>
            <p:ph type="sldNum" sz="quarter" idx="5"/>
          </p:nvPr>
        </p:nvSpPr>
        <p:spPr/>
        <p:txBody>
          <a:bodyPr/>
          <a:lstStyle/>
          <a:p>
            <a:pPr>
              <a:defRPr/>
            </a:pPr>
            <a:fld id="{F137CEB6-9B9E-44F4-8FEC-8440F48E8DCB}" type="slidenum">
              <a:rPr lang="en-US" smtClean="0"/>
              <a:pPr>
                <a:defRPr/>
              </a:pPr>
              <a:t>67</a:t>
            </a:fld>
            <a:endParaRPr lang="en-US" dirty="0"/>
          </a:p>
        </p:txBody>
      </p:sp>
    </p:spTree>
    <p:extLst>
      <p:ext uri="{BB962C8B-B14F-4D97-AF65-F5344CB8AC3E}">
        <p14:creationId xmlns:p14="http://schemas.microsoft.com/office/powerpoint/2010/main" val="20301472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1" name="Slide Image Placeholder 1"/>
          <p:cNvSpPr>
            <a:spLocks noGrp="1" noRot="1" noChangeAspect="1"/>
          </p:cNvSpPr>
          <p:nvPr>
            <p:ph type="sldImg"/>
          </p:nvPr>
        </p:nvSpPr>
        <p:spPr bwMode="auto">
          <a:noFill/>
          <a:ln>
            <a:solidFill>
              <a:srgbClr val="000000"/>
            </a:solidFill>
            <a:miter lim="800000"/>
            <a:headEnd/>
            <a:tailEnd/>
          </a:ln>
        </p:spPr>
      </p:sp>
      <p:sp>
        <p:nvSpPr>
          <p:cNvPr id="39424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Figure 5.22 is a solution using semaphores, showing one instance each of a reader and a writer; the solution does not change for multiple readers and writers. The writer process is simple. The semaphore wsem is used to enforce mutual exclusion. As long as one writer is accessing the shared data area, no other writers and no readers may access it. The reader process also makes use of wsem to enforce mutual exclusion. However, to allow multiple readers, we require that, when there are no readers reading, the first reader that attempts to read should wait on wsem . When there is already at least one reader reading, subsequent readers need not wait before entering. The global variable readcount is used to keep track of the number of readers, and the semaphore x is used to assure that readcount is updated properly.</a:t>
            </a:r>
          </a:p>
        </p:txBody>
      </p:sp>
      <p:sp>
        <p:nvSpPr>
          <p:cNvPr id="4" name="Slide Number Placeholder 3"/>
          <p:cNvSpPr>
            <a:spLocks noGrp="1"/>
          </p:cNvSpPr>
          <p:nvPr>
            <p:ph type="sldNum" sz="quarter" idx="5"/>
          </p:nvPr>
        </p:nvSpPr>
        <p:spPr/>
        <p:txBody>
          <a:bodyPr/>
          <a:lstStyle/>
          <a:p>
            <a:pPr>
              <a:defRPr/>
            </a:pPr>
            <a:fld id="{8F663C7C-FA02-436B-9BC1-BB917F344134}" type="slidenum">
              <a:rPr lang="en-US" smtClean="0"/>
              <a:pPr>
                <a:defRPr/>
              </a:pPr>
              <a:t>68</a:t>
            </a:fld>
            <a:endParaRPr lang="en-US" dirty="0"/>
          </a:p>
        </p:txBody>
      </p:sp>
    </p:spTree>
    <p:extLst>
      <p:ext uri="{BB962C8B-B14F-4D97-AF65-F5344CB8AC3E}">
        <p14:creationId xmlns:p14="http://schemas.microsoft.com/office/powerpoint/2010/main" val="41678129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89" name="Slide Image Placeholder 1"/>
          <p:cNvSpPr>
            <a:spLocks noGrp="1" noRot="1" noChangeAspect="1"/>
          </p:cNvSpPr>
          <p:nvPr>
            <p:ph type="sldImg"/>
          </p:nvPr>
        </p:nvSpPr>
        <p:spPr bwMode="auto">
          <a:noFill/>
          <a:ln>
            <a:solidFill>
              <a:srgbClr val="000000"/>
            </a:solidFill>
            <a:miter lim="800000"/>
            <a:headEnd/>
            <a:tailEnd/>
          </a:ln>
        </p:spPr>
      </p:sp>
      <p:sp>
        <p:nvSpPr>
          <p:cNvPr id="396290"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NZ"/>
          </a:p>
          <a:p>
            <a:r>
              <a:rPr lang="en-US"/>
              <a:t>In the previous solution, readers have priority. Once a single reader has begun to access the data area, it is possible for readers to retain control of the data area as long as there is at least one reader in the act of reading. Therefore, writers are subject to starvation.</a:t>
            </a:r>
          </a:p>
          <a:p>
            <a:endParaRPr lang="en-US"/>
          </a:p>
          <a:p>
            <a:r>
              <a:rPr lang="en-US"/>
              <a:t>Figure 5.23 shows a solution that guarantees that no new readers are allowed access to the data area once at least one writer has declared a desire to write. For writers, the following semaphores and variables are added to the ones already defined:</a:t>
            </a:r>
          </a:p>
          <a:p>
            <a:r>
              <a:rPr lang="en-US"/>
              <a:t>• A semaphore rsem that inhibits all readers while there is at least one writer desiring access to the data area</a:t>
            </a:r>
          </a:p>
          <a:p>
            <a:r>
              <a:rPr lang="en-US"/>
              <a:t>• A variable writecount that controls the setting of rsem</a:t>
            </a:r>
          </a:p>
          <a:p>
            <a:r>
              <a:rPr lang="en-US"/>
              <a:t>• A semaphore y that controls the updating of writecount</a:t>
            </a:r>
          </a:p>
        </p:txBody>
      </p:sp>
      <p:sp>
        <p:nvSpPr>
          <p:cNvPr id="4" name="Slide Number Placeholder 3"/>
          <p:cNvSpPr>
            <a:spLocks noGrp="1"/>
          </p:cNvSpPr>
          <p:nvPr>
            <p:ph type="sldNum" sz="quarter" idx="5"/>
          </p:nvPr>
        </p:nvSpPr>
        <p:spPr/>
        <p:txBody>
          <a:bodyPr/>
          <a:lstStyle/>
          <a:p>
            <a:pPr>
              <a:defRPr/>
            </a:pPr>
            <a:fld id="{1F0C86C8-9183-488B-BFA0-C403F1AF1E2E}" type="slidenum">
              <a:rPr lang="en-US" smtClean="0"/>
              <a:pPr>
                <a:defRPr/>
              </a:pPr>
              <a:t>69</a:t>
            </a:fld>
            <a:endParaRPr lang="en-US" dirty="0"/>
          </a:p>
        </p:txBody>
      </p:sp>
    </p:spTree>
    <p:extLst>
      <p:ext uri="{BB962C8B-B14F-4D97-AF65-F5344CB8AC3E}">
        <p14:creationId xmlns:p14="http://schemas.microsoft.com/office/powerpoint/2010/main" val="17960032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08B938-ED7B-4044-8CDD-BEE098A9FC52}" type="slidenum">
              <a:rPr lang="en-US" altLang="en-US">
                <a:latin typeface="Times New Roman" panose="02020603050405020304" pitchFamily="18" charset="0"/>
              </a:rPr>
              <a:pPr/>
              <a:t>70</a:t>
            </a:fld>
            <a:endParaRPr lang="en-US" altLang="en-US">
              <a:latin typeface="Times New Roman" panose="02020603050405020304"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0344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5F82FC-D51E-4664-9BB3-3B518A2FC5C1}"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949360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60C4C1-0B03-42DD-85FD-F14709C3254A}" type="slidenum">
              <a:rPr lang="en-US" altLang="en-US">
                <a:latin typeface="Times New Roman" panose="02020603050405020304" pitchFamily="18" charset="0"/>
              </a:rPr>
              <a:pPr/>
              <a:t>72</a:t>
            </a:fld>
            <a:endParaRPr lang="en-US" altLang="en-US">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36644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AA75D-276D-45A5-BC8A-4A79B6AF9298}" type="slidenum">
              <a:rPr lang="en-US" altLang="en-US">
                <a:latin typeface="Times New Roman" panose="02020603050405020304" pitchFamily="18" charset="0"/>
              </a:rPr>
              <a:pPr/>
              <a:t>73</a:t>
            </a:fld>
            <a:endParaRPr lang="en-US" altLang="en-US">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172348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29" name="Slide Image Placeholder 1"/>
          <p:cNvSpPr>
            <a:spLocks noGrp="1" noRot="1" noChangeAspect="1"/>
          </p:cNvSpPr>
          <p:nvPr>
            <p:ph type="sldImg"/>
          </p:nvPr>
        </p:nvSpPr>
        <p:spPr bwMode="auto">
          <a:noFill/>
          <a:ln>
            <a:solidFill>
              <a:srgbClr val="000000"/>
            </a:solidFill>
            <a:miter lim="800000"/>
            <a:headEnd/>
            <a:tailEnd/>
          </a:ln>
        </p:spPr>
      </p:sp>
      <p:sp>
        <p:nvSpPr>
          <p:cNvPr id="35533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The monitor is a programming-language construct that provides equivalent functionality to that of semaphores and that is easier to control. The concept was first formally defined in [HOAR74]. The monitor construct has been implemented in a number of programming languages, including Concurrent Pascal, Pascal-Plus, Modula-2, Modula-3, and Java. It has also been implemented as a program library. This allows programmers to put a monitor lock on any object. In particular, for something like a linked list, you may want to lock all linked lists with one lock, or have one lock for each list, or have one lock for each element of each list.</a:t>
            </a:r>
          </a:p>
          <a:p>
            <a:endParaRPr lang="en-US" dirty="0"/>
          </a:p>
          <a:p>
            <a:r>
              <a:rPr lang="en-US" dirty="0"/>
              <a:t>A monitor is a software module consisting of one or more procedures, an initialization sequence, and local data.</a:t>
            </a:r>
          </a:p>
        </p:txBody>
      </p:sp>
      <p:sp>
        <p:nvSpPr>
          <p:cNvPr id="4" name="Slide Number Placeholder 3"/>
          <p:cNvSpPr>
            <a:spLocks noGrp="1"/>
          </p:cNvSpPr>
          <p:nvPr>
            <p:ph type="sldNum" sz="quarter" idx="5"/>
          </p:nvPr>
        </p:nvSpPr>
        <p:spPr/>
        <p:txBody>
          <a:bodyPr/>
          <a:lstStyle/>
          <a:p>
            <a:pPr>
              <a:defRPr/>
            </a:pPr>
            <a:fld id="{D5957BAE-7A9B-4495-95DF-C3A19CF07D34}" type="slidenum">
              <a:rPr lang="en-US" smtClean="0"/>
              <a:pPr>
                <a:defRPr/>
              </a:pPr>
              <a:t>74</a:t>
            </a:fld>
            <a:endParaRPr lang="en-US" dirty="0"/>
          </a:p>
        </p:txBody>
      </p:sp>
    </p:spTree>
    <p:extLst>
      <p:ext uri="{BB962C8B-B14F-4D97-AF65-F5344CB8AC3E}">
        <p14:creationId xmlns:p14="http://schemas.microsoft.com/office/powerpoint/2010/main" val="6331156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7" name="Slide Image Placeholder 1"/>
          <p:cNvSpPr>
            <a:spLocks noGrp="1" noRot="1" noChangeAspect="1"/>
          </p:cNvSpPr>
          <p:nvPr>
            <p:ph type="sldImg"/>
          </p:nvPr>
        </p:nvSpPr>
        <p:spPr bwMode="auto">
          <a:noFill/>
          <a:ln>
            <a:solidFill>
              <a:srgbClr val="000000"/>
            </a:solidFill>
            <a:miter lim="800000"/>
            <a:headEnd/>
            <a:tailEnd/>
          </a:ln>
        </p:spPr>
      </p:sp>
      <p:sp>
        <p:nvSpPr>
          <p:cNvPr id="357378" name="Notes Placeholder 2"/>
          <p:cNvSpPr>
            <a:spLocks noGrp="1"/>
          </p:cNvSpPr>
          <p:nvPr>
            <p:ph type="body" idx="1"/>
          </p:nvPr>
        </p:nvSpPr>
        <p:spPr bwMode="auto">
          <a:noFill/>
        </p:spPr>
        <p:txBody>
          <a:bodyPr wrap="square" numCol="1" anchor="t" anchorCtr="0" compatLnSpc="1">
            <a:prstTxWarp prst="textNoShape">
              <a:avLst/>
            </a:prstTxWarp>
            <a:normAutofit fontScale="92500" lnSpcReduction="20000"/>
          </a:bodyPr>
          <a:lstStyle/>
          <a:p>
            <a:r>
              <a:rPr lang="en-US"/>
              <a:t>The chief characteristics of a monitor are the following:</a:t>
            </a:r>
          </a:p>
          <a:p>
            <a:r>
              <a:rPr lang="en-US"/>
              <a:t>1. The local data variables are accessible only by the monitor’s procedures and</a:t>
            </a:r>
          </a:p>
          <a:p>
            <a:r>
              <a:rPr lang="en-US"/>
              <a:t>not by any external procedure.</a:t>
            </a:r>
          </a:p>
          <a:p>
            <a:r>
              <a:rPr lang="en-US"/>
              <a:t>2. A process enters the monitor by invoking one of its procedures.</a:t>
            </a:r>
          </a:p>
          <a:p>
            <a:r>
              <a:rPr lang="en-US"/>
              <a:t>3. Only one process may be executing in the monitor at a time; any other processes</a:t>
            </a:r>
          </a:p>
          <a:p>
            <a:r>
              <a:rPr lang="en-US"/>
              <a:t>that have invoked the monitor are blocked, waiting for the monitor to become available.</a:t>
            </a:r>
          </a:p>
          <a:p>
            <a:endParaRPr lang="en-US"/>
          </a:p>
          <a:p>
            <a:r>
              <a:rPr lang="en-US"/>
              <a:t>The first two characteristics are reminiscent of those for objects in object-oriented software. Indeed, an object-oriented OS or programming language can readily implement a monitor as an object with special characteristics.</a:t>
            </a:r>
          </a:p>
          <a:p>
            <a:endParaRPr lang="en-US"/>
          </a:p>
          <a:p>
            <a:r>
              <a:rPr lang="en-US"/>
              <a:t>By enforcing the discipline of one process at a time, the monitor is able to provide a mutual exclusion facility. The data variables in the monitor can be accessed by only one process at a time. Thus, a shared data structure can be protected by placing it in a monitor. If the data in a monitor represent some resource, then the monitor provides a mutual exclusion facility for accessing the resource. </a:t>
            </a:r>
          </a:p>
          <a:p>
            <a:endParaRPr lang="en-US"/>
          </a:p>
          <a:p>
            <a:r>
              <a:rPr lang="en-US"/>
              <a:t>To be useful for concurrent processing, the monitor must include synchronization tools. For example, suppose a process invokes the monitor and, while in the</a:t>
            </a:r>
          </a:p>
          <a:p>
            <a:r>
              <a:rPr lang="en-US"/>
              <a:t>monitor, must be blocked until some condition is satisfied. A facility is needed by which the process is not only blocked but releases the monitor so that some other process may enter it. Later, when the condition is satisfied and the monitor is again available, the process needs to be resumed and allowed to reenter the monitor at the point of its suspension.</a:t>
            </a:r>
            <a:endParaRPr lang="en-NZ"/>
          </a:p>
        </p:txBody>
      </p:sp>
      <p:sp>
        <p:nvSpPr>
          <p:cNvPr id="4" name="Slide Number Placeholder 3"/>
          <p:cNvSpPr>
            <a:spLocks noGrp="1"/>
          </p:cNvSpPr>
          <p:nvPr>
            <p:ph type="sldNum" sz="quarter" idx="5"/>
          </p:nvPr>
        </p:nvSpPr>
        <p:spPr/>
        <p:txBody>
          <a:bodyPr/>
          <a:lstStyle/>
          <a:p>
            <a:pPr>
              <a:defRPr/>
            </a:pPr>
            <a:fld id="{B42B0719-5DCA-43AE-AA09-25DEA1F4F156}" type="slidenum">
              <a:rPr lang="en-US" smtClean="0"/>
              <a:pPr>
                <a:defRPr/>
              </a:pPr>
              <a:t>75</a:t>
            </a:fld>
            <a:endParaRPr lang="en-US" dirty="0"/>
          </a:p>
        </p:txBody>
      </p:sp>
    </p:spTree>
    <p:extLst>
      <p:ext uri="{BB962C8B-B14F-4D97-AF65-F5344CB8AC3E}">
        <p14:creationId xmlns:p14="http://schemas.microsoft.com/office/powerpoint/2010/main" val="4508476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5" name="Slide Image Placeholder 1"/>
          <p:cNvSpPr>
            <a:spLocks noGrp="1" noRot="1" noChangeAspect="1"/>
          </p:cNvSpPr>
          <p:nvPr>
            <p:ph type="sldImg"/>
          </p:nvPr>
        </p:nvSpPr>
        <p:spPr bwMode="auto">
          <a:noFill/>
          <a:ln>
            <a:solidFill>
              <a:srgbClr val="000000"/>
            </a:solidFill>
            <a:miter lim="800000"/>
            <a:headEnd/>
            <a:tailEnd/>
          </a:ln>
        </p:spPr>
      </p:sp>
      <p:sp>
        <p:nvSpPr>
          <p:cNvPr id="35942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A monitor supports synchronization by the use of </a:t>
            </a:r>
            <a:r>
              <a:rPr lang="en-US" b="1"/>
              <a:t>condition variables that are </a:t>
            </a:r>
            <a:r>
              <a:rPr lang="en-US"/>
              <a:t>contained within the monitor and accessible only within the monitor. Condition variables are a special data type in monitors, which are operated on by two functions:</a:t>
            </a:r>
          </a:p>
          <a:p>
            <a:r>
              <a:rPr lang="en-US"/>
              <a:t>• cwait(c) : Suspend execution of the calling process on condition </a:t>
            </a:r>
            <a:r>
              <a:rPr lang="en-US" i="1"/>
              <a:t>c . The monitor </a:t>
            </a:r>
            <a:r>
              <a:rPr lang="en-US"/>
              <a:t>is now available for use by another process.</a:t>
            </a:r>
          </a:p>
          <a:p>
            <a:r>
              <a:rPr lang="en-US"/>
              <a:t>• csignal(c) : Resume execution of some process blocked after a cwait on the same condition. If there are several such processes, choose one of them; if there is no such process, do nothing. </a:t>
            </a:r>
          </a:p>
          <a:p>
            <a:endParaRPr lang="en-US"/>
          </a:p>
          <a:p>
            <a:r>
              <a:rPr lang="en-US"/>
              <a:t>Note that monitor </a:t>
            </a:r>
            <a:r>
              <a:rPr lang="en-US" i="1"/>
              <a:t>wait and signal operations are different from those for the </a:t>
            </a:r>
            <a:r>
              <a:rPr lang="en-US"/>
              <a:t>semaphore. If a process in a monitor signals and no task is waiting on the condition variable, the signal is lost.</a:t>
            </a:r>
            <a:endParaRPr lang="en-NZ"/>
          </a:p>
        </p:txBody>
      </p:sp>
      <p:sp>
        <p:nvSpPr>
          <p:cNvPr id="4" name="Slide Number Placeholder 3"/>
          <p:cNvSpPr>
            <a:spLocks noGrp="1"/>
          </p:cNvSpPr>
          <p:nvPr>
            <p:ph type="sldNum" sz="quarter" idx="5"/>
          </p:nvPr>
        </p:nvSpPr>
        <p:spPr/>
        <p:txBody>
          <a:bodyPr/>
          <a:lstStyle/>
          <a:p>
            <a:pPr>
              <a:defRPr/>
            </a:pPr>
            <a:fld id="{8D07FDB7-020D-43A1-A858-E25FC412ED93}" type="slidenum">
              <a:rPr lang="en-US" smtClean="0"/>
              <a:pPr>
                <a:defRPr/>
              </a:pPr>
              <a:t>76</a:t>
            </a:fld>
            <a:endParaRPr lang="en-US" dirty="0"/>
          </a:p>
        </p:txBody>
      </p:sp>
    </p:spTree>
    <p:extLst>
      <p:ext uri="{BB962C8B-B14F-4D97-AF65-F5344CB8AC3E}">
        <p14:creationId xmlns:p14="http://schemas.microsoft.com/office/powerpoint/2010/main" val="23109375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3" name="Slide Image Placeholder 1"/>
          <p:cNvSpPr>
            <a:spLocks noGrp="1" noRot="1" noChangeAspect="1"/>
          </p:cNvSpPr>
          <p:nvPr>
            <p:ph type="sldImg"/>
          </p:nvPr>
        </p:nvSpPr>
        <p:spPr bwMode="auto">
          <a:noFill/>
          <a:ln>
            <a:solidFill>
              <a:srgbClr val="000000"/>
            </a:solidFill>
            <a:miter lim="800000"/>
            <a:headEnd/>
            <a:tailEnd/>
          </a:ln>
        </p:spPr>
      </p:sp>
      <p:sp>
        <p:nvSpPr>
          <p:cNvPr id="36147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Figure 5.15 illustrates the structure of a monitor. Although a process can enter the monitor by invoking any of its procedures, we can think of the monitor as having a single entry point that is guarded so that only one process may be in the monitor at a time. Other processes that attempt to enter the monitor join a queue of processes blocked waiting for monitor availability. Once a process is in the monitor, it may temporarily block itself on condition </a:t>
            </a:r>
            <a:r>
              <a:rPr lang="en-US" i="1" dirty="0"/>
              <a:t>x by issuing </a:t>
            </a:r>
            <a:r>
              <a:rPr lang="en-US" i="1" dirty="0" err="1"/>
              <a:t>cwait</a:t>
            </a:r>
            <a:r>
              <a:rPr lang="en-US" i="1" dirty="0"/>
              <a:t>(x) ; it is then placed </a:t>
            </a:r>
            <a:r>
              <a:rPr lang="en-US" dirty="0"/>
              <a:t>in a queue of processes waiting to reenter the monitor when the condition changes, and resume execution at the point in its program following the </a:t>
            </a:r>
            <a:r>
              <a:rPr lang="en-US" dirty="0" err="1"/>
              <a:t>cwait</a:t>
            </a:r>
            <a:r>
              <a:rPr lang="en-US" dirty="0"/>
              <a:t>(x) call. If a process that is executing in the monitor detects a change in the condition variable x , it issues </a:t>
            </a:r>
            <a:r>
              <a:rPr lang="en-US" dirty="0" err="1"/>
              <a:t>csignal</a:t>
            </a:r>
            <a:r>
              <a:rPr lang="en-US" dirty="0"/>
              <a:t>(x) , which alerts the corresponding condition queue that the condition has changed.</a:t>
            </a:r>
          </a:p>
        </p:txBody>
      </p:sp>
      <p:sp>
        <p:nvSpPr>
          <p:cNvPr id="4" name="Slide Number Placeholder 3"/>
          <p:cNvSpPr>
            <a:spLocks noGrp="1"/>
          </p:cNvSpPr>
          <p:nvPr>
            <p:ph type="sldNum" sz="quarter" idx="5"/>
          </p:nvPr>
        </p:nvSpPr>
        <p:spPr/>
        <p:txBody>
          <a:bodyPr/>
          <a:lstStyle/>
          <a:p>
            <a:pPr>
              <a:defRPr/>
            </a:pPr>
            <a:fld id="{A188DD8F-4A5F-4785-A440-EEAC833A1F8E}" type="slidenum">
              <a:rPr lang="en-US" smtClean="0"/>
              <a:pPr>
                <a:defRPr/>
              </a:pPr>
              <a:t>77</a:t>
            </a:fld>
            <a:endParaRPr lang="en-US" dirty="0"/>
          </a:p>
        </p:txBody>
      </p:sp>
    </p:spTree>
    <p:extLst>
      <p:ext uri="{BB962C8B-B14F-4D97-AF65-F5344CB8AC3E}">
        <p14:creationId xmlns:p14="http://schemas.microsoft.com/office/powerpoint/2010/main" val="12048677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8980E9-6E36-4544-8CAF-56CA4CC86F29}" type="slidenum">
              <a:rPr lang="en-US" altLang="en-US">
                <a:latin typeface="Times New Roman" panose="02020603050405020304" pitchFamily="18" charset="0"/>
              </a:rPr>
              <a:pPr/>
              <a:t>78</a:t>
            </a:fld>
            <a:endParaRPr lang="en-US" altLang="en-US">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22032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438EF1-8107-41A4-9CA3-F041543E74B0}" type="slidenum">
              <a:rPr lang="en-US" altLang="en-US">
                <a:latin typeface="Times New Roman" panose="02020603050405020304" pitchFamily="18" charset="0"/>
              </a:rPr>
              <a:pPr/>
              <a:t>79</a:t>
            </a:fld>
            <a:endParaRPr lang="en-US" altLang="en-US">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93510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733612-C467-43AD-BA91-46D69E5B5F16}" type="slidenum">
              <a:rPr lang="en-US" altLang="en-US">
                <a:latin typeface="Times New Roman" panose="02020603050405020304" pitchFamily="18" charset="0"/>
              </a:rPr>
              <a:pPr/>
              <a:t>80</a:t>
            </a:fld>
            <a:endParaRPr lang="en-US" altLang="en-US">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388230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Slide Image Placeholder 1"/>
          <p:cNvSpPr>
            <a:spLocks noGrp="1" noRot="1" noChangeAspect="1"/>
          </p:cNvSpPr>
          <p:nvPr>
            <p:ph type="sldImg"/>
          </p:nvPr>
        </p:nvSpPr>
        <p:spPr bwMode="auto">
          <a:noFill/>
          <a:ln>
            <a:solidFill>
              <a:srgbClr val="000000"/>
            </a:solidFill>
            <a:miter lim="800000"/>
            <a:headEnd/>
            <a:tailEnd/>
          </a:ln>
        </p:spPr>
      </p:sp>
      <p:sp>
        <p:nvSpPr>
          <p:cNvPr id="363522" name="Notes Placeholder 2"/>
          <p:cNvSpPr>
            <a:spLocks noGrp="1"/>
          </p:cNvSpPr>
          <p:nvPr>
            <p:ph type="body" idx="1"/>
          </p:nvPr>
        </p:nvSpPr>
        <p:spPr bwMode="auto">
          <a:noFill/>
        </p:spPr>
        <p:txBody>
          <a:bodyPr wrap="square" numCol="1" anchor="t" anchorCtr="0" compatLnSpc="1">
            <a:prstTxWarp prst="textNoShape">
              <a:avLst/>
            </a:prstTxWarp>
            <a:normAutofit fontScale="77500" lnSpcReduction="20000"/>
          </a:bodyPr>
          <a:lstStyle/>
          <a:p>
            <a:r>
              <a:rPr lang="en-US" dirty="0"/>
              <a:t>As an example of the use of a monitor, let us return to the bounded-buffer producer/consumer problem. Figure 5.16 shows a solution using a monitor. The monitor module, </a:t>
            </a:r>
            <a:r>
              <a:rPr lang="en-US" dirty="0" err="1"/>
              <a:t>boundedbuffer</a:t>
            </a:r>
            <a:r>
              <a:rPr lang="en-US" dirty="0"/>
              <a:t> , controls the buffer used to store and retrieve characters. The monitor includes two condition variables (declared with the construct </a:t>
            </a:r>
            <a:r>
              <a:rPr lang="en-US" b="1" dirty="0" err="1"/>
              <a:t>cond</a:t>
            </a:r>
            <a:r>
              <a:rPr lang="en-US" b="1" dirty="0"/>
              <a:t> ): </a:t>
            </a:r>
            <a:r>
              <a:rPr lang="en-US" b="1" i="1" dirty="0" err="1"/>
              <a:t>notfull</a:t>
            </a:r>
            <a:r>
              <a:rPr lang="en-US" b="1" i="1" dirty="0"/>
              <a:t> is true when there is room to add at least one character to the </a:t>
            </a:r>
            <a:r>
              <a:rPr lang="en-US" dirty="0"/>
              <a:t>buffer, and </a:t>
            </a:r>
            <a:r>
              <a:rPr lang="en-US" i="1" dirty="0" err="1"/>
              <a:t>notempty</a:t>
            </a:r>
            <a:r>
              <a:rPr lang="en-US" i="1" dirty="0"/>
              <a:t> is true when there is at least one character in the buffer.</a:t>
            </a:r>
          </a:p>
          <a:p>
            <a:endParaRPr lang="en-US" i="1" dirty="0"/>
          </a:p>
          <a:p>
            <a:r>
              <a:rPr lang="en-US" dirty="0"/>
              <a:t>A producer can add characters to the buffer only by means of the procedure append inside the monitor; the producer does not have direct access to </a:t>
            </a:r>
            <a:r>
              <a:rPr lang="en-US" i="1" dirty="0"/>
              <a:t>buffer . The </a:t>
            </a:r>
            <a:r>
              <a:rPr lang="en-US" dirty="0"/>
              <a:t>procedure first checks the condition </a:t>
            </a:r>
            <a:r>
              <a:rPr lang="en-US" i="1" dirty="0" err="1"/>
              <a:t>notfull</a:t>
            </a:r>
            <a:r>
              <a:rPr lang="en-US" i="1" dirty="0"/>
              <a:t> to determine if there is space available </a:t>
            </a:r>
            <a:r>
              <a:rPr lang="en-US" dirty="0"/>
              <a:t>in the buffer. If not, the process executing the monitor is blocked on that condition. Some other process (producer or consumer) may now enter the monitor. Later, when the buffer is no longer full, the blocked process may be removed from the queue, reactivated, and resume processing. After placing a character in the buffer, the process signals the </a:t>
            </a:r>
            <a:r>
              <a:rPr lang="en-US" i="1" dirty="0" err="1"/>
              <a:t>notempty</a:t>
            </a:r>
            <a:r>
              <a:rPr lang="en-US" i="1" dirty="0"/>
              <a:t> condition. A similar description can be made of the </a:t>
            </a:r>
            <a:r>
              <a:rPr lang="en-US" dirty="0"/>
              <a:t>consumer function.</a:t>
            </a:r>
          </a:p>
          <a:p>
            <a:endParaRPr lang="en-US" dirty="0"/>
          </a:p>
          <a:p>
            <a:r>
              <a:rPr lang="en-US" dirty="0"/>
              <a:t>This example points out the division of responsibility with monitors compared to semaphores. In the case of monitors, the monitor construct itself enforces mutual exclusion: It is not possible for both a producer and a consumer simultaneously to access the buffer. However, the programmer must place the appropriate </a:t>
            </a:r>
            <a:r>
              <a:rPr lang="en-US" dirty="0" err="1"/>
              <a:t>cwait</a:t>
            </a:r>
            <a:r>
              <a:rPr lang="en-US" dirty="0"/>
              <a:t> and </a:t>
            </a:r>
            <a:r>
              <a:rPr lang="en-US" dirty="0" err="1"/>
              <a:t>csignal</a:t>
            </a:r>
            <a:r>
              <a:rPr lang="en-US" dirty="0"/>
              <a:t> primitives inside the monitor to prevent processes from depositing items in a full buffer or removing them from an empty one. In the case of semaphores, both mutual exclusion and synchronization are the responsibility of the programmer.</a:t>
            </a:r>
          </a:p>
          <a:p>
            <a:endParaRPr lang="en-US" dirty="0"/>
          </a:p>
          <a:p>
            <a:r>
              <a:rPr lang="en-US" dirty="0"/>
              <a:t>Note that in Figure 5.16 , a process exits the monitor immediately after executing the </a:t>
            </a:r>
            <a:r>
              <a:rPr lang="en-US" dirty="0" err="1"/>
              <a:t>csignal</a:t>
            </a:r>
            <a:r>
              <a:rPr lang="en-US" dirty="0"/>
              <a:t> function. If the </a:t>
            </a:r>
            <a:r>
              <a:rPr lang="en-US" dirty="0" err="1"/>
              <a:t>csignal</a:t>
            </a:r>
            <a:r>
              <a:rPr lang="en-US" dirty="0"/>
              <a:t> does not occur at the end of the procedure, then, in Hoare’s proposal, the process issuing the signal is blocked to make the monitor available and placed in a queue until the monitor is free. One possibility at this point would be to place the blocked process in the entrance queue, so that it would have to compete for access with other processes that had not yet entered the monitor. However, because a process blocked on a </a:t>
            </a:r>
            <a:r>
              <a:rPr lang="en-US" dirty="0" err="1"/>
              <a:t>csignal</a:t>
            </a:r>
            <a:r>
              <a:rPr lang="en-US" dirty="0"/>
              <a:t> function has already partially performed its task in the monitor, it makes sense to give this process precedence over newly entering processes by setting up a separate urgent queue ( Figure 5.15 ). One language that uses monitors, Concurrent Pascal, requires that </a:t>
            </a:r>
            <a:r>
              <a:rPr lang="en-US" dirty="0" err="1"/>
              <a:t>csignal</a:t>
            </a:r>
            <a:r>
              <a:rPr lang="en-US" dirty="0"/>
              <a:t> only appear as the last operation executed by a monitor procedure.</a:t>
            </a:r>
          </a:p>
          <a:p>
            <a:endParaRPr lang="en-US" dirty="0"/>
          </a:p>
          <a:p>
            <a:r>
              <a:rPr lang="en-US" dirty="0"/>
              <a:t> If there are no processes waiting on condition </a:t>
            </a:r>
            <a:r>
              <a:rPr lang="en-US" i="1" dirty="0"/>
              <a:t>x , then the execution of </a:t>
            </a:r>
            <a:r>
              <a:rPr lang="en-US" dirty="0" err="1"/>
              <a:t>csignal</a:t>
            </a:r>
            <a:r>
              <a:rPr lang="en-US" dirty="0"/>
              <a:t>( </a:t>
            </a:r>
            <a:r>
              <a:rPr lang="en-US" i="1" dirty="0"/>
              <a:t>x ) has no effect.</a:t>
            </a:r>
            <a:endParaRPr lang="en-US" dirty="0"/>
          </a:p>
        </p:txBody>
      </p:sp>
      <p:sp>
        <p:nvSpPr>
          <p:cNvPr id="4" name="Slide Number Placeholder 3"/>
          <p:cNvSpPr>
            <a:spLocks noGrp="1"/>
          </p:cNvSpPr>
          <p:nvPr>
            <p:ph type="sldNum" sz="quarter" idx="5"/>
          </p:nvPr>
        </p:nvSpPr>
        <p:spPr/>
        <p:txBody>
          <a:bodyPr/>
          <a:lstStyle/>
          <a:p>
            <a:pPr>
              <a:defRPr/>
            </a:pPr>
            <a:fld id="{6CE3433A-F31F-4D1B-85C3-1A9980E9F8B9}" type="slidenum">
              <a:rPr lang="en-US" smtClean="0"/>
              <a:pPr>
                <a:defRPr/>
              </a:pPr>
              <a:t>81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7C85A86-76D2-4055-80A1-2F34C235C2DC}" type="slidenum">
              <a:rPr lang="en-US" altLang="en-US">
                <a:latin typeface="Times New Roman" panose="02020603050405020304" pitchFamily="18" charset="0"/>
              </a:rPr>
              <a:pPr/>
              <a:t>82</a:t>
            </a:fld>
            <a:endParaRPr lang="en-US" altLang="en-US">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983362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21032EF-3A6E-4493-901B-8355705B18E2}" type="slidenum">
              <a:rPr lang="en-US" altLang="en-US">
                <a:latin typeface="Times New Roman" panose="02020603050405020304" pitchFamily="18" charset="0"/>
              </a:rPr>
              <a:pPr/>
              <a:t>83</a:t>
            </a:fld>
            <a:endParaRPr lang="en-US" altLang="en-US">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337847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69" name="Slide Image Placeholder 1"/>
          <p:cNvSpPr>
            <a:spLocks noGrp="1" noRot="1" noChangeAspect="1"/>
          </p:cNvSpPr>
          <p:nvPr>
            <p:ph type="sldImg"/>
          </p:nvPr>
        </p:nvSpPr>
        <p:spPr bwMode="auto">
          <a:noFill/>
          <a:ln>
            <a:solidFill>
              <a:srgbClr val="000000"/>
            </a:solidFill>
            <a:miter lim="800000"/>
            <a:headEnd/>
            <a:tailEnd/>
          </a:ln>
        </p:spPr>
      </p:sp>
      <p:sp>
        <p:nvSpPr>
          <p:cNvPr id="36557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When processes interact with one another, two fundamental requirements must be satisfied: synchronization and communication. Processes need to be synchronized to enforce mutual exclusion; cooperating processes may need to exchange information. One approach to providing both of these functions is message passing. Message passing has the further advantage that it lends itself to implementation in distributed systems as well as in shared-memory multiprocessor and uniprocessor systems.</a:t>
            </a:r>
            <a:endParaRPr lang="en-NZ"/>
          </a:p>
        </p:txBody>
      </p:sp>
      <p:sp>
        <p:nvSpPr>
          <p:cNvPr id="4" name="Slide Number Placeholder 3"/>
          <p:cNvSpPr>
            <a:spLocks noGrp="1"/>
          </p:cNvSpPr>
          <p:nvPr>
            <p:ph type="sldNum" sz="quarter" idx="5"/>
          </p:nvPr>
        </p:nvSpPr>
        <p:spPr/>
        <p:txBody>
          <a:bodyPr/>
          <a:lstStyle/>
          <a:p>
            <a:pPr>
              <a:defRPr/>
            </a:pPr>
            <a:fld id="{4269AECA-9483-4CD5-A0E4-96640A158579}" type="slidenum">
              <a:rPr lang="en-US" smtClean="0"/>
              <a:pPr>
                <a:defRPr/>
              </a:pPr>
              <a:t>84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7" name="Slide Image Placeholder 1"/>
          <p:cNvSpPr>
            <a:spLocks noGrp="1" noRot="1" noChangeAspect="1"/>
          </p:cNvSpPr>
          <p:nvPr>
            <p:ph type="sldImg"/>
          </p:nvPr>
        </p:nvSpPr>
        <p:spPr bwMode="auto">
          <a:noFill/>
          <a:ln>
            <a:solidFill>
              <a:srgbClr val="000000"/>
            </a:solidFill>
            <a:miter lim="800000"/>
            <a:headEnd/>
            <a:tailEnd/>
          </a:ln>
        </p:spPr>
      </p:sp>
      <p:sp>
        <p:nvSpPr>
          <p:cNvPr id="36761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Message-passing systems come in many forms. In this section, we provide a general introduction that discusses features typically found in such systems. The actual function of message passing is normally provided in the form of a pair of primitives:</a:t>
            </a:r>
          </a:p>
          <a:p>
            <a:endParaRPr lang="en-US"/>
          </a:p>
          <a:p>
            <a:r>
              <a:rPr lang="en-US"/>
              <a:t>send (destination, message)</a:t>
            </a:r>
          </a:p>
          <a:p>
            <a:r>
              <a:rPr lang="en-US"/>
              <a:t>receive (source, message)</a:t>
            </a:r>
          </a:p>
          <a:p>
            <a:endParaRPr lang="en-US"/>
          </a:p>
          <a:p>
            <a:r>
              <a:rPr lang="en-US"/>
              <a:t>This is the minimum set of operations needed for processes to engage in message passing. A process sends information in the form of a </a:t>
            </a:r>
            <a:r>
              <a:rPr lang="en-US" i="1"/>
              <a:t>message to another process </a:t>
            </a:r>
            <a:r>
              <a:rPr lang="en-US"/>
              <a:t>designated by a </a:t>
            </a:r>
            <a:r>
              <a:rPr lang="en-US" i="1"/>
              <a:t>destination . A process receives information by executing the </a:t>
            </a:r>
            <a:r>
              <a:rPr lang="en-US"/>
              <a:t>receive primitive, indicating the </a:t>
            </a:r>
            <a:r>
              <a:rPr lang="en-US" i="1"/>
              <a:t>source and the message .</a:t>
            </a:r>
            <a:endParaRPr lang="en-US"/>
          </a:p>
        </p:txBody>
      </p:sp>
      <p:sp>
        <p:nvSpPr>
          <p:cNvPr id="4" name="Slide Number Placeholder 3"/>
          <p:cNvSpPr>
            <a:spLocks noGrp="1"/>
          </p:cNvSpPr>
          <p:nvPr>
            <p:ph type="sldNum" sz="quarter" idx="5"/>
          </p:nvPr>
        </p:nvSpPr>
        <p:spPr/>
        <p:txBody>
          <a:bodyPr/>
          <a:lstStyle/>
          <a:p>
            <a:pPr>
              <a:defRPr/>
            </a:pPr>
            <a:fld id="{456FC270-A535-4631-9AFA-9E482C57C2FD}" type="slidenum">
              <a:rPr lang="en-US" smtClean="0"/>
              <a:pPr>
                <a:defRPr/>
              </a:pPr>
              <a:t>85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5" name="Slide Image Placeholder 1"/>
          <p:cNvSpPr>
            <a:spLocks noGrp="1" noRot="1" noChangeAspect="1"/>
          </p:cNvSpPr>
          <p:nvPr>
            <p:ph type="sldImg"/>
          </p:nvPr>
        </p:nvSpPr>
        <p:spPr bwMode="auto">
          <a:noFill/>
          <a:ln>
            <a:solidFill>
              <a:srgbClr val="000000"/>
            </a:solidFill>
            <a:miter lim="800000"/>
            <a:headEnd/>
            <a:tailEnd/>
          </a:ln>
        </p:spPr>
      </p:sp>
      <p:sp>
        <p:nvSpPr>
          <p:cNvPr id="36966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A number of design issues relating to message-passing systems are listed in Table 5.5 , and examined in the remainder of this section.</a:t>
            </a:r>
          </a:p>
        </p:txBody>
      </p:sp>
      <p:sp>
        <p:nvSpPr>
          <p:cNvPr id="4" name="Slide Number Placeholder 3"/>
          <p:cNvSpPr>
            <a:spLocks noGrp="1"/>
          </p:cNvSpPr>
          <p:nvPr>
            <p:ph type="sldNum" sz="quarter" idx="5"/>
          </p:nvPr>
        </p:nvSpPr>
        <p:spPr/>
        <p:txBody>
          <a:bodyPr/>
          <a:lstStyle/>
          <a:p>
            <a:pPr>
              <a:defRPr/>
            </a:pPr>
            <a:fld id="{F5DDC41D-A2E2-404F-B748-C2B93AC8E714}" type="slidenum">
              <a:rPr lang="en-US" smtClean="0"/>
              <a:pPr>
                <a:defRPr/>
              </a:pPr>
              <a:t>86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3" name="Slide Image Placeholder 1"/>
          <p:cNvSpPr>
            <a:spLocks noGrp="1" noRot="1" noChangeAspect="1"/>
          </p:cNvSpPr>
          <p:nvPr>
            <p:ph type="sldImg"/>
          </p:nvPr>
        </p:nvSpPr>
        <p:spPr bwMode="auto">
          <a:noFill/>
          <a:ln>
            <a:solidFill>
              <a:srgbClr val="000000"/>
            </a:solidFill>
            <a:miter lim="800000"/>
            <a:headEnd/>
            <a:tailEnd/>
          </a:ln>
        </p:spPr>
      </p:sp>
      <p:sp>
        <p:nvSpPr>
          <p:cNvPr id="37171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The communication of a message between two processes implies some level of synchronization between the two: The receiver cannot receive a message until it has been sent by another process. In addition, we need to specify what happens to a process after it issues a send or receive primitive. Consider the send primitive first. When a send primitive is executed in a process, there are two possibilities: Either the sending process is blocked until the message is received, or it is not. Similarly, when a process issues a receive primitive, there are two possibilities:</a:t>
            </a:r>
          </a:p>
          <a:p>
            <a:r>
              <a:rPr lang="en-US"/>
              <a:t>1. If a message has previously been sent, the message is received and execution continues.</a:t>
            </a:r>
          </a:p>
          <a:p>
            <a:r>
              <a:rPr lang="en-US"/>
              <a:t>2. If there is no waiting message, then either (a) the process is blocked until</a:t>
            </a:r>
            <a:r>
              <a:rPr lang="en-US" b="1"/>
              <a:t> </a:t>
            </a:r>
            <a:r>
              <a:rPr lang="en-US"/>
              <a:t>a message arrives, or (b) the process continues to execute, abandoning the attempt to receive.</a:t>
            </a:r>
          </a:p>
        </p:txBody>
      </p:sp>
      <p:sp>
        <p:nvSpPr>
          <p:cNvPr id="4" name="Slide Number Placeholder 3"/>
          <p:cNvSpPr>
            <a:spLocks noGrp="1"/>
          </p:cNvSpPr>
          <p:nvPr>
            <p:ph type="sldNum" sz="quarter" idx="5"/>
          </p:nvPr>
        </p:nvSpPr>
        <p:spPr/>
        <p:txBody>
          <a:bodyPr/>
          <a:lstStyle/>
          <a:p>
            <a:pPr>
              <a:defRPr/>
            </a:pPr>
            <a:fld id="{6C4B37DA-CDE2-4FCE-B3AD-0174287117D2}" type="slidenum">
              <a:rPr lang="en-US" smtClean="0"/>
              <a:pPr>
                <a:defRPr/>
              </a:pPr>
              <a:t>87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1" name="Slide Image Placeholder 1"/>
          <p:cNvSpPr>
            <a:spLocks noGrp="1" noRot="1" noChangeAspect="1"/>
          </p:cNvSpPr>
          <p:nvPr>
            <p:ph type="sldImg"/>
          </p:nvPr>
        </p:nvSpPr>
        <p:spPr bwMode="auto">
          <a:noFill/>
          <a:ln>
            <a:solidFill>
              <a:srgbClr val="000000"/>
            </a:solidFill>
            <a:miter lim="800000"/>
            <a:headEnd/>
            <a:tailEnd/>
          </a:ln>
        </p:spPr>
      </p:sp>
      <p:sp>
        <p:nvSpPr>
          <p:cNvPr id="37376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Thus, both the sender and receiver can be blocking or nonblocking. Three combinations are common, although any particular system will usually have only one or two combinations implemented:</a:t>
            </a:r>
          </a:p>
          <a:p>
            <a:endParaRPr lang="en-US"/>
          </a:p>
          <a:p>
            <a:r>
              <a:rPr lang="en-US"/>
              <a:t>• </a:t>
            </a:r>
            <a:r>
              <a:rPr lang="en-US" b="1"/>
              <a:t>Blocking send, blocking receive: </a:t>
            </a:r>
            <a:r>
              <a:rPr lang="en-US"/>
              <a:t>Both the sender and receiver are blocked until the message is delivered; this is sometimes referred to as a </a:t>
            </a:r>
            <a:r>
              <a:rPr lang="en-US" i="1"/>
              <a:t>rendezvous . This </a:t>
            </a:r>
            <a:r>
              <a:rPr lang="en-US"/>
              <a:t>combination allows for tight synchronization between processes.</a:t>
            </a:r>
            <a:endParaRPr lang="en-NZ"/>
          </a:p>
        </p:txBody>
      </p:sp>
      <p:sp>
        <p:nvSpPr>
          <p:cNvPr id="4" name="Slide Number Placeholder 3"/>
          <p:cNvSpPr>
            <a:spLocks noGrp="1"/>
          </p:cNvSpPr>
          <p:nvPr>
            <p:ph type="sldNum" sz="quarter" idx="5"/>
          </p:nvPr>
        </p:nvSpPr>
        <p:spPr/>
        <p:txBody>
          <a:bodyPr/>
          <a:lstStyle/>
          <a:p>
            <a:pPr>
              <a:defRPr/>
            </a:pPr>
            <a:fld id="{38A4F9D4-83C4-47D3-B703-A3BF64BB060C}" type="slidenum">
              <a:rPr lang="en-US" smtClean="0"/>
              <a:pPr>
                <a:defRPr/>
              </a:pPr>
              <a:t>88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09" name="Slide Image Placeholder 1"/>
          <p:cNvSpPr>
            <a:spLocks noGrp="1" noRot="1" noChangeAspect="1"/>
          </p:cNvSpPr>
          <p:nvPr>
            <p:ph type="sldImg"/>
          </p:nvPr>
        </p:nvSpPr>
        <p:spPr bwMode="auto">
          <a:noFill/>
          <a:ln>
            <a:solidFill>
              <a:srgbClr val="000000"/>
            </a:solidFill>
            <a:miter lim="800000"/>
            <a:headEnd/>
            <a:tailEnd/>
          </a:ln>
        </p:spPr>
      </p:sp>
      <p:sp>
        <p:nvSpPr>
          <p:cNvPr id="375810" name="Notes Placeholder 2"/>
          <p:cNvSpPr>
            <a:spLocks noGrp="1"/>
          </p:cNvSpPr>
          <p:nvPr>
            <p:ph type="body" idx="1"/>
          </p:nvPr>
        </p:nvSpPr>
        <p:spPr bwMode="auto">
          <a:noFill/>
        </p:spPr>
        <p:txBody>
          <a:bodyPr wrap="square" numCol="1" anchor="t" anchorCtr="0" compatLnSpc="1">
            <a:prstTxWarp prst="textNoShape">
              <a:avLst/>
            </a:prstTxWarp>
            <a:normAutofit fontScale="85000" lnSpcReduction="20000"/>
          </a:bodyPr>
          <a:lstStyle/>
          <a:p>
            <a:r>
              <a:rPr lang="en-US" b="1"/>
              <a:t>Nonblocking send, blocking receive: </a:t>
            </a:r>
            <a:r>
              <a:rPr lang="en-US"/>
              <a:t>Although the sender may continue on, the receiver is blocked until the requested message arrives. This is probably the most useful combination. It allows a process to send one or more messages to a variety of destinations as quickly as possible. A process that must receive a message before it can do useful work needs to be blocked until such a message arrives. An example is a server process that exists to provide a service or resource to other processes.</a:t>
            </a:r>
          </a:p>
          <a:p>
            <a:endParaRPr lang="en-US"/>
          </a:p>
          <a:p>
            <a:r>
              <a:rPr lang="en-US"/>
              <a:t>• </a:t>
            </a:r>
            <a:r>
              <a:rPr lang="en-US" b="1"/>
              <a:t>Nonblocking send, nonblocking receive: </a:t>
            </a:r>
            <a:r>
              <a:rPr lang="en-US"/>
              <a:t>Neither party is required to wait.</a:t>
            </a:r>
          </a:p>
          <a:p>
            <a:endParaRPr lang="en-US"/>
          </a:p>
          <a:p>
            <a:r>
              <a:rPr lang="en-US"/>
              <a:t>The nonblocking send is more natural for many concurrent programming tasks. For example, if it is used to request an output operation, such as printing, it allows the requesting process to issue the request in the form of a message and then carry on. One potential danger of the nonblocking send is that an error could lead to a situation in which a process repeatedly generates messages. Because there is no blocking to discipline the process, these messages could consume system resources, including processor time and buffer space, to the detriment of other processes and the OS. Also, the nonblocking send places the burden on the programmer to determine that a message has been received: Processes must employ reply messages to acknowledge receipt of a message. </a:t>
            </a:r>
          </a:p>
          <a:p>
            <a:endParaRPr lang="en-US"/>
          </a:p>
          <a:p>
            <a:r>
              <a:rPr lang="en-US"/>
              <a:t>For the receive primitive, the blocking version appears to be more natural for many concurrent programming tasks. Generally, a process that requests a message will need the expected information before proceeding. However, if a message is lost, which can happen in a distributed system, or if a process fails before it sends an anticipated message, a receiving process could be blocked indefinitely. This problem can be solved by the use of the nonblocking receive . However, the danger of this approach is that if a message is sent after a process has already executed a matching receive , the message will be lost. Other possible approaches are to allow a process to test whether a message is waiting before issuing a receive and</a:t>
            </a:r>
          </a:p>
          <a:p>
            <a:r>
              <a:rPr lang="en-US"/>
              <a:t>allow a process to specify more than one source in a receive primitive. The latter approach is useful if a process is waiting for messages from more than one source</a:t>
            </a:r>
          </a:p>
          <a:p>
            <a:r>
              <a:rPr lang="en-US"/>
              <a:t>and can proceed if any of these messages arrive.</a:t>
            </a:r>
          </a:p>
        </p:txBody>
      </p:sp>
      <p:sp>
        <p:nvSpPr>
          <p:cNvPr id="4" name="Slide Number Placeholder 3"/>
          <p:cNvSpPr>
            <a:spLocks noGrp="1"/>
          </p:cNvSpPr>
          <p:nvPr>
            <p:ph type="sldNum" sz="quarter" idx="5"/>
          </p:nvPr>
        </p:nvSpPr>
        <p:spPr/>
        <p:txBody>
          <a:bodyPr/>
          <a:lstStyle/>
          <a:p>
            <a:pPr>
              <a:defRPr/>
            </a:pPr>
            <a:fld id="{FCA75422-3AE3-4697-90F0-60AAF728BA12}" type="slidenum">
              <a:rPr lang="en-US" smtClean="0"/>
              <a:pPr>
                <a:defRPr/>
              </a:pPr>
              <a:t>89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7" name="Slide Image Placeholder 1"/>
          <p:cNvSpPr>
            <a:spLocks noGrp="1" noRot="1" noChangeAspect="1"/>
          </p:cNvSpPr>
          <p:nvPr>
            <p:ph type="sldImg"/>
          </p:nvPr>
        </p:nvSpPr>
        <p:spPr bwMode="auto">
          <a:noFill/>
          <a:ln>
            <a:solidFill>
              <a:srgbClr val="000000"/>
            </a:solidFill>
            <a:miter lim="800000"/>
            <a:headEnd/>
            <a:tailEnd/>
          </a:ln>
        </p:spPr>
      </p:sp>
      <p:sp>
        <p:nvSpPr>
          <p:cNvPr id="37785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Clearly, it is necessary to have a way of specifying in the send primitive which process is to receive the message. Similarly, most implementations allow a receiving process to indicate the source of a message to be received.</a:t>
            </a:r>
          </a:p>
          <a:p>
            <a:endParaRPr lang="en-US"/>
          </a:p>
          <a:p>
            <a:r>
              <a:rPr lang="en-US"/>
              <a:t>The various schemes for specifying processes in send and receive primitives fall into two categories: direct addressing and indirect addressing. </a:t>
            </a:r>
          </a:p>
        </p:txBody>
      </p:sp>
      <p:sp>
        <p:nvSpPr>
          <p:cNvPr id="4" name="Slide Number Placeholder 3"/>
          <p:cNvSpPr>
            <a:spLocks noGrp="1"/>
          </p:cNvSpPr>
          <p:nvPr>
            <p:ph type="sldNum" sz="quarter" idx="5"/>
          </p:nvPr>
        </p:nvSpPr>
        <p:spPr/>
        <p:txBody>
          <a:bodyPr/>
          <a:lstStyle/>
          <a:p>
            <a:pPr>
              <a:defRPr/>
            </a:pPr>
            <a:fld id="{242B9B41-7AFB-460F-A184-28B830A7163E}" type="slidenum">
              <a:rPr lang="en-US" smtClean="0"/>
              <a:pPr>
                <a:defRPr/>
              </a:pPr>
              <a:t>90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5" name="Slide Image Placeholder 1"/>
          <p:cNvSpPr>
            <a:spLocks noGrp="1" noRot="1" noChangeAspect="1"/>
          </p:cNvSpPr>
          <p:nvPr>
            <p:ph type="sldImg"/>
          </p:nvPr>
        </p:nvSpPr>
        <p:spPr bwMode="auto">
          <a:noFill/>
          <a:ln>
            <a:solidFill>
              <a:srgbClr val="000000"/>
            </a:solidFill>
            <a:miter lim="800000"/>
            <a:headEnd/>
            <a:tailEnd/>
          </a:ln>
        </p:spPr>
      </p:sp>
      <p:sp>
        <p:nvSpPr>
          <p:cNvPr id="37990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With direct addressing , the send primitive includes a specific identifier of the destination process. The receive primitive can be handled in one of two ways. One possibility is to require that the process explicitly designate a sending process. Thus, the process must know ahead of time from which process a message is expected. This will often be effective for cooperating concurrent processes. In other cases, however, it is impossible to specify the anticipated source process. An example is a printer server process, which will accept a print request message from any other process. For such applications, a more effective approach is the use of implicit addressing. In this case, the </a:t>
            </a:r>
            <a:r>
              <a:rPr lang="en-US" i="1"/>
              <a:t>source parameter of the receive primitive possesses a value returned </a:t>
            </a:r>
            <a:r>
              <a:rPr lang="en-US"/>
              <a:t>when the receive operation has been performed.</a:t>
            </a:r>
          </a:p>
          <a:p>
            <a:endParaRPr lang="en-US"/>
          </a:p>
        </p:txBody>
      </p:sp>
      <p:sp>
        <p:nvSpPr>
          <p:cNvPr id="4" name="Slide Number Placeholder 3"/>
          <p:cNvSpPr>
            <a:spLocks noGrp="1"/>
          </p:cNvSpPr>
          <p:nvPr>
            <p:ph type="sldNum" sz="quarter" idx="5"/>
          </p:nvPr>
        </p:nvSpPr>
        <p:spPr/>
        <p:txBody>
          <a:bodyPr/>
          <a:lstStyle/>
          <a:p>
            <a:pPr>
              <a:defRPr/>
            </a:pPr>
            <a:fld id="{4B6928EC-65CA-4EC7-9ECE-A68D2E225431}" type="slidenum">
              <a:rPr lang="en-US" smtClean="0"/>
              <a:pPr>
                <a:defRPr/>
              </a:pPr>
              <a:t>91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3" name="Slide Image Placeholder 1"/>
          <p:cNvSpPr>
            <a:spLocks noGrp="1" noRot="1" noChangeAspect="1"/>
          </p:cNvSpPr>
          <p:nvPr>
            <p:ph type="sldImg"/>
          </p:nvPr>
        </p:nvSpPr>
        <p:spPr bwMode="auto">
          <a:noFill/>
          <a:ln>
            <a:solidFill>
              <a:srgbClr val="000000"/>
            </a:solidFill>
            <a:miter lim="800000"/>
            <a:headEnd/>
            <a:tailEnd/>
          </a:ln>
        </p:spPr>
      </p:sp>
      <p:sp>
        <p:nvSpPr>
          <p:cNvPr id="38195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The other general approach is </a:t>
            </a:r>
            <a:r>
              <a:rPr lang="en-US" b="1"/>
              <a:t>indirect addressing . </a:t>
            </a:r>
            <a:r>
              <a:rPr lang="en-US"/>
              <a:t>In this case, messages are</a:t>
            </a:r>
            <a:r>
              <a:rPr lang="en-US" b="1"/>
              <a:t> </a:t>
            </a:r>
            <a:r>
              <a:rPr lang="en-US"/>
              <a:t>not sent directly from sender to receiver but rather are sent to a shared data structure consisting of queues that can temporarily hold messages. Such queues are generally referred to as </a:t>
            </a:r>
            <a:r>
              <a:rPr lang="en-US" i="1"/>
              <a:t>mailboxes . Thus, for two processes to communicate, one process </a:t>
            </a:r>
            <a:r>
              <a:rPr lang="en-US"/>
              <a:t>sends a message to the appropriate mailbox and the other process picks up the message from the mailbox.</a:t>
            </a:r>
          </a:p>
          <a:p>
            <a:endParaRPr lang="en-US"/>
          </a:p>
          <a:p>
            <a:r>
              <a:rPr lang="en-US"/>
              <a:t>A strength of the use of indirect addressing is that, by decoupling the sender and receiver, it allows for greater flexibility in the use of messages.</a:t>
            </a:r>
          </a:p>
        </p:txBody>
      </p:sp>
      <p:sp>
        <p:nvSpPr>
          <p:cNvPr id="4" name="Slide Number Placeholder 3"/>
          <p:cNvSpPr>
            <a:spLocks noGrp="1"/>
          </p:cNvSpPr>
          <p:nvPr>
            <p:ph type="sldNum" sz="quarter" idx="5"/>
          </p:nvPr>
        </p:nvSpPr>
        <p:spPr/>
        <p:txBody>
          <a:bodyPr/>
          <a:lstStyle/>
          <a:p>
            <a:pPr>
              <a:defRPr/>
            </a:pPr>
            <a:fld id="{EA7EC2CC-230B-4D56-BEEC-0D819C6F00C6}" type="slidenum">
              <a:rPr lang="en-US" smtClean="0"/>
              <a:pPr>
                <a:defRPr/>
              </a:pPr>
              <a:t>92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1" name="Slide Image Placeholder 1"/>
          <p:cNvSpPr>
            <a:spLocks noGrp="1" noRot="1" noChangeAspect="1"/>
          </p:cNvSpPr>
          <p:nvPr>
            <p:ph type="sldImg"/>
          </p:nvPr>
        </p:nvSpPr>
        <p:spPr bwMode="auto">
          <a:noFill/>
          <a:ln>
            <a:solidFill>
              <a:srgbClr val="000000"/>
            </a:solidFill>
            <a:miter lim="800000"/>
            <a:headEnd/>
            <a:tailEnd/>
          </a:ln>
        </p:spPr>
      </p:sp>
      <p:sp>
        <p:nvSpPr>
          <p:cNvPr id="384002" name="Notes Placeholder 2"/>
          <p:cNvSpPr>
            <a:spLocks noGrp="1"/>
          </p:cNvSpPr>
          <p:nvPr>
            <p:ph type="body" idx="1"/>
          </p:nvPr>
        </p:nvSpPr>
        <p:spPr bwMode="auto">
          <a:noFill/>
        </p:spPr>
        <p:txBody>
          <a:bodyPr wrap="square" numCol="1" anchor="t" anchorCtr="0" compatLnSpc="1">
            <a:prstTxWarp prst="textNoShape">
              <a:avLst/>
            </a:prstTxWarp>
            <a:normAutofit fontScale="70000" lnSpcReduction="20000"/>
          </a:bodyPr>
          <a:lstStyle/>
          <a:p>
            <a:r>
              <a:rPr lang="en-US" dirty="0"/>
              <a:t>The relationship between senders and receivers can be one to one, many to one, one to many, or many to many ( Figure 5.18 ). A </a:t>
            </a:r>
            <a:r>
              <a:rPr lang="en-US" b="1" dirty="0"/>
              <a:t>one-to-one </a:t>
            </a:r>
            <a:r>
              <a:rPr lang="en-US" dirty="0"/>
              <a:t>relationship allows a private communications link to be set up between two processes. This insulates their interaction from erroneous interference from other processes. A </a:t>
            </a:r>
            <a:r>
              <a:rPr lang="en-US" b="1" dirty="0"/>
              <a:t>many-to-one </a:t>
            </a:r>
            <a:r>
              <a:rPr lang="en-US" dirty="0"/>
              <a:t>relationship is useful</a:t>
            </a:r>
          </a:p>
          <a:p>
            <a:r>
              <a:rPr lang="en-US" dirty="0"/>
              <a:t>for client/server interaction; one process provides service to a number of other processes. In this case, the mailbox is often referred to as a </a:t>
            </a:r>
            <a:r>
              <a:rPr lang="en-US" i="1" dirty="0"/>
              <a:t>port . A </a:t>
            </a:r>
            <a:r>
              <a:rPr lang="en-US" b="1" i="1" dirty="0"/>
              <a:t>one-to-many </a:t>
            </a:r>
            <a:r>
              <a:rPr lang="en-US" dirty="0"/>
              <a:t>relationship allows for one sender and multiple receivers; it is useful for applications where a message or some information is to be broadcast to a set of processes. A </a:t>
            </a:r>
            <a:r>
              <a:rPr lang="en-US" b="1" dirty="0"/>
              <a:t>many-to-many </a:t>
            </a:r>
            <a:r>
              <a:rPr lang="en-US" dirty="0"/>
              <a:t>relationship allows multiple server processes to provide concurrent service to multiple clients.</a:t>
            </a:r>
          </a:p>
          <a:p>
            <a:endParaRPr lang="en-NZ" b="1" dirty="0"/>
          </a:p>
          <a:p>
            <a:r>
              <a:rPr lang="en-NZ" b="1" dirty="0"/>
              <a:t>1) A one-to-one relationship </a:t>
            </a:r>
          </a:p>
          <a:p>
            <a:pPr lvl="1">
              <a:buFontTx/>
              <a:buChar char="•"/>
            </a:pPr>
            <a:r>
              <a:rPr lang="en-NZ" b="1" dirty="0"/>
              <a:t> </a:t>
            </a:r>
            <a:r>
              <a:rPr lang="en-NZ" dirty="0"/>
              <a:t>allows a private communications link to be set up between two processes. </a:t>
            </a:r>
          </a:p>
          <a:p>
            <a:pPr lvl="1">
              <a:buFontTx/>
              <a:buChar char="•"/>
            </a:pPr>
            <a:r>
              <a:rPr lang="en-NZ" dirty="0"/>
              <a:t>This insulates their interaction from erroneous interference from other processes.</a:t>
            </a:r>
          </a:p>
          <a:p>
            <a:endParaRPr lang="en-NZ" dirty="0"/>
          </a:p>
          <a:p>
            <a:r>
              <a:rPr lang="en-NZ" b="1" dirty="0"/>
              <a:t>2) A many-to-one relationship is useful for client/server interaction;</a:t>
            </a:r>
          </a:p>
          <a:p>
            <a:pPr lvl="1">
              <a:buFontTx/>
              <a:buChar char="•"/>
            </a:pPr>
            <a:r>
              <a:rPr lang="en-NZ" dirty="0"/>
              <a:t> one process provides service to a number of other processes. </a:t>
            </a:r>
          </a:p>
          <a:p>
            <a:pPr lvl="1">
              <a:buFontTx/>
              <a:buChar char="•"/>
            </a:pPr>
            <a:r>
              <a:rPr lang="en-NZ" dirty="0"/>
              <a:t> In this case, the mailbox is often referred to as a </a:t>
            </a:r>
            <a:r>
              <a:rPr lang="en-NZ" i="1" dirty="0"/>
              <a:t>port.</a:t>
            </a:r>
          </a:p>
          <a:p>
            <a:endParaRPr lang="en-NZ" b="1" dirty="0"/>
          </a:p>
          <a:p>
            <a:r>
              <a:rPr lang="en-NZ" b="1" dirty="0"/>
              <a:t>3) A one-to-many relationship allows for one sender and multiple receivers; </a:t>
            </a:r>
          </a:p>
          <a:p>
            <a:pPr lvl="1">
              <a:buFontTx/>
              <a:buChar char="•"/>
            </a:pPr>
            <a:r>
              <a:rPr lang="en-NZ" b="1" dirty="0"/>
              <a:t> </a:t>
            </a:r>
            <a:r>
              <a:rPr lang="en-NZ" dirty="0"/>
              <a:t>it is useful for applications where a message or some information is to be broadcast to a set of processes.</a:t>
            </a:r>
          </a:p>
          <a:p>
            <a:endParaRPr lang="en-NZ" dirty="0"/>
          </a:p>
          <a:p>
            <a:r>
              <a:rPr lang="en-NZ" b="1" dirty="0"/>
              <a:t>4) A many-to-many relationship </a:t>
            </a:r>
          </a:p>
          <a:p>
            <a:pPr lvl="1">
              <a:buFontTx/>
              <a:buChar char="•"/>
            </a:pPr>
            <a:r>
              <a:rPr lang="en-NZ" dirty="0"/>
              <a:t>allows multiple server processes to provide concurrent service to multiple clients.</a:t>
            </a:r>
          </a:p>
          <a:p>
            <a:endParaRPr lang="en-US" dirty="0"/>
          </a:p>
          <a:p>
            <a:r>
              <a:rPr lang="en-US" dirty="0"/>
              <a:t>The association of processes to mailboxes can be either static or dynamic. Ports are often statically associated with a particular process; that is, the port is created and assigned to the process permanently. Similarly, a one-to-one relationship is typically defined statically and permanently. When there are many senders, the association of a sender to a mailbox may occur dynamically. Primitives such as connect and disconnect may be used for this purpose.</a:t>
            </a:r>
          </a:p>
          <a:p>
            <a:endParaRPr lang="en-US" dirty="0"/>
          </a:p>
          <a:p>
            <a:r>
              <a:rPr lang="en-US" dirty="0"/>
              <a:t>A related issue has to do with the ownership of a mailbox. In the case of a port, it is typically owned by and created by the receiving process. Thus, when the process is destroyed, the port is also destroyed. For the general mailbox case, the OS may offer a create-mailbox service. Such mailboxes can be viewed either as being owned by the creating process, in which case they terminate with the process, or as being owned by the OS, in which case an explicit command will be required to destroy the mailbox.</a:t>
            </a:r>
          </a:p>
        </p:txBody>
      </p:sp>
      <p:sp>
        <p:nvSpPr>
          <p:cNvPr id="4" name="Slide Number Placeholder 3"/>
          <p:cNvSpPr>
            <a:spLocks noGrp="1"/>
          </p:cNvSpPr>
          <p:nvPr>
            <p:ph type="sldNum" sz="quarter" idx="5"/>
          </p:nvPr>
        </p:nvSpPr>
        <p:spPr/>
        <p:txBody>
          <a:bodyPr/>
          <a:lstStyle/>
          <a:p>
            <a:pPr>
              <a:defRPr/>
            </a:pPr>
            <a:fld id="{4E375DF9-93D5-4E84-B8CD-9B6FEC0B0597}" type="slidenum">
              <a:rPr lang="en-US" smtClean="0"/>
              <a:pPr>
                <a:defRPr/>
              </a:pPr>
              <a:t>93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49" name="Slide Image Placeholder 1"/>
          <p:cNvSpPr>
            <a:spLocks noGrp="1" noRot="1" noChangeAspect="1"/>
          </p:cNvSpPr>
          <p:nvPr>
            <p:ph type="sldImg"/>
          </p:nvPr>
        </p:nvSpPr>
        <p:spPr bwMode="auto">
          <a:noFill/>
          <a:ln>
            <a:solidFill>
              <a:srgbClr val="000000"/>
            </a:solidFill>
            <a:miter lim="800000"/>
            <a:headEnd/>
            <a:tailEnd/>
          </a:ln>
        </p:spPr>
      </p:sp>
      <p:sp>
        <p:nvSpPr>
          <p:cNvPr id="38605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The format of the message depends on the objectives of the messaging facility and whether the facility runs on a single computer or on a distributed system. For some</a:t>
            </a:r>
          </a:p>
          <a:p>
            <a:r>
              <a:rPr lang="en-US" dirty="0"/>
              <a:t>operating systems, designers have preferred short, fixed-length messages to minimize processing and storage overhead. If a large amount of data is to be passed, the data can be placed in a file and the message then simply references that file. A more flexible approach is to allow variable-length messages.</a:t>
            </a:r>
          </a:p>
          <a:p>
            <a:endParaRPr lang="en-US" dirty="0"/>
          </a:p>
          <a:p>
            <a:r>
              <a:rPr lang="en-US" dirty="0"/>
              <a:t>Figure 5.19 shows a typical message format for operating systems that support variable-length messages.</a:t>
            </a:r>
            <a:endParaRPr lang="en-NZ" dirty="0"/>
          </a:p>
          <a:p>
            <a:r>
              <a:rPr lang="en-NZ" dirty="0"/>
              <a:t>The message is divided into two parts: </a:t>
            </a:r>
          </a:p>
          <a:p>
            <a:pPr lvl="1"/>
            <a:r>
              <a:rPr lang="en-NZ" b="1" dirty="0"/>
              <a:t>a header</a:t>
            </a:r>
            <a:r>
              <a:rPr lang="en-NZ" dirty="0"/>
              <a:t>, which contains information about the message. </a:t>
            </a:r>
          </a:p>
          <a:p>
            <a:pPr lvl="2">
              <a:buFontTx/>
              <a:buChar char="•"/>
            </a:pPr>
            <a:r>
              <a:rPr lang="en-NZ" dirty="0"/>
              <a:t> The header may contain an identification of the source and intended destination of the message, a length field, and a type field to discriminate among various types of messages.</a:t>
            </a:r>
          </a:p>
          <a:p>
            <a:pPr lvl="2">
              <a:buFontTx/>
              <a:buChar char="•"/>
            </a:pPr>
            <a:r>
              <a:rPr lang="en-NZ" dirty="0"/>
              <a:t>additional control information, e.g. pointer field so a linked list of messages can be created; a sequence number, to keep track of the number and order of messages passed between source and destination; and a priority field.</a:t>
            </a:r>
          </a:p>
          <a:p>
            <a:pPr lvl="1"/>
            <a:r>
              <a:rPr lang="en-NZ" b="1" dirty="0"/>
              <a:t>a body</a:t>
            </a:r>
            <a:r>
              <a:rPr lang="en-NZ" dirty="0"/>
              <a:t>, which contains the actual contents of the message.</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4232CF85-BE63-4C1E-BE50-BC7FA3999AEE}" type="slidenum">
              <a:rPr lang="en-US" smtClean="0"/>
              <a:pPr>
                <a:defRPr/>
              </a:pPr>
              <a:t>94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7" name="Slide Image Placeholder 1"/>
          <p:cNvSpPr>
            <a:spLocks noGrp="1" noRot="1" noChangeAspect="1"/>
          </p:cNvSpPr>
          <p:nvPr>
            <p:ph type="sldImg"/>
          </p:nvPr>
        </p:nvSpPr>
        <p:spPr bwMode="auto">
          <a:noFill/>
          <a:ln>
            <a:solidFill>
              <a:srgbClr val="000000"/>
            </a:solidFill>
            <a:miter lim="800000"/>
            <a:headEnd/>
            <a:tailEnd/>
          </a:ln>
        </p:spPr>
      </p:sp>
      <p:sp>
        <p:nvSpPr>
          <p:cNvPr id="38809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Figure 5.20 shows one way in which message passing can be used to enforce mutual exclusion (compare Figures 5.1 , 5.2 , and 5.6 ). We assume the use of the blocking receive primitive and the </a:t>
            </a:r>
            <a:r>
              <a:rPr lang="en-US" dirty="0" err="1"/>
              <a:t>nonblocking</a:t>
            </a:r>
            <a:r>
              <a:rPr lang="en-US" dirty="0"/>
              <a:t> send primitive. A set of concurrent processes share a mailbox, box , which can be used by all processes to send and receive.</a:t>
            </a:r>
          </a:p>
          <a:p>
            <a:endParaRPr lang="en-US" dirty="0"/>
          </a:p>
          <a:p>
            <a:r>
              <a:rPr lang="en-US" dirty="0"/>
              <a:t>The mailbox is initialized to contain a single message with null content. A process wishing to enter its critical section first attempts to receive a message. If the mailbox is empty, then the process is blocked. Once a process has acquired the message, it performs its critical section and then places the message back into the mailbox. Thus, the message functions as a token that is passed from process to process.</a:t>
            </a:r>
          </a:p>
          <a:p>
            <a:endParaRPr lang="en-US" dirty="0"/>
          </a:p>
          <a:p>
            <a:r>
              <a:rPr lang="en-US" dirty="0"/>
              <a:t>The preceding solution assumes that if more than one process performs the receive operation concurrently, then:</a:t>
            </a:r>
          </a:p>
          <a:p>
            <a:r>
              <a:rPr lang="en-US" dirty="0"/>
              <a:t>• If there is a message, it is delivered to only one process and the others are</a:t>
            </a:r>
          </a:p>
          <a:p>
            <a:r>
              <a:rPr lang="en-US" dirty="0"/>
              <a:t>blocked, or</a:t>
            </a:r>
          </a:p>
          <a:p>
            <a:r>
              <a:rPr lang="en-US" dirty="0"/>
              <a:t>• If the message queue is empty, all processes are blocked; when a message is</a:t>
            </a:r>
          </a:p>
          <a:p>
            <a:r>
              <a:rPr lang="en-US" dirty="0"/>
              <a:t>available, only one blocked process is activated and given the message.</a:t>
            </a:r>
          </a:p>
          <a:p>
            <a:r>
              <a:rPr lang="en-US" dirty="0"/>
              <a:t>These assumptions are true of virtually all message-passing facilities.</a:t>
            </a:r>
          </a:p>
        </p:txBody>
      </p:sp>
      <p:sp>
        <p:nvSpPr>
          <p:cNvPr id="4" name="Slide Number Placeholder 3"/>
          <p:cNvSpPr>
            <a:spLocks noGrp="1"/>
          </p:cNvSpPr>
          <p:nvPr>
            <p:ph type="sldNum" sz="quarter" idx="5"/>
          </p:nvPr>
        </p:nvSpPr>
        <p:spPr/>
        <p:txBody>
          <a:bodyPr/>
          <a:lstStyle/>
          <a:p>
            <a:pPr>
              <a:defRPr/>
            </a:pPr>
            <a:fld id="{C5DC5F88-030E-4AA2-B2CB-5430B1DA22BC}" type="slidenum">
              <a:rPr lang="en-US" smtClean="0"/>
              <a:pPr>
                <a:defRPr/>
              </a:pPr>
              <a:t>95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5" name="Slide Image Placeholder 1"/>
          <p:cNvSpPr>
            <a:spLocks noGrp="1" noRot="1" noChangeAspect="1"/>
          </p:cNvSpPr>
          <p:nvPr>
            <p:ph type="sldImg"/>
          </p:nvPr>
        </p:nvSpPr>
        <p:spPr bwMode="auto">
          <a:noFill/>
          <a:ln>
            <a:solidFill>
              <a:srgbClr val="000000"/>
            </a:solidFill>
            <a:miter lim="800000"/>
            <a:headEnd/>
            <a:tailEnd/>
          </a:ln>
        </p:spPr>
      </p:sp>
      <p:sp>
        <p:nvSpPr>
          <p:cNvPr id="39014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As an example of the use of message passing, Figure 5.21 is a solution to the bounded-buffer producer/consumer problem. Using the basic mutual-exclusion power of message passing, the problem could have been solved with an algorithmic structure similar to that of Figure 5.13 . Instead, the program of Figure 5.21 takes advantage of the ability of message passing to be used to pass data in addition to signals. Two mailboxes are used. As the producer generates data, it is sent as messages to the mailbox </a:t>
            </a:r>
            <a:r>
              <a:rPr lang="en-US" dirty="0" err="1"/>
              <a:t>mayconsume</a:t>
            </a:r>
            <a:r>
              <a:rPr lang="en-US" dirty="0"/>
              <a:t> . As long as there is at least one message in that mailbox, the consumer can consume. Hence </a:t>
            </a:r>
            <a:r>
              <a:rPr lang="en-US" dirty="0" err="1"/>
              <a:t>mayconsume</a:t>
            </a:r>
            <a:r>
              <a:rPr lang="en-US" dirty="0"/>
              <a:t> serves as the buffer; the data in the buffer are organized as a queue of messages. The “size” of the buffer is</a:t>
            </a:r>
          </a:p>
          <a:p>
            <a:r>
              <a:rPr lang="en-US" dirty="0"/>
              <a:t>determined by the global variable capacity . Initially, the mailbox </a:t>
            </a:r>
            <a:r>
              <a:rPr lang="en-US" dirty="0" err="1"/>
              <a:t>mayproduce</a:t>
            </a:r>
            <a:r>
              <a:rPr lang="en-US" dirty="0"/>
              <a:t> is filled with a number of null messages equal to the capacity of the buffer. The number of messages in </a:t>
            </a:r>
            <a:r>
              <a:rPr lang="en-US" dirty="0" err="1"/>
              <a:t>mayproduce</a:t>
            </a:r>
            <a:r>
              <a:rPr lang="en-US" dirty="0"/>
              <a:t> shrinks with each production and grows with each consumption. This approach is quite flexible. There may be multiple producers and consumers, as long as all have access to both mailboxes. The system may even be distributed, with all producer processes and the </a:t>
            </a:r>
            <a:r>
              <a:rPr lang="en-US" dirty="0" err="1"/>
              <a:t>mayproduce</a:t>
            </a:r>
            <a:r>
              <a:rPr lang="en-US" dirty="0"/>
              <a:t> mailbox at one site and all the consumer processes and the </a:t>
            </a:r>
            <a:r>
              <a:rPr lang="en-US" dirty="0" err="1"/>
              <a:t>mayconsume</a:t>
            </a:r>
            <a:r>
              <a:rPr lang="en-US" dirty="0"/>
              <a:t> mailbox at another.</a:t>
            </a:r>
          </a:p>
        </p:txBody>
      </p:sp>
      <p:sp>
        <p:nvSpPr>
          <p:cNvPr id="4" name="Slide Number Placeholder 3"/>
          <p:cNvSpPr>
            <a:spLocks noGrp="1"/>
          </p:cNvSpPr>
          <p:nvPr>
            <p:ph type="sldNum" sz="quarter" idx="5"/>
          </p:nvPr>
        </p:nvSpPr>
        <p:spPr/>
        <p:txBody>
          <a:bodyPr/>
          <a:lstStyle/>
          <a:p>
            <a:pPr>
              <a:defRPr/>
            </a:pPr>
            <a:fld id="{FD95071B-B33E-42A7-A38F-884E0B4133FF}" type="slidenum">
              <a:rPr lang="en-US" smtClean="0"/>
              <a:pPr>
                <a:defRPr/>
              </a:pPr>
              <a:t>96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2C574B7-A2E0-4D5B-83FC-4DA0D2C2A20F}" type="datetimeFigureOut">
              <a:rPr lang="en-US"/>
              <a:pPr>
                <a:defRPr/>
              </a:pPr>
              <a:t>10/28/2025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7896BEF-DC34-4F9A-8D62-151C4ACCEB55}"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CB82CA0-9645-41F6-8C16-5E4B45E40A3D}" type="datetimeFigureOut">
              <a:rPr lang="en-US"/>
              <a:pPr>
                <a:defRPr/>
              </a:pPr>
              <a:t>10/28/2025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C982C74-56B8-4BC7-80A5-AF861DE1C46B}"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55231070-AEFE-4A2C-B6CD-808AE701251D}" type="datetimeFigureOut">
              <a:rPr lang="en-US"/>
              <a:pPr>
                <a:defRPr/>
              </a:pPr>
              <a:t>10/28/2025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F20891E-3F73-451A-8A5D-B151339C506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7F04780-55E6-4505-B1E2-1ED5D6EEBF9F}" type="datetimeFigureOut">
              <a:rPr lang="en-US"/>
              <a:pPr>
                <a:defRPr/>
              </a:pPr>
              <a:t>10/28/2025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F9E535C-FB62-40BE-A2B5-4B8A4039FD2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F07584E-53AC-4893-AD1B-D4D24E43F1FB}" type="datetimeFigureOut">
              <a:rPr lang="en-US"/>
              <a:pPr>
                <a:defRPr/>
              </a:pPr>
              <a:t>10/28/2025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78A0068-B49D-4D64-8298-E0E3B535209C}"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9DC7F6A-4655-494F-BA7B-C15C35CAB948}" type="datetimeFigureOut">
              <a:rPr lang="en-US"/>
              <a:pPr>
                <a:defRPr/>
              </a:pPr>
              <a:t>10/28/2025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AF0618BB-FA8B-4B15-8F0C-1132021EF526}"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E5850A-CC8A-495B-820D-AAA0B1FD48C4}" type="datetimeFigureOut">
              <a:rPr lang="en-US"/>
              <a:pPr>
                <a:defRPr/>
              </a:pPr>
              <a:t>10/28/2025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76353E8-532C-4A98-887D-A6B9716AA902}"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C291DD9-2336-4F2D-A726-88337F40CB63}" type="datetimeFigureOut">
              <a:rPr lang="en-US"/>
              <a:pPr>
                <a:defRPr/>
              </a:pPr>
              <a:t>10/28/2025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4932A51-D45F-430E-8C3C-33E3079766BA}"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425FC8F-5CAE-4ABF-8C95-0B29F167FCF6}" type="datetimeFigureOut">
              <a:rPr lang="en-US"/>
              <a:pPr>
                <a:defRPr/>
              </a:pPr>
              <a:t>10/28/2025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D585D8D-DD8B-44AB-9F9D-3CA6AD07419D}"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68F2BF-4A6D-4D3E-8CCF-340F25624C66}" type="datetimeFigureOut">
              <a:rPr lang="en-US"/>
              <a:pPr>
                <a:defRPr/>
              </a:pPr>
              <a:t>10/28/2025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61CCBCD-A556-451B-8707-3B2E1C98A175}"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025181E-EA57-4C0A-978C-34B3035D4EAC}" type="datetimeFigureOut">
              <a:rPr lang="en-US"/>
              <a:pPr>
                <a:defRPr/>
              </a:pPr>
              <a:t>10/28/2025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591A80D-7C1E-425F-8390-6C528D35E33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4"/>
          </p:nvPr>
        </p:nvSpPr>
        <p:spPr/>
        <p:txBody>
          <a:bodyPr/>
          <a:lstStyle>
            <a:lvl1pPr>
              <a:defRPr/>
            </a:lvl1pPr>
          </a:lstStyle>
          <a:p>
            <a:pPr>
              <a:defRPr/>
            </a:pPr>
            <a:fld id="{5ED1AA5D-1A3F-4629-983B-A712889BB21B}" type="datetimeFigureOut">
              <a:rPr lang="en-US"/>
              <a:pPr>
                <a:defRPr/>
              </a:pPr>
              <a:t>10/28/2025</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CB7233BF-4060-4CD7-9CC3-01F9C64957E7}" type="slidenum">
              <a:rPr lang="en-US"/>
              <a:pPr>
                <a:defRPr/>
              </a:pPr>
              <a:t>‹#›</a:t>
            </a:fld>
            <a:endParaRPr lang="en-US" dirty="0"/>
          </a:p>
        </p:txBody>
      </p:sp>
    </p:spTree>
    <p:extLst>
      <p:ext uri="{BB962C8B-B14F-4D97-AF65-F5344CB8AC3E}">
        <p14:creationId xmlns:p14="http://schemas.microsoft.com/office/powerpoint/2010/main" val="72199219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42C574B7-A2E0-4D5B-83FC-4DA0D2C2A20F}" type="datetimeFigureOut">
              <a:rPr lang="en-US" smtClean="0"/>
              <a:pPr>
                <a:defRPr/>
              </a:pPr>
              <a:t>10/28/2025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7896BEF-DC34-4F9A-8D62-151C4ACCEB55}" type="slidenum">
              <a:rPr lang="en-US" smtClean="0"/>
              <a:pPr>
                <a:defRPr/>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771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DCB82CA0-9645-41F6-8C16-5E4B45E40A3D}" type="datetimeFigureOut">
              <a:rPr lang="en-US" smtClean="0"/>
              <a:pPr>
                <a:defRPr/>
              </a:pPr>
              <a:t>10/28/2025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C982C74-56B8-4BC7-80A5-AF861DE1C46B}" type="slidenum">
              <a:rPr lang="en-US" smtClean="0"/>
              <a:pPr>
                <a:defRPr/>
              </a:pPr>
              <a:t>‹#›</a:t>
            </a:fld>
            <a:endParaRPr lang="en-US" dirty="0"/>
          </a:p>
        </p:txBody>
      </p:sp>
    </p:spTree>
    <p:extLst>
      <p:ext uri="{BB962C8B-B14F-4D97-AF65-F5344CB8AC3E}">
        <p14:creationId xmlns:p14="http://schemas.microsoft.com/office/powerpoint/2010/main" val="172071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55231070-AEFE-4A2C-B6CD-808AE701251D}" type="datetimeFigureOut">
              <a:rPr lang="en-US" smtClean="0"/>
              <a:pPr>
                <a:defRPr/>
              </a:pPr>
              <a:t>10/28/2025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F20891E-3F73-451A-8A5D-B151339C506D}" type="slidenum">
              <a:rPr lang="en-US" smtClean="0"/>
              <a:pPr>
                <a:defRPr/>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1598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37F04780-55E6-4505-B1E2-1ED5D6EEBF9F}" type="datetimeFigureOut">
              <a:rPr lang="en-US" smtClean="0"/>
              <a:pPr>
                <a:defRPr/>
              </a:pPr>
              <a:t>10/28/2025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F9E535C-FB62-40BE-A2B5-4B8A4039FD20}" type="slidenum">
              <a:rPr lang="en-US" smtClean="0"/>
              <a:pPr>
                <a:defRPr/>
              </a:pPr>
              <a:t>‹#›</a:t>
            </a:fld>
            <a:endParaRPr lang="en-US" dirty="0"/>
          </a:p>
        </p:txBody>
      </p:sp>
    </p:spTree>
    <p:extLst>
      <p:ext uri="{BB962C8B-B14F-4D97-AF65-F5344CB8AC3E}">
        <p14:creationId xmlns:p14="http://schemas.microsoft.com/office/powerpoint/2010/main" val="4068103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EF07584E-53AC-4893-AD1B-D4D24E43F1FB}" type="datetimeFigureOut">
              <a:rPr lang="en-US" smtClean="0"/>
              <a:pPr>
                <a:defRPr/>
              </a:pPr>
              <a:t>10/28/2025</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78A0068-B49D-4D64-8298-E0E3B535209C}" type="slidenum">
              <a:rPr lang="en-US" smtClean="0"/>
              <a:pPr>
                <a:defRPr/>
              </a:pPr>
              <a:t>‹#›</a:t>
            </a:fld>
            <a:endParaRPr lang="en-US" dirty="0"/>
          </a:p>
        </p:txBody>
      </p:sp>
    </p:spTree>
    <p:extLst>
      <p:ext uri="{BB962C8B-B14F-4D97-AF65-F5344CB8AC3E}">
        <p14:creationId xmlns:p14="http://schemas.microsoft.com/office/powerpoint/2010/main" val="3718410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79DC7F6A-4655-494F-BA7B-C15C35CAB948}" type="datetimeFigureOut">
              <a:rPr lang="en-US" smtClean="0"/>
              <a:pPr>
                <a:defRPr/>
              </a:pPr>
              <a:t>10/28/2025</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AF0618BB-FA8B-4B15-8F0C-1132021EF526}" type="slidenum">
              <a:rPr lang="en-US" smtClean="0"/>
              <a:pPr>
                <a:defRPr/>
              </a:pPr>
              <a:t>‹#›</a:t>
            </a:fld>
            <a:endParaRPr lang="en-US" dirty="0"/>
          </a:p>
        </p:txBody>
      </p:sp>
    </p:spTree>
    <p:extLst>
      <p:ext uri="{BB962C8B-B14F-4D97-AF65-F5344CB8AC3E}">
        <p14:creationId xmlns:p14="http://schemas.microsoft.com/office/powerpoint/2010/main" val="3956797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F7E5850A-CC8A-495B-820D-AAA0B1FD48C4}" type="datetimeFigureOut">
              <a:rPr lang="en-US" smtClean="0"/>
              <a:pPr>
                <a:defRPr/>
              </a:pPr>
              <a:t>10/28/2025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376353E8-532C-4A98-887D-A6B9716AA902}" type="slidenum">
              <a:rPr lang="en-US" smtClean="0"/>
              <a:pPr>
                <a:defRPr/>
              </a:pPr>
              <a:t>‹#›</a:t>
            </a:fld>
            <a:endParaRPr lang="en-US" dirty="0"/>
          </a:p>
        </p:txBody>
      </p:sp>
    </p:spTree>
    <p:extLst>
      <p:ext uri="{BB962C8B-B14F-4D97-AF65-F5344CB8AC3E}">
        <p14:creationId xmlns:p14="http://schemas.microsoft.com/office/powerpoint/2010/main" val="659485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fld id="{FC291DD9-2336-4F2D-A726-88337F40CB63}" type="datetimeFigureOut">
              <a:rPr lang="en-US" smtClean="0"/>
              <a:pPr>
                <a:defRPr/>
              </a:pPr>
              <a:t>10/28/2025</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B4932A51-D45F-430E-8C3C-33E3079766BA}" type="slidenum">
              <a:rPr lang="en-US" smtClean="0"/>
              <a:pPr>
                <a:defRPr/>
              </a:pPr>
              <a:t>‹#›</a:t>
            </a:fld>
            <a:endParaRPr lang="en-US" dirty="0"/>
          </a:p>
        </p:txBody>
      </p:sp>
    </p:spTree>
    <p:extLst>
      <p:ext uri="{BB962C8B-B14F-4D97-AF65-F5344CB8AC3E}">
        <p14:creationId xmlns:p14="http://schemas.microsoft.com/office/powerpoint/2010/main" val="26844622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E425FC8F-5CAE-4ABF-8C95-0B29F167FCF6}" type="datetimeFigureOut">
              <a:rPr lang="en-US" smtClean="0"/>
              <a:pPr>
                <a:defRPr/>
              </a:pPr>
              <a:t>10/28/2025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D585D8D-DD8B-44AB-9F9D-3CA6AD07419D}" type="slidenum">
              <a:rPr lang="en-US" smtClean="0"/>
              <a:pPr>
                <a:defRPr/>
              </a:pPr>
              <a:t>‹#›</a:t>
            </a:fld>
            <a:endParaRPr lang="en-US" dirty="0"/>
          </a:p>
        </p:txBody>
      </p:sp>
    </p:spTree>
    <p:extLst>
      <p:ext uri="{BB962C8B-B14F-4D97-AF65-F5344CB8AC3E}">
        <p14:creationId xmlns:p14="http://schemas.microsoft.com/office/powerpoint/2010/main" val="35672227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0468F2BF-4A6D-4D3E-8CCF-340F25624C66}" type="datetimeFigureOut">
              <a:rPr lang="en-US" smtClean="0"/>
              <a:pPr>
                <a:defRPr/>
              </a:pPr>
              <a:t>10/28/2025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61CCBCD-A556-451B-8707-3B2E1C98A175}" type="slidenum">
              <a:rPr lang="en-US" smtClean="0"/>
              <a:pPr>
                <a:defRPr/>
              </a:pPr>
              <a:t>‹#›</a:t>
            </a:fld>
            <a:endParaRPr lang="en-US" dirty="0"/>
          </a:p>
        </p:txBody>
      </p:sp>
    </p:spTree>
    <p:extLst>
      <p:ext uri="{BB962C8B-B14F-4D97-AF65-F5344CB8AC3E}">
        <p14:creationId xmlns:p14="http://schemas.microsoft.com/office/powerpoint/2010/main" val="29318772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2025181E-EA57-4C0A-978C-34B3035D4EAC}" type="datetimeFigureOut">
              <a:rPr lang="en-US" smtClean="0"/>
              <a:pPr>
                <a:defRPr/>
              </a:pPr>
              <a:t>10/28/2025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591A80D-7C1E-425F-8390-6C528D35E337}" type="slidenum">
              <a:rPr lang="en-US" smtClean="0"/>
              <a:pPr>
                <a:defRPr/>
              </a:pPr>
              <a:t>‹#›</a:t>
            </a:fld>
            <a:endParaRPr lang="en-US" dirty="0"/>
          </a:p>
        </p:txBody>
      </p:sp>
    </p:spTree>
    <p:extLst>
      <p:ext uri="{BB962C8B-B14F-4D97-AF65-F5344CB8AC3E}">
        <p14:creationId xmlns:p14="http://schemas.microsoft.com/office/powerpoint/2010/main" val="34082121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4"/>
          </p:nvPr>
        </p:nvSpPr>
        <p:spPr/>
        <p:txBody>
          <a:bodyPr/>
          <a:lstStyle>
            <a:lvl1pPr>
              <a:defRPr/>
            </a:lvl1pPr>
          </a:lstStyle>
          <a:p>
            <a:pPr>
              <a:defRPr/>
            </a:pPr>
            <a:fld id="{5ED1AA5D-1A3F-4629-983B-A712889BB21B}" type="datetimeFigureOut">
              <a:rPr lang="en-US"/>
              <a:pPr>
                <a:defRPr/>
              </a:pPr>
              <a:t>10/28/2025</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CB7233BF-4060-4CD7-9CC3-01F9C64957E7}" type="slidenum">
              <a:rPr lang="en-US"/>
              <a:pPr>
                <a:defRPr/>
              </a:pPr>
              <a:t>‹#›</a:t>
            </a:fld>
            <a:endParaRPr lang="en-US" dirty="0"/>
          </a:p>
        </p:txBody>
      </p:sp>
    </p:spTree>
    <p:extLst>
      <p:ext uri="{BB962C8B-B14F-4D97-AF65-F5344CB8AC3E}">
        <p14:creationId xmlns:p14="http://schemas.microsoft.com/office/powerpoint/2010/main" val="127314887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A4A57C4-4F60-4A16-B03C-586585A35282}" type="datetimeFigureOut">
              <a:rPr lang="en-US"/>
              <a:pPr>
                <a:defRPr/>
              </a:pPr>
              <a:t>10/28/2025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EE493B2B-6B6C-4A41-AF35-95C998A811F3}"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0" r:id="rId1"/>
    <p:sldLayoutId id="2147483759" r:id="rId2"/>
    <p:sldLayoutId id="2147483758" r:id="rId3"/>
    <p:sldLayoutId id="2147483757" r:id="rId4"/>
    <p:sldLayoutId id="2147483756" r:id="rId5"/>
    <p:sldLayoutId id="2147483755" r:id="rId6"/>
    <p:sldLayoutId id="2147483754" r:id="rId7"/>
    <p:sldLayoutId id="2147483753" r:id="rId8"/>
    <p:sldLayoutId id="2147483752" r:id="rId9"/>
    <p:sldLayoutId id="2147483751" r:id="rId10"/>
    <p:sldLayoutId id="2147483750" r:id="rId11"/>
    <p:sldLayoutId id="2147483777" r:id="rId12"/>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fld id="{4A4A57C4-4F60-4A16-B03C-586585A35282}" type="datetimeFigureOut">
              <a:rPr lang="en-US" smtClean="0"/>
              <a:pPr>
                <a:defRPr/>
              </a:pPr>
              <a:t>10/28/2025</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EE493B2B-6B6C-4A41-AF35-95C998A811F3}" type="slidenum">
              <a:rPr lang="en-US" smtClean="0"/>
              <a:pPr>
                <a:defRPr/>
              </a:pPr>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250728"/>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notesSlide" Target="../notesSlides/notesSlide19.xml"/><Relationship Id="rId1" Type="http://schemas.openxmlformats.org/officeDocument/2006/relationships/slideLayout" Target="../slideLayouts/slideLayout19.xml"/><Relationship Id="rId5" Type="http://schemas.openxmlformats.org/officeDocument/2006/relationships/image" Target="../media/image1.jpeg"/><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4.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8.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7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5.xml"/><Relationship Id="rId1" Type="http://schemas.openxmlformats.org/officeDocument/2006/relationships/slideLayout" Target="../slideLayouts/slideLayout1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4.xml"/><Relationship Id="rId1" Type="http://schemas.openxmlformats.org/officeDocument/2006/relationships/slideLayout" Target="../slideLayouts/slideLayout1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3" Type="http://schemas.openxmlformats.org/officeDocument/2006/relationships/package" Target="../embeddings/Microsoft_Word_Document3.docx"/><Relationship Id="rId2" Type="http://schemas.openxmlformats.org/officeDocument/2006/relationships/notesSlide" Target="../notesSlides/notesSlide56.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7.xml"/><Relationship Id="rId1" Type="http://schemas.openxmlformats.org/officeDocument/2006/relationships/slideLayout" Target="../slideLayouts/slideLayout1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9.xml"/><Relationship Id="rId1" Type="http://schemas.openxmlformats.org/officeDocument/2006/relationships/slideLayout" Target="../slideLayouts/slideLayout18.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60.xml"/><Relationship Id="rId1" Type="http://schemas.openxmlformats.org/officeDocument/2006/relationships/slideLayout" Target="../slideLayouts/slideLayout18.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62.xml"/><Relationship Id="rId1" Type="http://schemas.openxmlformats.org/officeDocument/2006/relationships/slideLayout" Target="../slideLayouts/slideLayout18.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3.xml"/><Relationship Id="rId1" Type="http://schemas.openxmlformats.org/officeDocument/2006/relationships/slideLayout" Target="../slideLayouts/slideLayout19.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6.xml"/><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bwMode="auto">
          <a:xfrm>
            <a:off x="914400" y="2057400"/>
            <a:ext cx="7452360" cy="2267712"/>
          </a:xfrm>
        </p:spPr>
        <p:txBody>
          <a:bodyPr wrap="square" numCol="1" compatLnSpc="1">
            <a:prstTxWarp prst="textNoShape">
              <a:avLst/>
            </a:prstTxWarp>
            <a:normAutofit/>
          </a:bodyPr>
          <a:lstStyle/>
          <a:p>
            <a:pPr eaLnBrk="1" hangingPunct="1"/>
            <a:r>
              <a:rPr lang="en-US" dirty="0"/>
              <a:t>Process Synchronization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Multiple  Processes</a:t>
            </a:r>
          </a:p>
        </p:txBody>
      </p:sp>
      <p:sp>
        <p:nvSpPr>
          <p:cNvPr id="4" name="Content Placeholder 3"/>
          <p:cNvSpPr>
            <a:spLocks noGrp="1"/>
          </p:cNvSpPr>
          <p:nvPr>
            <p:ph sz="half" idx="1"/>
          </p:nvPr>
        </p:nvSpPr>
        <p:spPr>
          <a:xfrm>
            <a:off x="658813" y="2286000"/>
            <a:ext cx="8027987" cy="4267200"/>
          </a:xfrm>
        </p:spPr>
        <p:txBody>
          <a:bodyPr/>
          <a:lstStyle/>
          <a:p>
            <a:pPr eaLnBrk="1" hangingPunct="1"/>
            <a:r>
              <a:rPr lang="en-US" sz="3600" dirty="0"/>
              <a:t>Operating System design is concerned with the management of processes and threads:</a:t>
            </a:r>
          </a:p>
          <a:p>
            <a:pPr lvl="2" eaLnBrk="1" hangingPunct="1"/>
            <a:r>
              <a:rPr lang="en-US" sz="3600" dirty="0"/>
              <a:t>Multiprogramming</a:t>
            </a:r>
          </a:p>
          <a:p>
            <a:pPr lvl="2" eaLnBrk="1" hangingPunct="1"/>
            <a:r>
              <a:rPr lang="en-US" sz="3600" dirty="0"/>
              <a:t>Multiprocessing</a:t>
            </a:r>
          </a:p>
          <a:p>
            <a:pPr lvl="2" eaLnBrk="1" hangingPunct="1"/>
            <a:r>
              <a:rPr lang="en-US" sz="3600" dirty="0"/>
              <a:t>Distributed Processing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iterate type="lt">
                                    <p:tmPct val="10000"/>
                                  </p:iterate>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anim calcmode="lin" valueType="num">
                                      <p:cBhvr>
                                        <p:cTn id="8" dur="500" fill="hold"/>
                                        <p:tgtEl>
                                          <p:spTgt spid="4">
                                            <p:txEl>
                                              <p:pRg st="1" end="1"/>
                                            </p:txEl>
                                          </p:spTgt>
                                        </p:tgtEl>
                                        <p:attrNameLst>
                                          <p:attrName>ppt_w</p:attrName>
                                        </p:attrNameLst>
                                      </p:cBhvr>
                                      <p:tavLst>
                                        <p:tav tm="0" fmla="#ppt_w*sin(2.5*pi*$)">
                                          <p:val>
                                            <p:fltVal val="0"/>
                                          </p:val>
                                        </p:tav>
                                        <p:tav tm="100000">
                                          <p:val>
                                            <p:fltVal val="1"/>
                                          </p:val>
                                        </p:tav>
                                      </p:tavLst>
                                    </p:anim>
                                    <p:anim calcmode="lin" valueType="num">
                                      <p:cBhvr>
                                        <p:cTn id="9" dur="500" fill="hold"/>
                                        <p:tgtEl>
                                          <p:spTgt spid="4">
                                            <p:txEl>
                                              <p:pRg st="1" end="1"/>
                                            </p:txEl>
                                          </p:spTgt>
                                        </p:tgtEl>
                                        <p:attrNameLst>
                                          <p:attrName>ppt_h</p:attrName>
                                        </p:attrNameLst>
                                      </p:cBhvr>
                                      <p:tavLst>
                                        <p:tav tm="0">
                                          <p:val>
                                            <p:strVal val="#ppt_h"/>
                                          </p:val>
                                        </p:tav>
                                        <p:tav tm="100000">
                                          <p:val>
                                            <p:strVal val="#ppt_h"/>
                                          </p:val>
                                        </p:tav>
                                      </p:tavLst>
                                    </p:anim>
                                  </p:childTnLst>
                                </p:cTn>
                              </p:par>
                            </p:childTnLst>
                          </p:cTn>
                        </p:par>
                        <p:par>
                          <p:cTn id="10" fill="hold">
                            <p:stCondLst>
                              <p:cond delay="1250"/>
                            </p:stCondLst>
                            <p:childTnLst>
                              <p:par>
                                <p:cTn id="11" presetID="45" presetClass="entr" presetSubtype="0" fill="hold" grpId="0" nodeType="afterEffect">
                                  <p:stCondLst>
                                    <p:cond delay="0"/>
                                  </p:stCondLst>
                                  <p:iterate type="lt">
                                    <p:tmPct val="10000"/>
                                  </p:iterate>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anim calcmode="lin" valueType="num">
                                      <p:cBhvr>
                                        <p:cTn id="14" dur="500" fill="hold"/>
                                        <p:tgtEl>
                                          <p:spTgt spid="4">
                                            <p:txEl>
                                              <p:pRg st="2" end="2"/>
                                            </p:txEl>
                                          </p:spTgt>
                                        </p:tgtEl>
                                        <p:attrNameLst>
                                          <p:attrName>ppt_w</p:attrName>
                                        </p:attrNameLst>
                                      </p:cBhvr>
                                      <p:tavLst>
                                        <p:tav tm="0" fmla="#ppt_w*sin(2.5*pi*$)">
                                          <p:val>
                                            <p:fltVal val="0"/>
                                          </p:val>
                                        </p:tav>
                                        <p:tav tm="100000">
                                          <p:val>
                                            <p:fltVal val="1"/>
                                          </p:val>
                                        </p:tav>
                                      </p:tavLst>
                                    </p:anim>
                                    <p:anim calcmode="lin" valueType="num">
                                      <p:cBhvr>
                                        <p:cTn id="15" dur="500" fill="hold"/>
                                        <p:tgtEl>
                                          <p:spTgt spid="4">
                                            <p:txEl>
                                              <p:pRg st="2" end="2"/>
                                            </p:txEl>
                                          </p:spTgt>
                                        </p:tgtEl>
                                        <p:attrNameLst>
                                          <p:attrName>ppt_h</p:attrName>
                                        </p:attrNameLst>
                                      </p:cBhvr>
                                      <p:tavLst>
                                        <p:tav tm="0">
                                          <p:val>
                                            <p:strVal val="#ppt_h"/>
                                          </p:val>
                                        </p:tav>
                                        <p:tav tm="100000">
                                          <p:val>
                                            <p:strVal val="#ppt_h"/>
                                          </p:val>
                                        </p:tav>
                                      </p:tavLst>
                                    </p:anim>
                                  </p:childTnLst>
                                </p:cTn>
                              </p:par>
                            </p:childTnLst>
                          </p:cTn>
                        </p:par>
                        <p:par>
                          <p:cTn id="16" fill="hold">
                            <p:stCondLst>
                              <p:cond delay="2450"/>
                            </p:stCondLst>
                            <p:childTnLst>
                              <p:par>
                                <p:cTn id="17" presetID="45" presetClass="entr" presetSubtype="0" fill="hold" grpId="0" nodeType="afterEffect">
                                  <p:stCondLst>
                                    <p:cond delay="0"/>
                                  </p:stCondLst>
                                  <p:iterate type="lt">
                                    <p:tmPct val="10000"/>
                                  </p:iterate>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anim calcmode="lin" valueType="num">
                                      <p:cBhvr>
                                        <p:cTn id="20" dur="500" fill="hold"/>
                                        <p:tgtEl>
                                          <p:spTgt spid="4">
                                            <p:txEl>
                                              <p:pRg st="3" end="3"/>
                                            </p:txEl>
                                          </p:spTgt>
                                        </p:tgtEl>
                                        <p:attrNameLst>
                                          <p:attrName>ppt_w</p:attrName>
                                        </p:attrNameLst>
                                      </p:cBhvr>
                                      <p:tavLst>
                                        <p:tav tm="0" fmla="#ppt_w*sin(2.5*pi*$)">
                                          <p:val>
                                            <p:fltVal val="0"/>
                                          </p:val>
                                        </p:tav>
                                        <p:tav tm="100000">
                                          <p:val>
                                            <p:fltVal val="1"/>
                                          </p:val>
                                        </p:tav>
                                      </p:tavLst>
                                    </p:anim>
                                    <p:anim calcmode="lin" valueType="num">
                                      <p:cBhvr>
                                        <p:cTn id="21" dur="500" fill="hold"/>
                                        <p:tgtEl>
                                          <p:spTgt spid="4">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C00000"/>
                </a:solidFill>
              </a:rPr>
              <a:t>Concurrency &amp; Shared Data</a:t>
            </a:r>
          </a:p>
        </p:txBody>
      </p:sp>
      <p:sp>
        <p:nvSpPr>
          <p:cNvPr id="3" name="Content Placeholder 2"/>
          <p:cNvSpPr>
            <a:spLocks noGrp="1"/>
          </p:cNvSpPr>
          <p:nvPr>
            <p:ph idx="1"/>
          </p:nvPr>
        </p:nvSpPr>
        <p:spPr>
          <a:xfrm>
            <a:off x="838200" y="2286000"/>
            <a:ext cx="7772400" cy="3840163"/>
          </a:xfrm>
        </p:spPr>
        <p:txBody>
          <a:bodyPr>
            <a:normAutofit/>
          </a:bodyPr>
          <a:lstStyle/>
          <a:p>
            <a:r>
              <a:rPr lang="en-US" sz="3200" dirty="0"/>
              <a:t>Concurrent processes may share data to support communication, info exchange,...</a:t>
            </a:r>
          </a:p>
          <a:p>
            <a:r>
              <a:rPr lang="en-US" sz="3200" dirty="0"/>
              <a:t>Threads in the same process can share global address space</a:t>
            </a:r>
          </a:p>
          <a:p>
            <a:r>
              <a:rPr lang="en-US" sz="3200" dirty="0"/>
              <a:t>Concurrent sharing may cause problems</a:t>
            </a:r>
          </a:p>
          <a:p>
            <a:r>
              <a:rPr lang="en-US" sz="3200" dirty="0"/>
              <a:t>For example: lost updates</a:t>
            </a:r>
          </a:p>
        </p:txBody>
      </p:sp>
    </p:spTree>
    <p:extLst>
      <p:ext uri="{BB962C8B-B14F-4D97-AF65-F5344CB8AC3E}">
        <p14:creationId xmlns:p14="http://schemas.microsoft.com/office/powerpoint/2010/main" val="97798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 y="1523999"/>
            <a:ext cx="1905000" cy="4924425"/>
          </a:xfrm>
        </p:spPr>
        <p:txBody>
          <a:bodyPr vert="wordArtVert" anchor="ctr" anchorCtr="1">
            <a:normAutofit fontScale="90000"/>
          </a:bodyPr>
          <a:lstStyle/>
          <a:p>
            <a:pPr eaLnBrk="1" fontAlgn="auto" hangingPunct="1">
              <a:spcAft>
                <a:spcPts val="0"/>
              </a:spcAft>
              <a:defRPr/>
            </a:pPr>
            <a:r>
              <a:rPr lang="en-US" sz="4400" b="1" spc="500" dirty="0">
                <a:solidFill>
                  <a:schemeClr val="accent6">
                    <a:lumMod val="50000"/>
                  </a:schemeClr>
                </a:solidFill>
              </a:rPr>
              <a:t>Key           </a:t>
            </a:r>
            <a:br>
              <a:rPr lang="en-US" sz="4400" b="1" spc="500" dirty="0">
                <a:solidFill>
                  <a:schemeClr val="accent6">
                    <a:lumMod val="50000"/>
                  </a:schemeClr>
                </a:solidFill>
              </a:rPr>
            </a:br>
            <a:r>
              <a:rPr lang="en-US" sz="4400" b="1" spc="500" dirty="0">
                <a:solidFill>
                  <a:schemeClr val="accent6">
                    <a:lumMod val="50000"/>
                  </a:schemeClr>
                </a:solidFill>
              </a:rPr>
              <a:t> Terms</a:t>
            </a:r>
          </a:p>
        </p:txBody>
      </p:sp>
      <p:graphicFrame>
        <p:nvGraphicFramePr>
          <p:cNvPr id="34822" name="Object 6"/>
          <p:cNvGraphicFramePr>
            <a:graphicFrameLocks noChangeAspect="1"/>
          </p:cNvGraphicFramePr>
          <p:nvPr>
            <p:extLst>
              <p:ext uri="{D42A27DB-BD31-4B8C-83A1-F6EECF244321}">
                <p14:modId xmlns:p14="http://schemas.microsoft.com/office/powerpoint/2010/main" val="1471162703"/>
              </p:ext>
            </p:extLst>
          </p:nvPr>
        </p:nvGraphicFramePr>
        <p:xfrm>
          <a:off x="2092372" y="845641"/>
          <a:ext cx="6835727" cy="5602784"/>
        </p:xfrm>
        <a:graphic>
          <a:graphicData uri="http://schemas.openxmlformats.org/presentationml/2006/ole">
            <mc:AlternateContent xmlns:mc="http://schemas.openxmlformats.org/markup-compatibility/2006">
              <mc:Choice xmlns:v="urn:schemas-microsoft-com:vml" Requires="v">
                <p:oleObj name="Document" r:id="rId3" imgW="6121175" imgH="5016315" progId="">
                  <p:embed/>
                </p:oleObj>
              </mc:Choice>
              <mc:Fallback>
                <p:oleObj name="Document" r:id="rId3" imgW="6121175" imgH="5016315" progId="">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2372" y="845641"/>
                        <a:ext cx="6835727" cy="5602784"/>
                      </a:xfrm>
                      <a:prstGeom prst="rect">
                        <a:avLst/>
                      </a:prstGeom>
                      <a:noFill/>
                      <a:ln>
                        <a:noFill/>
                      </a:ln>
                    </p:spPr>
                  </p:pic>
                </p:oleObj>
              </mc:Fallback>
            </mc:AlternateContent>
          </a:graphicData>
        </a:graphic>
      </p:graphicFrame>
      <p:sp>
        <p:nvSpPr>
          <p:cNvPr id="31" name="TextBox 30"/>
          <p:cNvSpPr txBox="1"/>
          <p:nvPr/>
        </p:nvSpPr>
        <p:spPr>
          <a:xfrm>
            <a:off x="3657600" y="76200"/>
            <a:ext cx="4191000" cy="769441"/>
          </a:xfrm>
          <a:prstGeom prst="rect">
            <a:avLst/>
          </a:prstGeom>
          <a:noFill/>
        </p:spPr>
        <p:txBody>
          <a:bodyPr wrap="square">
            <a:spAutoFit/>
          </a:bodyPr>
          <a:lstStyle/>
          <a:p>
            <a:pPr algn="r">
              <a:defRPr/>
            </a:pPr>
            <a:r>
              <a:rPr lang="en-US" sz="4400" b="1" spc="500" dirty="0">
                <a:solidFill>
                  <a:schemeClr val="accent6">
                    <a:lumMod val="50000"/>
                  </a:schemeClr>
                </a:solidFill>
                <a:latin typeface="+mj-lt"/>
                <a:ea typeface="+mj-ea"/>
                <a:cs typeface="+mj-cs"/>
              </a:rPr>
              <a:t>Concurrency</a:t>
            </a:r>
          </a:p>
        </p:txBody>
      </p:sp>
      <p:sp>
        <p:nvSpPr>
          <p:cNvPr id="34826" name="Rectangle 31"/>
          <p:cNvSpPr>
            <a:spLocks noChangeArrowheads="1"/>
          </p:cNvSpPr>
          <p:nvPr/>
        </p:nvSpPr>
        <p:spPr bwMode="auto">
          <a:xfrm>
            <a:off x="3581400" y="6581775"/>
            <a:ext cx="6477000" cy="246063"/>
          </a:xfrm>
          <a:prstGeom prst="rect">
            <a:avLst/>
          </a:prstGeom>
          <a:noFill/>
          <a:ln w="9525">
            <a:noFill/>
            <a:miter lim="800000"/>
            <a:headEnd/>
            <a:tailEnd/>
          </a:ln>
        </p:spPr>
        <p:txBody>
          <a:bodyPr>
            <a:spAutoFit/>
          </a:bodyPr>
          <a:lstStyle/>
          <a:p>
            <a:r>
              <a:rPr lang="en-US" sz="1000"/>
              <a:t>Table 5.1   Some Key Terms Related to Concurrency</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332788" cy="1143000"/>
          </a:xfrm>
        </p:spPr>
        <p:txBody>
          <a:bodyPr/>
          <a:lstStyle/>
          <a:p>
            <a:pPr algn="ctr" eaLnBrk="1" fontAlgn="auto" hangingPunct="1">
              <a:spcAft>
                <a:spcPts val="0"/>
              </a:spcAft>
              <a:defRPr/>
            </a:pPr>
            <a:r>
              <a:rPr lang="en-US" sz="4800" b="1" dirty="0">
                <a:solidFill>
                  <a:schemeClr val="accent6">
                    <a:lumMod val="50000"/>
                  </a:schemeClr>
                </a:solidFill>
              </a:rPr>
              <a:t>Difficulties of Concurrency</a:t>
            </a:r>
          </a:p>
        </p:txBody>
      </p:sp>
      <p:sp>
        <p:nvSpPr>
          <p:cNvPr id="3" name="Content Placeholder 2"/>
          <p:cNvSpPr>
            <a:spLocks noGrp="1"/>
          </p:cNvSpPr>
          <p:nvPr>
            <p:ph sz="half" idx="1"/>
          </p:nvPr>
        </p:nvSpPr>
        <p:spPr>
          <a:xfrm>
            <a:off x="658813" y="2286000"/>
            <a:ext cx="8180387" cy="3840163"/>
          </a:xfrm>
        </p:spPr>
        <p:txBody>
          <a:bodyPr/>
          <a:lstStyle/>
          <a:p>
            <a:pPr eaLnBrk="1" hangingPunct="1"/>
            <a:r>
              <a:rPr lang="en-US" sz="3200" dirty="0"/>
              <a:t>Sharing of global resources</a:t>
            </a:r>
          </a:p>
          <a:p>
            <a:pPr eaLnBrk="1" hangingPunct="1"/>
            <a:r>
              <a:rPr lang="en-US" sz="3200" dirty="0"/>
              <a:t>Difficult for the OS to manage the allocation of resources optimally</a:t>
            </a:r>
          </a:p>
          <a:p>
            <a:pPr eaLnBrk="1" hangingPunct="1"/>
            <a:r>
              <a:rPr lang="en-US" sz="3200" dirty="0"/>
              <a:t>Difficult to locate programming errors as results are not deterministic and reproducible</a:t>
            </a:r>
          </a:p>
          <a:p>
            <a:pPr eaLnBrk="1" hangingPunct="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8" accel="50000" decel="5000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2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2000" fill="hold"/>
                                        <p:tgtEl>
                                          <p:spTgt spid="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4" accel="50000" decel="5000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3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3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eaLnBrk="1" fontAlgn="auto" hangingPunct="1">
              <a:spcAft>
                <a:spcPts val="0"/>
              </a:spcAft>
              <a:defRPr/>
            </a:pP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Race Condition</a:t>
            </a:r>
          </a:p>
        </p:txBody>
      </p:sp>
      <p:sp>
        <p:nvSpPr>
          <p:cNvPr id="3" name="Content Placeholder 2"/>
          <p:cNvSpPr>
            <a:spLocks noGrp="1"/>
          </p:cNvSpPr>
          <p:nvPr>
            <p:ph sz="half" idx="1"/>
          </p:nvPr>
        </p:nvSpPr>
        <p:spPr>
          <a:xfrm>
            <a:off x="658813" y="2286000"/>
            <a:ext cx="6961187" cy="3840163"/>
          </a:xfrm>
        </p:spPr>
        <p:txBody>
          <a:bodyPr>
            <a:normAutofit/>
          </a:bodyPr>
          <a:lstStyle/>
          <a:p>
            <a:pPr eaLnBrk="1" hangingPunct="1"/>
            <a:r>
              <a:rPr lang="en-NZ" sz="3000" dirty="0"/>
              <a:t>Occurs when multiple processes or threads read and write shared data items</a:t>
            </a:r>
          </a:p>
          <a:p>
            <a:pPr eaLnBrk="1" hangingPunct="1"/>
            <a:r>
              <a:rPr lang="en-NZ" sz="3000" dirty="0"/>
              <a:t>The final result depends on the order of execution</a:t>
            </a:r>
          </a:p>
          <a:p>
            <a:pPr lvl="3" algn="just" eaLnBrk="1" hangingPunct="1"/>
            <a:r>
              <a:rPr lang="en-NZ" sz="2600" dirty="0"/>
              <a:t>the “loser” of the race is the process that updates last and will determine the final value of the variable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5613"/>
            <a:ext cx="7824787" cy="1068387"/>
          </a:xfrm>
        </p:spPr>
        <p:txBody>
          <a:bodyPr/>
          <a:lstStyle/>
          <a:p>
            <a:pPr algn="ctr" eaLnBrk="1" fontAlgn="auto" hangingPunct="1">
              <a:spcAft>
                <a:spcPts val="0"/>
              </a:spcAft>
              <a:defRPr/>
            </a:pPr>
            <a:r>
              <a:rPr lang="en-US" sz="4600" b="1" dirty="0">
                <a:solidFill>
                  <a:schemeClr val="accent6">
                    <a:lumMod val="75000"/>
                  </a:schemeClr>
                </a:solidFill>
              </a:rPr>
              <a:t>Operating System Concerns</a:t>
            </a:r>
          </a:p>
        </p:txBody>
      </p:sp>
      <p:sp>
        <p:nvSpPr>
          <p:cNvPr id="3" name="Content Placeholder 2"/>
          <p:cNvSpPr>
            <a:spLocks noGrp="1"/>
          </p:cNvSpPr>
          <p:nvPr>
            <p:ph sz="half" idx="1"/>
          </p:nvPr>
        </p:nvSpPr>
        <p:spPr>
          <a:xfrm>
            <a:off x="533400" y="2133600"/>
            <a:ext cx="7924800" cy="4343400"/>
          </a:xfrm>
        </p:spPr>
        <p:txBody>
          <a:bodyPr/>
          <a:lstStyle/>
          <a:p>
            <a:pPr eaLnBrk="1" hangingPunct="1"/>
            <a:r>
              <a:rPr lang="en-NZ" sz="2400" dirty="0"/>
              <a:t>Design and management issues raised by the existence of concurrency:</a:t>
            </a:r>
          </a:p>
          <a:p>
            <a:pPr lvl="1" eaLnBrk="1" hangingPunct="1"/>
            <a:r>
              <a:rPr lang="en-NZ" sz="2400" dirty="0"/>
              <a:t>T</a:t>
            </a:r>
            <a:r>
              <a:rPr lang="en-US" sz="2400" dirty="0"/>
              <a:t>he OS must: </a:t>
            </a:r>
          </a:p>
          <a:p>
            <a:pPr lvl="3" eaLnBrk="1" hangingPunct="1"/>
            <a:r>
              <a:rPr lang="en-US" sz="2200" dirty="0"/>
              <a:t>be able to keep track of various processes</a:t>
            </a:r>
          </a:p>
          <a:p>
            <a:pPr lvl="3" eaLnBrk="1" hangingPunct="1"/>
            <a:r>
              <a:rPr lang="en-US" sz="2200" dirty="0"/>
              <a:t>allocate and de-allocate resources for each active process</a:t>
            </a:r>
          </a:p>
          <a:p>
            <a:pPr lvl="3" eaLnBrk="1" hangingPunct="1"/>
            <a:r>
              <a:rPr lang="en-NZ" sz="2200" dirty="0"/>
              <a:t>protect the data and physical resources of each process against interference by other processes</a:t>
            </a:r>
            <a:endParaRPr lang="en-US" sz="2200" dirty="0"/>
          </a:p>
          <a:p>
            <a:pPr lvl="3" eaLnBrk="1" hangingPunct="1"/>
            <a:r>
              <a:rPr lang="en-US" sz="2200" dirty="0"/>
              <a:t>ensure that the processes and outputs are independent of the processing speed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afterEffect">
                                  <p:stCondLst>
                                    <p:cond delay="30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385" decel="100000"/>
                                        <p:tgtEl>
                                          <p:spTgt spid="3">
                                            <p:txEl>
                                              <p:pRg st="2" end="2"/>
                                            </p:txEl>
                                          </p:spTgt>
                                        </p:tgtEl>
                                      </p:cBhvr>
                                    </p:animEffect>
                                    <p:animScale>
                                      <p:cBhvr>
                                        <p:cTn id="8" dur="385" decel="100000"/>
                                        <p:tgtEl>
                                          <p:spTgt spid="3">
                                            <p:txEl>
                                              <p:pRg st="2" end="2"/>
                                            </p:txEl>
                                          </p:spTgt>
                                        </p:tgtEl>
                                      </p:cBhvr>
                                      <p:from x="10000" y="10000"/>
                                      <p:to x="200000" y="450000"/>
                                    </p:animScale>
                                    <p:animScale>
                                      <p:cBhvr>
                                        <p:cTn id="9" dur="615" accel="100000" fill="hold">
                                          <p:stCondLst>
                                            <p:cond delay="385"/>
                                          </p:stCondLst>
                                        </p:cTn>
                                        <p:tgtEl>
                                          <p:spTgt spid="3">
                                            <p:txEl>
                                              <p:pRg st="2" end="2"/>
                                            </p:txEl>
                                          </p:spTgt>
                                        </p:tgtEl>
                                      </p:cBhvr>
                                      <p:from x="200000" y="450000"/>
                                      <p:to x="100000" y="100000"/>
                                    </p:animScale>
                                    <p:set>
                                      <p:cBhvr>
                                        <p:cTn id="10" dur="385" fill="hold"/>
                                        <p:tgtEl>
                                          <p:spTgt spid="3">
                                            <p:txEl>
                                              <p:pRg st="2" end="2"/>
                                            </p:txEl>
                                          </p:spTgt>
                                        </p:tgtEl>
                                        <p:attrNameLst>
                                          <p:attrName>ppt_x</p:attrName>
                                        </p:attrNameLst>
                                      </p:cBhvr>
                                      <p:to>
                                        <p:strVal val="(0.5)"/>
                                      </p:to>
                                    </p:set>
                                    <p:anim from="(0.5)" to="(#ppt_x)" calcmode="lin" valueType="num">
                                      <p:cBhvr>
                                        <p:cTn id="11" dur="615" accel="100000" fill="hold">
                                          <p:stCondLst>
                                            <p:cond delay="385"/>
                                          </p:stCondLst>
                                        </p:cTn>
                                        <p:tgtEl>
                                          <p:spTgt spid="3">
                                            <p:txEl>
                                              <p:pRg st="2" end="2"/>
                                            </p:txEl>
                                          </p:spTgt>
                                        </p:tgtEl>
                                        <p:attrNameLst>
                                          <p:attrName>ppt_x</p:attrName>
                                        </p:attrNameLst>
                                      </p:cBhvr>
                                    </p:anim>
                                    <p:set>
                                      <p:cBhvr>
                                        <p:cTn id="12" dur="385" fill="hold"/>
                                        <p:tgtEl>
                                          <p:spTgt spid="3">
                                            <p:txEl>
                                              <p:pRg st="2" end="2"/>
                                            </p:txEl>
                                          </p:spTgt>
                                        </p:tgtEl>
                                        <p:attrNameLst>
                                          <p:attrName>ppt_y</p:attrName>
                                        </p:attrNameLst>
                                      </p:cBhvr>
                                      <p:to>
                                        <p:strVal val="(#ppt_y+0.4)"/>
                                      </p:to>
                                    </p:set>
                                    <p:anim from="(#ppt_y+0.4)" to="(#ppt_y)" calcmode="lin" valueType="num">
                                      <p:cBhvr>
                                        <p:cTn id="13" dur="615" accel="100000" fill="hold">
                                          <p:stCondLst>
                                            <p:cond delay="385"/>
                                          </p:stCondLst>
                                        </p:cTn>
                                        <p:tgtEl>
                                          <p:spTgt spid="3">
                                            <p:txEl>
                                              <p:pRg st="2" end="2"/>
                                            </p:txEl>
                                          </p:spTgt>
                                        </p:tgtEl>
                                        <p:attrNameLst>
                                          <p:attrName>ppt_y</p:attrName>
                                        </p:attrNameLst>
                                      </p:cBhvr>
                                    </p:anim>
                                  </p:childTnLst>
                                </p:cTn>
                              </p:par>
                              <p:par>
                                <p:cTn id="14" presetID="51"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385" decel="100000"/>
                                        <p:tgtEl>
                                          <p:spTgt spid="3">
                                            <p:txEl>
                                              <p:pRg st="3" end="3"/>
                                            </p:txEl>
                                          </p:spTgt>
                                        </p:tgtEl>
                                      </p:cBhvr>
                                    </p:animEffect>
                                    <p:animScale>
                                      <p:cBhvr>
                                        <p:cTn id="17" dur="385" decel="100000"/>
                                        <p:tgtEl>
                                          <p:spTgt spid="3">
                                            <p:txEl>
                                              <p:pRg st="3" end="3"/>
                                            </p:txEl>
                                          </p:spTgt>
                                        </p:tgtEl>
                                      </p:cBhvr>
                                      <p:from x="10000" y="10000"/>
                                      <p:to x="200000" y="450000"/>
                                    </p:animScale>
                                    <p:animScale>
                                      <p:cBhvr>
                                        <p:cTn id="18" dur="615" accel="100000" fill="hold">
                                          <p:stCondLst>
                                            <p:cond delay="385"/>
                                          </p:stCondLst>
                                        </p:cTn>
                                        <p:tgtEl>
                                          <p:spTgt spid="3">
                                            <p:txEl>
                                              <p:pRg st="3" end="3"/>
                                            </p:txEl>
                                          </p:spTgt>
                                        </p:tgtEl>
                                      </p:cBhvr>
                                      <p:from x="200000" y="450000"/>
                                      <p:to x="100000" y="100000"/>
                                    </p:animScale>
                                    <p:set>
                                      <p:cBhvr>
                                        <p:cTn id="19" dur="385" fill="hold"/>
                                        <p:tgtEl>
                                          <p:spTgt spid="3">
                                            <p:txEl>
                                              <p:pRg st="3" end="3"/>
                                            </p:txEl>
                                          </p:spTgt>
                                        </p:tgtEl>
                                        <p:attrNameLst>
                                          <p:attrName>ppt_x</p:attrName>
                                        </p:attrNameLst>
                                      </p:cBhvr>
                                      <p:to>
                                        <p:strVal val="(0.5)"/>
                                      </p:to>
                                    </p:set>
                                    <p:anim from="(0.5)" to="(#ppt_x)" calcmode="lin" valueType="num">
                                      <p:cBhvr>
                                        <p:cTn id="20" dur="615" accel="100000" fill="hold">
                                          <p:stCondLst>
                                            <p:cond delay="385"/>
                                          </p:stCondLst>
                                        </p:cTn>
                                        <p:tgtEl>
                                          <p:spTgt spid="3">
                                            <p:txEl>
                                              <p:pRg st="3" end="3"/>
                                            </p:txEl>
                                          </p:spTgt>
                                        </p:tgtEl>
                                        <p:attrNameLst>
                                          <p:attrName>ppt_x</p:attrName>
                                        </p:attrNameLst>
                                      </p:cBhvr>
                                    </p:anim>
                                    <p:set>
                                      <p:cBhvr>
                                        <p:cTn id="21" dur="385" fill="hold"/>
                                        <p:tgtEl>
                                          <p:spTgt spid="3">
                                            <p:txEl>
                                              <p:pRg st="3" end="3"/>
                                            </p:txEl>
                                          </p:spTgt>
                                        </p:tgtEl>
                                        <p:attrNameLst>
                                          <p:attrName>ppt_y</p:attrName>
                                        </p:attrNameLst>
                                      </p:cBhvr>
                                      <p:to>
                                        <p:strVal val="(#ppt_y+0.4)"/>
                                      </p:to>
                                    </p:set>
                                    <p:anim from="(#ppt_y+0.4)" to="(#ppt_y)" calcmode="lin" valueType="num">
                                      <p:cBhvr>
                                        <p:cTn id="22" dur="615" accel="100000" fill="hold">
                                          <p:stCondLst>
                                            <p:cond delay="385"/>
                                          </p:stCondLst>
                                        </p:cTn>
                                        <p:tgtEl>
                                          <p:spTgt spid="3">
                                            <p:txEl>
                                              <p:pRg st="3" end="3"/>
                                            </p:txEl>
                                          </p:spTgt>
                                        </p:tgtEl>
                                        <p:attrNameLst>
                                          <p:attrName>ppt_y</p:attrName>
                                        </p:attrNameLst>
                                      </p:cBhvr>
                                    </p:anim>
                                  </p:childTnLst>
                                </p:cTn>
                              </p:par>
                              <p:par>
                                <p:cTn id="23" presetID="51"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385" decel="100000"/>
                                        <p:tgtEl>
                                          <p:spTgt spid="3">
                                            <p:txEl>
                                              <p:pRg st="4" end="4"/>
                                            </p:txEl>
                                          </p:spTgt>
                                        </p:tgtEl>
                                      </p:cBhvr>
                                    </p:animEffect>
                                    <p:animScale>
                                      <p:cBhvr>
                                        <p:cTn id="26" dur="385" decel="100000"/>
                                        <p:tgtEl>
                                          <p:spTgt spid="3">
                                            <p:txEl>
                                              <p:pRg st="4" end="4"/>
                                            </p:txEl>
                                          </p:spTgt>
                                        </p:tgtEl>
                                      </p:cBhvr>
                                      <p:from x="10000" y="10000"/>
                                      <p:to x="200000" y="450000"/>
                                    </p:animScale>
                                    <p:animScale>
                                      <p:cBhvr>
                                        <p:cTn id="27" dur="615" accel="100000" fill="hold">
                                          <p:stCondLst>
                                            <p:cond delay="385"/>
                                          </p:stCondLst>
                                        </p:cTn>
                                        <p:tgtEl>
                                          <p:spTgt spid="3">
                                            <p:txEl>
                                              <p:pRg st="4" end="4"/>
                                            </p:txEl>
                                          </p:spTgt>
                                        </p:tgtEl>
                                      </p:cBhvr>
                                      <p:from x="200000" y="450000"/>
                                      <p:to x="100000" y="100000"/>
                                    </p:animScale>
                                    <p:set>
                                      <p:cBhvr>
                                        <p:cTn id="28" dur="385" fill="hold"/>
                                        <p:tgtEl>
                                          <p:spTgt spid="3">
                                            <p:txEl>
                                              <p:pRg st="4" end="4"/>
                                            </p:txEl>
                                          </p:spTgt>
                                        </p:tgtEl>
                                        <p:attrNameLst>
                                          <p:attrName>ppt_x</p:attrName>
                                        </p:attrNameLst>
                                      </p:cBhvr>
                                      <p:to>
                                        <p:strVal val="(0.5)"/>
                                      </p:to>
                                    </p:set>
                                    <p:anim from="(0.5)" to="(#ppt_x)" calcmode="lin" valueType="num">
                                      <p:cBhvr>
                                        <p:cTn id="29" dur="615" accel="100000" fill="hold">
                                          <p:stCondLst>
                                            <p:cond delay="385"/>
                                          </p:stCondLst>
                                        </p:cTn>
                                        <p:tgtEl>
                                          <p:spTgt spid="3">
                                            <p:txEl>
                                              <p:pRg st="4" end="4"/>
                                            </p:txEl>
                                          </p:spTgt>
                                        </p:tgtEl>
                                        <p:attrNameLst>
                                          <p:attrName>ppt_x</p:attrName>
                                        </p:attrNameLst>
                                      </p:cBhvr>
                                    </p:anim>
                                    <p:set>
                                      <p:cBhvr>
                                        <p:cTn id="30" dur="385" fill="hold"/>
                                        <p:tgtEl>
                                          <p:spTgt spid="3">
                                            <p:txEl>
                                              <p:pRg st="4" end="4"/>
                                            </p:txEl>
                                          </p:spTgt>
                                        </p:tgtEl>
                                        <p:attrNameLst>
                                          <p:attrName>ppt_y</p:attrName>
                                        </p:attrNameLst>
                                      </p:cBhvr>
                                      <p:to>
                                        <p:strVal val="(#ppt_y+0.4)"/>
                                      </p:to>
                                    </p:set>
                                    <p:anim from="(#ppt_y+0.4)" to="(#ppt_y)" calcmode="lin" valueType="num">
                                      <p:cBhvr>
                                        <p:cTn id="31" dur="615" accel="100000" fill="hold">
                                          <p:stCondLst>
                                            <p:cond delay="385"/>
                                          </p:stCondLst>
                                        </p:cTn>
                                        <p:tgtEl>
                                          <p:spTgt spid="3">
                                            <p:txEl>
                                              <p:pRg st="4" end="4"/>
                                            </p:txEl>
                                          </p:spTgt>
                                        </p:tgtEl>
                                        <p:attrNameLst>
                                          <p:attrName>ppt_y</p:attrName>
                                        </p:attrNameLst>
                                      </p:cBhvr>
                                    </p:anim>
                                  </p:childTnLst>
                                </p:cTn>
                              </p:par>
                              <p:par>
                                <p:cTn id="32" presetID="51"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385" decel="100000"/>
                                        <p:tgtEl>
                                          <p:spTgt spid="3">
                                            <p:txEl>
                                              <p:pRg st="5" end="5"/>
                                            </p:txEl>
                                          </p:spTgt>
                                        </p:tgtEl>
                                      </p:cBhvr>
                                    </p:animEffect>
                                    <p:animScale>
                                      <p:cBhvr>
                                        <p:cTn id="35" dur="385" decel="100000"/>
                                        <p:tgtEl>
                                          <p:spTgt spid="3">
                                            <p:txEl>
                                              <p:pRg st="5" end="5"/>
                                            </p:txEl>
                                          </p:spTgt>
                                        </p:tgtEl>
                                      </p:cBhvr>
                                      <p:from x="10000" y="10000"/>
                                      <p:to x="200000" y="450000"/>
                                    </p:animScale>
                                    <p:animScale>
                                      <p:cBhvr>
                                        <p:cTn id="36" dur="615" accel="100000" fill="hold">
                                          <p:stCondLst>
                                            <p:cond delay="385"/>
                                          </p:stCondLst>
                                        </p:cTn>
                                        <p:tgtEl>
                                          <p:spTgt spid="3">
                                            <p:txEl>
                                              <p:pRg st="5" end="5"/>
                                            </p:txEl>
                                          </p:spTgt>
                                        </p:tgtEl>
                                      </p:cBhvr>
                                      <p:from x="200000" y="450000"/>
                                      <p:to x="100000" y="100000"/>
                                    </p:animScale>
                                    <p:set>
                                      <p:cBhvr>
                                        <p:cTn id="37" dur="385" fill="hold"/>
                                        <p:tgtEl>
                                          <p:spTgt spid="3">
                                            <p:txEl>
                                              <p:pRg st="5" end="5"/>
                                            </p:txEl>
                                          </p:spTgt>
                                        </p:tgtEl>
                                        <p:attrNameLst>
                                          <p:attrName>ppt_x</p:attrName>
                                        </p:attrNameLst>
                                      </p:cBhvr>
                                      <p:to>
                                        <p:strVal val="(0.5)"/>
                                      </p:to>
                                    </p:set>
                                    <p:anim from="(0.5)" to="(#ppt_x)" calcmode="lin" valueType="num">
                                      <p:cBhvr>
                                        <p:cTn id="38" dur="615" accel="100000" fill="hold">
                                          <p:stCondLst>
                                            <p:cond delay="385"/>
                                          </p:stCondLst>
                                        </p:cTn>
                                        <p:tgtEl>
                                          <p:spTgt spid="3">
                                            <p:txEl>
                                              <p:pRg st="5" end="5"/>
                                            </p:txEl>
                                          </p:spTgt>
                                        </p:tgtEl>
                                        <p:attrNameLst>
                                          <p:attrName>ppt_x</p:attrName>
                                        </p:attrNameLst>
                                      </p:cBhvr>
                                    </p:anim>
                                    <p:set>
                                      <p:cBhvr>
                                        <p:cTn id="39" dur="385" fill="hold"/>
                                        <p:tgtEl>
                                          <p:spTgt spid="3">
                                            <p:txEl>
                                              <p:pRg st="5" end="5"/>
                                            </p:txEl>
                                          </p:spTgt>
                                        </p:tgtEl>
                                        <p:attrNameLst>
                                          <p:attrName>ppt_y</p:attrName>
                                        </p:attrNameLst>
                                      </p:cBhvr>
                                      <p:to>
                                        <p:strVal val="(#ppt_y+0.4)"/>
                                      </p:to>
                                    </p:set>
                                    <p:anim from="(#ppt_y+0.4)" to="(#ppt_y)" calcmode="lin" valueType="num">
                                      <p:cBhvr>
                                        <p:cTn id="40" dur="615" accel="100000" fill="hold">
                                          <p:stCondLst>
                                            <p:cond delay="385"/>
                                          </p:stCondLst>
                                        </p:cTn>
                                        <p:tgtEl>
                                          <p:spTgt spid="3">
                                            <p:txEl>
                                              <p:pRg st="5" end="5"/>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8773" name="Object 5"/>
          <p:cNvGraphicFramePr>
            <a:graphicFrameLocks noChangeAspect="1"/>
          </p:cNvGraphicFramePr>
          <p:nvPr/>
        </p:nvGraphicFramePr>
        <p:xfrm>
          <a:off x="2895600" y="685800"/>
          <a:ext cx="5791200" cy="5811838"/>
        </p:xfrm>
        <a:graphic>
          <a:graphicData uri="http://schemas.openxmlformats.org/presentationml/2006/ole">
            <mc:AlternateContent xmlns:mc="http://schemas.openxmlformats.org/markup-compatibility/2006">
              <mc:Choice xmlns:v="urn:schemas-microsoft-com:vml" Requires="v">
                <p:oleObj name="Document" r:id="rId3" imgW="6057677" imgH="6667255" progId="">
                  <p:embed/>
                </p:oleObj>
              </mc:Choice>
              <mc:Fallback>
                <p:oleObj name="Document" r:id="rId3" imgW="6057677" imgH="6667255"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685800"/>
                        <a:ext cx="5791200" cy="5811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88774" name="Text Box 6"/>
          <p:cNvSpPr txBox="1">
            <a:spLocks noChangeArrowheads="1"/>
          </p:cNvSpPr>
          <p:nvPr/>
        </p:nvSpPr>
        <p:spPr bwMode="auto">
          <a:xfrm>
            <a:off x="669925" y="1027113"/>
            <a:ext cx="1235075" cy="366712"/>
          </a:xfrm>
          <a:prstGeom prst="rect">
            <a:avLst/>
          </a:prstGeom>
          <a:noFill/>
          <a:ln w="9525">
            <a:noFill/>
            <a:miter lim="800000"/>
            <a:headEnd/>
            <a:tailEnd/>
          </a:ln>
        </p:spPr>
        <p:txBody>
          <a:bodyPr>
            <a:spAutoFit/>
          </a:bodyPr>
          <a:lstStyle/>
          <a:p>
            <a:endParaRPr lang="en-US"/>
          </a:p>
        </p:txBody>
      </p:sp>
      <p:sp>
        <p:nvSpPr>
          <p:cNvPr id="288775" name="Text Box 7"/>
          <p:cNvSpPr txBox="1">
            <a:spLocks noChangeArrowheads="1"/>
          </p:cNvSpPr>
          <p:nvPr/>
        </p:nvSpPr>
        <p:spPr bwMode="auto">
          <a:xfrm>
            <a:off x="898525" y="1027113"/>
            <a:ext cx="625475" cy="366712"/>
          </a:xfrm>
          <a:prstGeom prst="rect">
            <a:avLst/>
          </a:prstGeom>
          <a:noFill/>
          <a:ln w="9525">
            <a:noFill/>
            <a:miter lim="800000"/>
            <a:headEnd/>
            <a:tailEnd/>
          </a:ln>
        </p:spPr>
        <p:txBody>
          <a:bodyPr>
            <a:spAutoFit/>
          </a:bodyPr>
          <a:lstStyle/>
          <a:p>
            <a:endParaRPr lang="en-US"/>
          </a:p>
        </p:txBody>
      </p:sp>
      <p:sp>
        <p:nvSpPr>
          <p:cNvPr id="288776" name="Text Box 8"/>
          <p:cNvSpPr txBox="1">
            <a:spLocks noChangeArrowheads="1"/>
          </p:cNvSpPr>
          <p:nvPr/>
        </p:nvSpPr>
        <p:spPr bwMode="auto">
          <a:xfrm>
            <a:off x="838200" y="1371600"/>
            <a:ext cx="1447800" cy="4789488"/>
          </a:xfrm>
          <a:prstGeom prst="rect">
            <a:avLst/>
          </a:prstGeom>
          <a:noFill/>
          <a:ln w="9525">
            <a:noFill/>
            <a:miter lim="800000"/>
            <a:headEnd/>
            <a:tailEnd/>
          </a:ln>
        </p:spPr>
        <p:txBody>
          <a:bodyPr>
            <a:spAutoFit/>
          </a:bodyPr>
          <a:lstStyle/>
          <a:p>
            <a:r>
              <a:rPr lang="en-US" sz="2800"/>
              <a:t>P     I</a:t>
            </a:r>
          </a:p>
          <a:p>
            <a:r>
              <a:rPr lang="en-US" sz="2800"/>
              <a:t>R    N </a:t>
            </a:r>
          </a:p>
          <a:p>
            <a:r>
              <a:rPr lang="en-US" sz="2800"/>
              <a:t>O    T</a:t>
            </a:r>
          </a:p>
          <a:p>
            <a:r>
              <a:rPr lang="en-US" sz="2800"/>
              <a:t>C    E</a:t>
            </a:r>
          </a:p>
          <a:p>
            <a:r>
              <a:rPr lang="en-US" sz="2800"/>
              <a:t>E    R</a:t>
            </a:r>
          </a:p>
          <a:p>
            <a:r>
              <a:rPr lang="en-US" sz="2800"/>
              <a:t>S    A</a:t>
            </a:r>
          </a:p>
          <a:p>
            <a:r>
              <a:rPr lang="en-US" sz="2800"/>
              <a:t>S    C</a:t>
            </a:r>
          </a:p>
          <a:p>
            <a:r>
              <a:rPr lang="en-US" sz="2800"/>
              <a:t>      T</a:t>
            </a:r>
          </a:p>
          <a:p>
            <a:r>
              <a:rPr lang="en-US" sz="2800"/>
              <a:t>       I</a:t>
            </a:r>
          </a:p>
          <a:p>
            <a:r>
              <a:rPr lang="en-US" sz="2800"/>
              <a:t>      O</a:t>
            </a:r>
          </a:p>
          <a:p>
            <a:r>
              <a:rPr lang="en-US" sz="2800"/>
              <a:t>      N</a:t>
            </a:r>
          </a:p>
        </p:txBody>
      </p:sp>
    </p:spTree>
  </p:cSld>
  <p:clrMapOvr>
    <a:masterClrMapping/>
  </p:clrMapOvr>
  <p:transition spd="med">
    <p:check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350" y="463550"/>
            <a:ext cx="7696200" cy="990600"/>
          </a:xfrm>
        </p:spPr>
        <p:txBody>
          <a:bodyPr/>
          <a:lstStyle/>
          <a:p>
            <a:pPr algn="ctr" eaLnBrk="1" fontAlgn="auto" hangingPunct="1">
              <a:spcAft>
                <a:spcPts val="0"/>
              </a:spcAft>
              <a:defRPr/>
            </a:pPr>
            <a:r>
              <a:rPr lang="en-US" sz="4800" b="1" dirty="0">
                <a:ln w="1905"/>
                <a:solidFill>
                  <a:schemeClr val="accent6">
                    <a:lumMod val="50000"/>
                  </a:schemeClr>
                </a:solidFill>
                <a:effectLst>
                  <a:innerShdw blurRad="69850" dist="43180" dir="5400000">
                    <a:srgbClr val="000000">
                      <a:alpha val="65000"/>
                    </a:srgbClr>
                  </a:innerShdw>
                </a:effectLst>
              </a:rPr>
              <a:t>Resource Competition</a:t>
            </a:r>
          </a:p>
        </p:txBody>
      </p:sp>
      <p:sp>
        <p:nvSpPr>
          <p:cNvPr id="290818" name="Content Placeholder 2"/>
          <p:cNvSpPr>
            <a:spLocks noGrp="1"/>
          </p:cNvSpPr>
          <p:nvPr>
            <p:ph sz="half" idx="1"/>
          </p:nvPr>
        </p:nvSpPr>
        <p:spPr>
          <a:xfrm>
            <a:off x="1371600" y="2057400"/>
            <a:ext cx="7391400" cy="3352800"/>
          </a:xfrm>
        </p:spPr>
        <p:txBody>
          <a:bodyPr>
            <a:normAutofit fontScale="92500"/>
          </a:bodyPr>
          <a:lstStyle/>
          <a:p>
            <a:pPr eaLnBrk="1" hangingPunct="1">
              <a:spcBef>
                <a:spcPct val="0"/>
              </a:spcBef>
              <a:buClr>
                <a:srgbClr val="3C561A"/>
              </a:buClr>
              <a:buSzPct val="150000"/>
              <a:buFont typeface="Wingdings" pitchFamily="2" charset="2"/>
              <a:buChar char="§"/>
            </a:pPr>
            <a:r>
              <a:rPr lang="en-US" sz="2800" dirty="0"/>
              <a:t>Concurrent processes come into conflict when they use the same resource (competitively or shared)</a:t>
            </a:r>
          </a:p>
          <a:p>
            <a:pPr marL="742950" lvl="1" indent="-285750" eaLnBrk="1" hangingPunct="1">
              <a:spcBef>
                <a:spcPct val="0"/>
              </a:spcBef>
              <a:buClr>
                <a:srgbClr val="3C561A"/>
              </a:buClr>
              <a:buSzPct val="150000"/>
              <a:buFont typeface="Wingdings" pitchFamily="2" charset="2"/>
              <a:buChar char="§"/>
            </a:pPr>
            <a:r>
              <a:rPr lang="en-US" sz="2000" dirty="0"/>
              <a:t> for example: I/O devices, memory, processor time, clock</a:t>
            </a:r>
          </a:p>
          <a:p>
            <a:pPr eaLnBrk="1" hangingPunct="1">
              <a:spcBef>
                <a:spcPct val="0"/>
              </a:spcBef>
              <a:buClr>
                <a:srgbClr val="3C561A"/>
              </a:buClr>
              <a:buSzPct val="150000"/>
              <a:buFont typeface="Wingdings" pitchFamily="2" charset="2"/>
              <a:buChar char="§"/>
            </a:pPr>
            <a:r>
              <a:rPr lang="en-US" sz="2800" dirty="0"/>
              <a:t>Three control problems must be faced</a:t>
            </a:r>
          </a:p>
          <a:p>
            <a:pPr marL="742950" lvl="1" indent="-285750" eaLnBrk="1" hangingPunct="1">
              <a:spcBef>
                <a:spcPct val="0"/>
              </a:spcBef>
              <a:buClr>
                <a:srgbClr val="3C561A"/>
              </a:buClr>
              <a:buSzPct val="150000"/>
              <a:buFont typeface="Wingdings" pitchFamily="2" charset="2"/>
              <a:buChar char="§"/>
            </a:pPr>
            <a:r>
              <a:rPr lang="en-US" sz="2400" dirty="0"/>
              <a:t>Need for mutual exclusion</a:t>
            </a:r>
          </a:p>
          <a:p>
            <a:pPr marL="742950" lvl="1" indent="-285750" eaLnBrk="1" hangingPunct="1">
              <a:spcBef>
                <a:spcPct val="0"/>
              </a:spcBef>
              <a:buClr>
                <a:srgbClr val="3C561A"/>
              </a:buClr>
              <a:buSzPct val="150000"/>
              <a:buFont typeface="Wingdings" pitchFamily="2" charset="2"/>
              <a:buChar char="§"/>
            </a:pPr>
            <a:r>
              <a:rPr lang="en-US" sz="2400" dirty="0"/>
              <a:t>Deadlock</a:t>
            </a:r>
          </a:p>
          <a:p>
            <a:pPr marL="742950" lvl="1" indent="-285750" eaLnBrk="1" hangingPunct="1">
              <a:spcBef>
                <a:spcPct val="0"/>
              </a:spcBef>
              <a:buClr>
                <a:srgbClr val="3C561A"/>
              </a:buClr>
              <a:buSzPct val="150000"/>
              <a:buFont typeface="Wingdings" pitchFamily="2" charset="2"/>
              <a:buChar char="§"/>
            </a:pPr>
            <a:r>
              <a:rPr lang="en-US" sz="2400" dirty="0"/>
              <a:t>Starvation</a:t>
            </a:r>
          </a:p>
          <a:p>
            <a:pPr eaLnBrk="1" hangingPunct="1">
              <a:spcBef>
                <a:spcPct val="0"/>
              </a:spcBef>
              <a:buClr>
                <a:srgbClr val="3C561A"/>
              </a:buClr>
              <a:buSzPct val="150000"/>
              <a:buFont typeface="Wingdings" pitchFamily="2" charset="2"/>
              <a:buChar char="§"/>
            </a:pPr>
            <a:r>
              <a:rPr lang="en-US" sz="2800" dirty="0"/>
              <a:t>Sharing processes also need to address coherence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5" name="Rectangle 2"/>
          <p:cNvSpPr>
            <a:spLocks noGrp="1"/>
          </p:cNvSpPr>
          <p:nvPr>
            <p:ph type="title"/>
          </p:nvPr>
        </p:nvSpPr>
        <p:spPr bwMode="auto">
          <a:xfrm>
            <a:off x="658813" y="455613"/>
            <a:ext cx="8027987" cy="1323975"/>
          </a:xfrm>
        </p:spPr>
        <p:txBody>
          <a:bodyPr wrap="square" numCol="1" compatLnSpc="1">
            <a:prstTxWarp prst="textNoShape">
              <a:avLst/>
            </a:prstTxWarp>
          </a:bodyPr>
          <a:lstStyle/>
          <a:p>
            <a:pPr eaLnBrk="1" hangingPunct="1"/>
            <a:r>
              <a:rPr lang="en-US">
                <a:solidFill>
                  <a:schemeClr val="tx1"/>
                </a:solidFill>
                <a:effectLst/>
              </a:rPr>
              <a:t>Need for Mutual Exclusion</a:t>
            </a:r>
          </a:p>
        </p:txBody>
      </p:sp>
      <p:sp>
        <p:nvSpPr>
          <p:cNvPr id="292866" name="Rectangle 3"/>
          <p:cNvSpPr>
            <a:spLocks noGrp="1"/>
          </p:cNvSpPr>
          <p:nvPr>
            <p:ph idx="1"/>
          </p:nvPr>
        </p:nvSpPr>
        <p:spPr>
          <a:xfrm>
            <a:off x="609600" y="2286000"/>
            <a:ext cx="7874000" cy="3840163"/>
          </a:xfrm>
        </p:spPr>
        <p:txBody>
          <a:bodyPr/>
          <a:lstStyle/>
          <a:p>
            <a:pPr eaLnBrk="1" hangingPunct="1"/>
            <a:r>
              <a:rPr lang="en-US" sz="2800"/>
              <a:t>If there is no controlled access to shared data, processes or threads may get an inconsistent view of this data</a:t>
            </a:r>
          </a:p>
          <a:p>
            <a:pPr eaLnBrk="1" hangingPunct="1"/>
            <a:r>
              <a:rPr lang="en-US" sz="2800"/>
              <a:t>The result of concurrent execution will depend on the order in which instructions are interleaved.</a:t>
            </a:r>
          </a:p>
          <a:p>
            <a:pPr eaLnBrk="1" hangingPunct="1"/>
            <a:r>
              <a:rPr lang="en-US" sz="2800"/>
              <a:t>Errors are timing dependent and usually not reproducible.</a:t>
            </a:r>
          </a:p>
          <a:p>
            <a:pPr eaLnBrk="1" hangingPunct="1"/>
            <a:endParaRPr 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2"/>
          <p:cNvSpPr>
            <a:spLocks noChangeArrowheads="1"/>
          </p:cNvSpPr>
          <p:nvPr/>
        </p:nvSpPr>
        <p:spPr bwMode="auto">
          <a:xfrm>
            <a:off x="533400" y="533400"/>
            <a:ext cx="8037513" cy="1295400"/>
          </a:xfrm>
          <a:prstGeom prst="rect">
            <a:avLst/>
          </a:prstGeom>
          <a:noFill/>
          <a:ln w="9525">
            <a:noFill/>
            <a:miter lim="800000"/>
            <a:headEnd/>
            <a:tailEnd/>
          </a:ln>
        </p:spPr>
        <p:txBody>
          <a:bodyPr lIns="92075" tIns="46038" rIns="92075" bIns="46038" anchor="ctr"/>
          <a:lstStyle/>
          <a:p>
            <a:pPr algn="ctr">
              <a:lnSpc>
                <a:spcPts val="5400"/>
              </a:lnSpc>
            </a:pPr>
            <a:r>
              <a:rPr lang="en-US" sz="5200" dirty="0">
                <a:latin typeface="Calisto MT" pitchFamily="18" charset="0"/>
              </a:rPr>
              <a:t>An Example</a:t>
            </a:r>
          </a:p>
        </p:txBody>
      </p:sp>
      <p:sp>
        <p:nvSpPr>
          <p:cNvPr id="293890" name="Rectangle 3"/>
          <p:cNvSpPr>
            <a:spLocks noChangeArrowheads="1"/>
          </p:cNvSpPr>
          <p:nvPr/>
        </p:nvSpPr>
        <p:spPr bwMode="auto">
          <a:xfrm>
            <a:off x="381000" y="2286000"/>
            <a:ext cx="5867400" cy="3962400"/>
          </a:xfrm>
          <a:prstGeom prst="rect">
            <a:avLst/>
          </a:prstGeom>
          <a:noFill/>
          <a:ln w="9525">
            <a:noFill/>
            <a:miter lim="800000"/>
            <a:headEnd/>
            <a:tailEnd/>
          </a:ln>
        </p:spPr>
        <p:txBody>
          <a:bodyPr lIns="92075" tIns="46038" rIns="92075" bIns="46038"/>
          <a:lstStyle/>
          <a:p>
            <a:pPr marL="282575" indent="-282575">
              <a:lnSpc>
                <a:spcPct val="80000"/>
              </a:lnSpc>
              <a:spcBef>
                <a:spcPts val="1800"/>
              </a:spcBef>
              <a:buClr>
                <a:schemeClr val="accent1"/>
              </a:buClr>
              <a:buSzPct val="75000"/>
              <a:buFont typeface="Wingdings" pitchFamily="2" charset="2"/>
              <a:buChar char="n"/>
            </a:pPr>
            <a:r>
              <a:rPr lang="en-US" sz="2800" dirty="0">
                <a:solidFill>
                  <a:srgbClr val="262626"/>
                </a:solidFill>
                <a:latin typeface="Calisto MT" pitchFamily="18" charset="0"/>
              </a:rPr>
              <a:t>Assume P1 and P2 are executing  this code and share the variable </a:t>
            </a:r>
            <a:r>
              <a:rPr lang="en-US" sz="2800" b="1" dirty="0">
                <a:solidFill>
                  <a:srgbClr val="262626"/>
                </a:solidFill>
                <a:latin typeface="Courier New" pitchFamily="49" charset="0"/>
                <a:cs typeface="Courier New" pitchFamily="49" charset="0"/>
              </a:rPr>
              <a:t>a</a:t>
            </a:r>
          </a:p>
          <a:p>
            <a:pPr marL="282575" indent="-282575">
              <a:lnSpc>
                <a:spcPct val="80000"/>
              </a:lnSpc>
              <a:spcBef>
                <a:spcPts val="1800"/>
              </a:spcBef>
              <a:buClr>
                <a:schemeClr val="accent1"/>
              </a:buClr>
              <a:buSzPct val="75000"/>
              <a:buFont typeface="Wingdings" pitchFamily="2" charset="2"/>
              <a:buChar char="n"/>
            </a:pPr>
            <a:r>
              <a:rPr lang="en-US" sz="2800" dirty="0">
                <a:solidFill>
                  <a:srgbClr val="262626"/>
                </a:solidFill>
                <a:latin typeface="Calisto MT" pitchFamily="18" charset="0"/>
              </a:rPr>
              <a:t>Processes can be preempted at any time.</a:t>
            </a:r>
          </a:p>
          <a:p>
            <a:pPr marL="282575" indent="-282575">
              <a:lnSpc>
                <a:spcPct val="80000"/>
              </a:lnSpc>
              <a:spcBef>
                <a:spcPts val="1800"/>
              </a:spcBef>
              <a:buClr>
                <a:schemeClr val="accent1"/>
              </a:buClr>
              <a:buSzPct val="75000"/>
              <a:buFont typeface="Wingdings" pitchFamily="2" charset="2"/>
              <a:buChar char="n"/>
            </a:pPr>
            <a:r>
              <a:rPr lang="en-US" sz="2800" dirty="0">
                <a:solidFill>
                  <a:srgbClr val="262626"/>
                </a:solidFill>
                <a:latin typeface="Calisto MT" pitchFamily="18" charset="0"/>
              </a:rPr>
              <a:t>Assume P1 is preempted after the input statement, and P2 then executes entirely</a:t>
            </a:r>
          </a:p>
          <a:p>
            <a:pPr marL="282575" indent="-282575">
              <a:lnSpc>
                <a:spcPct val="80000"/>
              </a:lnSpc>
              <a:spcBef>
                <a:spcPts val="1800"/>
              </a:spcBef>
              <a:buClr>
                <a:schemeClr val="accent1"/>
              </a:buClr>
              <a:buSzPct val="75000"/>
              <a:buFont typeface="Wingdings" pitchFamily="2" charset="2"/>
              <a:buChar char="n"/>
            </a:pPr>
            <a:r>
              <a:rPr lang="en-US" sz="2800" dirty="0">
                <a:solidFill>
                  <a:srgbClr val="262626"/>
                </a:solidFill>
                <a:latin typeface="Calisto MT" pitchFamily="18" charset="0"/>
              </a:rPr>
              <a:t>The character echoed by P1 will be the one read by P2 !!</a:t>
            </a:r>
          </a:p>
          <a:p>
            <a:pPr marL="282575" indent="-282575">
              <a:spcBef>
                <a:spcPts val="1800"/>
              </a:spcBef>
              <a:buClr>
                <a:schemeClr val="accent1"/>
              </a:buClr>
              <a:buSzPct val="75000"/>
              <a:buFont typeface="Wingdings" pitchFamily="2" charset="2"/>
              <a:buChar char="n"/>
            </a:pPr>
            <a:endParaRPr lang="en-US" sz="2800" dirty="0">
              <a:solidFill>
                <a:srgbClr val="262626"/>
              </a:solidFill>
              <a:latin typeface="Calisto MT" pitchFamily="18" charset="0"/>
            </a:endParaRPr>
          </a:p>
        </p:txBody>
      </p:sp>
      <p:sp>
        <p:nvSpPr>
          <p:cNvPr id="293891" name="Text Box 4"/>
          <p:cNvSpPr txBox="1">
            <a:spLocks noChangeArrowheads="1"/>
          </p:cNvSpPr>
          <p:nvPr/>
        </p:nvSpPr>
        <p:spPr bwMode="auto">
          <a:xfrm>
            <a:off x="6400800" y="2590800"/>
            <a:ext cx="2405063" cy="2225675"/>
          </a:xfrm>
          <a:prstGeom prst="rect">
            <a:avLst/>
          </a:prstGeom>
          <a:noFill/>
          <a:ln w="12700" cap="sq">
            <a:noFill/>
            <a:miter lim="800000"/>
            <a:headEnd type="none" w="sm" len="sm"/>
            <a:tailEnd type="none" w="sm" len="sm"/>
          </a:ln>
        </p:spPr>
        <p:txBody>
          <a:bodyPr>
            <a:spAutoFit/>
          </a:bodyPr>
          <a:lstStyle/>
          <a:p>
            <a:pPr eaLnBrk="0" hangingPunct="0"/>
            <a:r>
              <a:rPr lang="en-US" sz="2000" b="1" dirty="0">
                <a:solidFill>
                  <a:srgbClr val="FF0000"/>
                </a:solidFill>
                <a:latin typeface="Courier New" pitchFamily="49" charset="0"/>
              </a:rPr>
              <a:t>static char a;</a:t>
            </a:r>
          </a:p>
          <a:p>
            <a:pPr eaLnBrk="0" hangingPunct="0"/>
            <a:endParaRPr lang="en-US" sz="2000" b="1" dirty="0">
              <a:solidFill>
                <a:srgbClr val="FF0000"/>
              </a:solidFill>
              <a:latin typeface="Courier New" pitchFamily="49" charset="0"/>
            </a:endParaRPr>
          </a:p>
          <a:p>
            <a:pPr eaLnBrk="0" hangingPunct="0"/>
            <a:r>
              <a:rPr lang="en-US" sz="2000" b="1" dirty="0">
                <a:solidFill>
                  <a:srgbClr val="FF0000"/>
                </a:solidFill>
                <a:latin typeface="Courier New" pitchFamily="49" charset="0"/>
              </a:rPr>
              <a:t>void echo()</a:t>
            </a:r>
          </a:p>
          <a:p>
            <a:pPr eaLnBrk="0" hangingPunct="0"/>
            <a:r>
              <a:rPr lang="en-US" sz="2000" b="1" dirty="0">
                <a:solidFill>
                  <a:srgbClr val="FF0000"/>
                </a:solidFill>
                <a:latin typeface="Courier New" pitchFamily="49" charset="0"/>
              </a:rPr>
              <a:t>{</a:t>
            </a:r>
          </a:p>
          <a:p>
            <a:pPr eaLnBrk="0" hangingPunct="0"/>
            <a:r>
              <a:rPr lang="en-US" sz="2000" b="1" dirty="0">
                <a:solidFill>
                  <a:srgbClr val="FF0000"/>
                </a:solidFill>
                <a:latin typeface="Courier New" pitchFamily="49" charset="0"/>
              </a:rPr>
              <a:t>   </a:t>
            </a:r>
            <a:r>
              <a:rPr lang="en-US" sz="2000" b="1" dirty="0" err="1">
                <a:solidFill>
                  <a:srgbClr val="FF0000"/>
                </a:solidFill>
                <a:latin typeface="Courier New" pitchFamily="49" charset="0"/>
              </a:rPr>
              <a:t>cin</a:t>
            </a:r>
            <a:r>
              <a:rPr lang="en-US" sz="2000" b="1" dirty="0">
                <a:solidFill>
                  <a:srgbClr val="FF0000"/>
                </a:solidFill>
                <a:latin typeface="Courier New" pitchFamily="49" charset="0"/>
              </a:rPr>
              <a:t> &gt;&gt; a;</a:t>
            </a:r>
          </a:p>
          <a:p>
            <a:pPr eaLnBrk="0" hangingPunct="0"/>
            <a:r>
              <a:rPr lang="en-US" sz="2000" b="1" dirty="0">
                <a:solidFill>
                  <a:srgbClr val="FF0000"/>
                </a:solidFill>
                <a:latin typeface="Courier New" pitchFamily="49" charset="0"/>
              </a:rPr>
              <a:t>   </a:t>
            </a:r>
            <a:r>
              <a:rPr lang="en-US" sz="2000" b="1" dirty="0" err="1">
                <a:solidFill>
                  <a:srgbClr val="FF0000"/>
                </a:solidFill>
                <a:latin typeface="Courier New" pitchFamily="49" charset="0"/>
              </a:rPr>
              <a:t>cout</a:t>
            </a:r>
            <a:r>
              <a:rPr lang="en-US" sz="2000" b="1" dirty="0">
                <a:solidFill>
                  <a:srgbClr val="FF0000"/>
                </a:solidFill>
                <a:latin typeface="Courier New" pitchFamily="49" charset="0"/>
              </a:rPr>
              <a:t> &lt;&lt; a;</a:t>
            </a:r>
          </a:p>
          <a:p>
            <a:pPr eaLnBrk="0" hangingPunct="0"/>
            <a:r>
              <a:rPr lang="en-US" sz="2000" b="1" dirty="0">
                <a:solidFill>
                  <a:srgbClr val="FF0000"/>
                </a:solidFill>
                <a:latin typeface="Courier New" pitchFamily="49"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Rectangle 2"/>
          <p:cNvSpPr>
            <a:spLocks noGrp="1"/>
          </p:cNvSpPr>
          <p:nvPr>
            <p:ph type="title"/>
          </p:nvPr>
        </p:nvSpPr>
        <p:spPr bwMode="auto"/>
        <p:txBody>
          <a:bodyPr wrap="square" numCol="1" compatLnSpc="1">
            <a:prstTxWarp prst="textNoShape">
              <a:avLst/>
            </a:prstTxWarp>
          </a:bodyPr>
          <a:lstStyle/>
          <a:p>
            <a:pPr algn="ctr" eaLnBrk="1" hangingPunct="1"/>
            <a:r>
              <a:rPr lang="en-US">
                <a:solidFill>
                  <a:schemeClr val="tx1"/>
                </a:solidFill>
                <a:effectLst/>
              </a:rPr>
              <a:t>What’s the Problem?</a:t>
            </a:r>
          </a:p>
        </p:txBody>
      </p:sp>
      <p:sp>
        <p:nvSpPr>
          <p:cNvPr id="294914" name="Rectangle 3"/>
          <p:cNvSpPr>
            <a:spLocks noGrp="1"/>
          </p:cNvSpPr>
          <p:nvPr>
            <p:ph idx="1"/>
          </p:nvPr>
        </p:nvSpPr>
        <p:spPr>
          <a:xfrm>
            <a:off x="533400" y="2286000"/>
            <a:ext cx="7950200" cy="3840163"/>
          </a:xfrm>
        </p:spPr>
        <p:txBody>
          <a:bodyPr/>
          <a:lstStyle/>
          <a:p>
            <a:pPr eaLnBrk="1" hangingPunct="1">
              <a:lnSpc>
                <a:spcPct val="90000"/>
              </a:lnSpc>
            </a:pPr>
            <a:r>
              <a:rPr lang="en-US" sz="2800"/>
              <a:t>This is an example of a </a:t>
            </a:r>
            <a:r>
              <a:rPr lang="en-US" sz="2800" i="1"/>
              <a:t>race condition</a:t>
            </a:r>
          </a:p>
          <a:p>
            <a:pPr eaLnBrk="1" hangingPunct="1">
              <a:lnSpc>
                <a:spcPct val="90000"/>
              </a:lnSpc>
            </a:pPr>
            <a:r>
              <a:rPr lang="en-US" sz="2800"/>
              <a:t>Individual processes (threads) execute sequentially in isolation, but concurrency causes them to interact.  </a:t>
            </a:r>
          </a:p>
          <a:p>
            <a:pPr eaLnBrk="1" hangingPunct="1">
              <a:lnSpc>
                <a:spcPct val="90000"/>
              </a:lnSpc>
            </a:pPr>
            <a:r>
              <a:rPr lang="en-US" sz="2800"/>
              <a:t>We need to prevent concurrent execution by processes when they are changing the same data. We need to enforce </a:t>
            </a:r>
            <a:r>
              <a:rPr lang="en-US" sz="2800" i="1"/>
              <a:t>mutual exclusion</a:t>
            </a:r>
            <a:r>
              <a:rPr lang="en-US" sz="280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7" name="Rectangle 2"/>
          <p:cNvSpPr>
            <a:spLocks noChangeArrowheads="1"/>
          </p:cNvSpPr>
          <p:nvPr/>
        </p:nvSpPr>
        <p:spPr bwMode="auto">
          <a:xfrm>
            <a:off x="685800" y="457200"/>
            <a:ext cx="8001000" cy="1266825"/>
          </a:xfrm>
          <a:prstGeom prst="rect">
            <a:avLst/>
          </a:prstGeom>
          <a:noFill/>
          <a:ln w="9525">
            <a:noFill/>
            <a:miter lim="800000"/>
            <a:headEnd/>
            <a:tailEnd/>
          </a:ln>
        </p:spPr>
        <p:txBody>
          <a:bodyPr lIns="92075" tIns="46038" rIns="92075" bIns="46038" anchor="ctr"/>
          <a:lstStyle/>
          <a:p>
            <a:pPr algn="ctr">
              <a:lnSpc>
                <a:spcPts val="5400"/>
              </a:lnSpc>
            </a:pPr>
            <a:r>
              <a:rPr lang="en-US" sz="5200">
                <a:latin typeface="Calisto MT" pitchFamily="18" charset="0"/>
              </a:rPr>
              <a:t>The Critical Section Problem</a:t>
            </a:r>
          </a:p>
        </p:txBody>
      </p:sp>
      <p:sp>
        <p:nvSpPr>
          <p:cNvPr id="295938" name="Rectangle 3"/>
          <p:cNvSpPr>
            <a:spLocks noChangeArrowheads="1"/>
          </p:cNvSpPr>
          <p:nvPr/>
        </p:nvSpPr>
        <p:spPr bwMode="auto">
          <a:xfrm>
            <a:off x="762000" y="2209800"/>
            <a:ext cx="7886700" cy="4460875"/>
          </a:xfrm>
          <a:prstGeom prst="rect">
            <a:avLst/>
          </a:prstGeom>
          <a:noFill/>
          <a:ln w="9525">
            <a:noFill/>
            <a:miter lim="800000"/>
            <a:headEnd/>
            <a:tailEnd/>
          </a:ln>
        </p:spPr>
        <p:txBody>
          <a:bodyPr lIns="92075" tIns="46038" rIns="92075" bIns="46038"/>
          <a:lstStyle/>
          <a:p>
            <a:pPr marL="282575" indent="-282575">
              <a:spcBef>
                <a:spcPts val="1800"/>
              </a:spcBef>
              <a:buClr>
                <a:schemeClr val="accent1"/>
              </a:buClr>
              <a:buSzPct val="75000"/>
              <a:buFont typeface="Wingdings" pitchFamily="2" charset="2"/>
              <a:buChar char="n"/>
            </a:pPr>
            <a:r>
              <a:rPr lang="en-US" sz="2800">
                <a:solidFill>
                  <a:srgbClr val="262626"/>
                </a:solidFill>
                <a:latin typeface="Calisto MT" pitchFamily="18" charset="0"/>
              </a:rPr>
              <a:t>When a process executes code that manipulates shared data (or resources), we say that the process is in its </a:t>
            </a:r>
            <a:r>
              <a:rPr lang="en-US" sz="2800">
                <a:solidFill>
                  <a:schemeClr val="accent1"/>
                </a:solidFill>
                <a:latin typeface="Calisto MT" pitchFamily="18" charset="0"/>
              </a:rPr>
              <a:t>critical section</a:t>
            </a:r>
            <a:r>
              <a:rPr lang="en-US" sz="2800">
                <a:solidFill>
                  <a:srgbClr val="262626"/>
                </a:solidFill>
                <a:latin typeface="Calisto MT" pitchFamily="18" charset="0"/>
              </a:rPr>
              <a:t> (CS) for that shared data</a:t>
            </a:r>
          </a:p>
          <a:p>
            <a:pPr marL="282575" indent="-282575">
              <a:spcBef>
                <a:spcPts val="1800"/>
              </a:spcBef>
              <a:buClr>
                <a:schemeClr val="accent1"/>
              </a:buClr>
              <a:buSzPct val="75000"/>
              <a:buFont typeface="Wingdings" pitchFamily="2" charset="2"/>
              <a:buChar char="n"/>
            </a:pPr>
            <a:r>
              <a:rPr lang="en-US" sz="2800">
                <a:solidFill>
                  <a:srgbClr val="262626"/>
                </a:solidFill>
                <a:latin typeface="Calisto MT" pitchFamily="18" charset="0"/>
              </a:rPr>
              <a:t>We must enforce mutual exclusion on the execution of critical sections.</a:t>
            </a:r>
          </a:p>
          <a:p>
            <a:pPr marL="282575" indent="-282575">
              <a:spcBef>
                <a:spcPts val="1800"/>
              </a:spcBef>
              <a:buClr>
                <a:schemeClr val="accent1"/>
              </a:buClr>
              <a:buSzPct val="75000"/>
              <a:buFont typeface="Wingdings" pitchFamily="2" charset="2"/>
              <a:buChar char="n"/>
            </a:pPr>
            <a:r>
              <a:rPr lang="en-US" sz="2800">
                <a:solidFill>
                  <a:srgbClr val="262626"/>
                </a:solidFill>
                <a:latin typeface="Calisto MT" pitchFamily="18" charset="0"/>
              </a:rPr>
              <a:t>Only one process at a time can be in its CS (for that shared data or resource).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Rectangle 2"/>
          <p:cNvSpPr>
            <a:spLocks noGrp="1"/>
          </p:cNvSpPr>
          <p:nvPr>
            <p:ph type="title"/>
          </p:nvPr>
        </p:nvSpPr>
        <p:spPr bwMode="auto">
          <a:xfrm>
            <a:off x="457200" y="533400"/>
            <a:ext cx="8458200" cy="1323975"/>
          </a:xfrm>
        </p:spPr>
        <p:txBody>
          <a:bodyPr wrap="square" numCol="1" compatLnSpc="1">
            <a:prstTxWarp prst="textNoShape">
              <a:avLst/>
            </a:prstTxWarp>
          </a:bodyPr>
          <a:lstStyle/>
          <a:p>
            <a:pPr algn="l" eaLnBrk="1" hangingPunct="1"/>
            <a:r>
              <a:rPr lang="en-US">
                <a:solidFill>
                  <a:schemeClr val="tx1"/>
                </a:solidFill>
                <a:effectLst/>
              </a:rPr>
              <a:t>The Critical Section Problem</a:t>
            </a:r>
          </a:p>
        </p:txBody>
      </p:sp>
      <p:sp>
        <p:nvSpPr>
          <p:cNvPr id="296962" name="Rectangle 3"/>
          <p:cNvSpPr>
            <a:spLocks noGrp="1"/>
          </p:cNvSpPr>
          <p:nvPr>
            <p:ph idx="1"/>
          </p:nvPr>
        </p:nvSpPr>
        <p:spPr>
          <a:xfrm>
            <a:off x="533400" y="2286000"/>
            <a:ext cx="7950200" cy="3840163"/>
          </a:xfrm>
        </p:spPr>
        <p:txBody>
          <a:bodyPr/>
          <a:lstStyle/>
          <a:p>
            <a:pPr eaLnBrk="1" hangingPunct="1"/>
            <a:r>
              <a:rPr lang="en-US" sz="2800"/>
              <a:t>Enforcing mutual exclusion guarantees that related CS’s will be executed </a:t>
            </a:r>
            <a:r>
              <a:rPr lang="en-US" sz="2800" i="1"/>
              <a:t>serially </a:t>
            </a:r>
            <a:r>
              <a:rPr lang="en-US" sz="2800"/>
              <a:t>instead of </a:t>
            </a:r>
            <a:r>
              <a:rPr lang="en-US" sz="2800" i="1"/>
              <a:t>concurrently</a:t>
            </a:r>
            <a:r>
              <a:rPr lang="en-US" sz="2800"/>
              <a:t>.</a:t>
            </a:r>
          </a:p>
          <a:p>
            <a:pPr eaLnBrk="1" hangingPunct="1"/>
            <a:r>
              <a:rPr lang="en-US" sz="2800"/>
              <a:t>The critical section problem is how to provide mechanisms to enforce mutual exclusion so the actions of concurrent processes won’t depend on the order in which their instructions are interleaved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5" name="Rectangle 2"/>
          <p:cNvSpPr>
            <a:spLocks noChangeArrowheads="1"/>
          </p:cNvSpPr>
          <p:nvPr/>
        </p:nvSpPr>
        <p:spPr bwMode="auto">
          <a:xfrm>
            <a:off x="381000" y="685800"/>
            <a:ext cx="8382000" cy="962025"/>
          </a:xfrm>
          <a:prstGeom prst="rect">
            <a:avLst/>
          </a:prstGeom>
          <a:noFill/>
          <a:ln w="9525">
            <a:noFill/>
            <a:miter lim="800000"/>
            <a:headEnd/>
            <a:tailEnd/>
          </a:ln>
        </p:spPr>
        <p:txBody>
          <a:bodyPr lIns="92075" tIns="46038" rIns="92075" bIns="46038" anchor="ctr"/>
          <a:lstStyle/>
          <a:p>
            <a:pPr>
              <a:lnSpc>
                <a:spcPts val="5400"/>
              </a:lnSpc>
            </a:pPr>
            <a:r>
              <a:rPr lang="en-US" sz="5200" dirty="0">
                <a:latin typeface="Calisto MT" pitchFamily="18" charset="0"/>
              </a:rPr>
              <a:t>The Critical Section Problem</a:t>
            </a:r>
          </a:p>
        </p:txBody>
      </p:sp>
      <p:sp>
        <p:nvSpPr>
          <p:cNvPr id="295939" name="Rectangle 3"/>
          <p:cNvSpPr>
            <a:spLocks noChangeArrowheads="1"/>
          </p:cNvSpPr>
          <p:nvPr/>
        </p:nvSpPr>
        <p:spPr bwMode="auto">
          <a:xfrm>
            <a:off x="609600" y="1828800"/>
            <a:ext cx="8077200" cy="4343400"/>
          </a:xfrm>
          <a:prstGeom prst="rect">
            <a:avLst/>
          </a:prstGeom>
          <a:noFill/>
          <a:ln w="9525">
            <a:noFill/>
            <a:miter lim="800000"/>
            <a:headEnd/>
            <a:tailEnd/>
          </a:ln>
        </p:spPr>
        <p:txBody>
          <a:bodyPr lIns="92075" tIns="46038" rIns="92075" bIns="46038"/>
          <a:lstStyle/>
          <a:p>
            <a:pPr marL="282575" indent="-282575">
              <a:spcBef>
                <a:spcPts val="1800"/>
              </a:spcBef>
              <a:buClr>
                <a:schemeClr val="accent1"/>
              </a:buClr>
              <a:buSzPct val="75000"/>
              <a:buFont typeface="Wingdings" pitchFamily="2" charset="2"/>
              <a:buChar char="n"/>
            </a:pPr>
            <a:r>
              <a:rPr lang="en-US" sz="2800" dirty="0">
                <a:solidFill>
                  <a:srgbClr val="262626"/>
                </a:solidFill>
                <a:latin typeface="Calisto MT" pitchFamily="18" charset="0"/>
              </a:rPr>
              <a:t>Processes/threads must request permission to enter a CS, &amp; signal when they leave CS.</a:t>
            </a:r>
          </a:p>
          <a:p>
            <a:pPr marL="282575" indent="-282575">
              <a:spcBef>
                <a:spcPts val="1800"/>
              </a:spcBef>
              <a:buClr>
                <a:schemeClr val="accent1"/>
              </a:buClr>
              <a:buSzPct val="75000"/>
              <a:buFont typeface="Wingdings" pitchFamily="2" charset="2"/>
              <a:buChar char="n"/>
            </a:pPr>
            <a:r>
              <a:rPr lang="en-US" sz="2800" dirty="0">
                <a:solidFill>
                  <a:srgbClr val="262626"/>
                </a:solidFill>
                <a:latin typeface="Calisto MT" pitchFamily="18" charset="0"/>
              </a:rPr>
              <a:t>Program structure:</a:t>
            </a:r>
          </a:p>
          <a:p>
            <a:pPr marL="577850" lvl="1" indent="-295275">
              <a:spcBef>
                <a:spcPts val="600"/>
              </a:spcBef>
              <a:buClr>
                <a:schemeClr val="accent1"/>
              </a:buClr>
              <a:buSzPct val="75000"/>
              <a:buFont typeface="Wingdings" pitchFamily="2" charset="2"/>
              <a:buChar char="n"/>
            </a:pPr>
            <a:r>
              <a:rPr lang="en-US" sz="2400" dirty="0">
                <a:solidFill>
                  <a:srgbClr val="262626"/>
                </a:solidFill>
                <a:latin typeface="Calisto MT" pitchFamily="18" charset="0"/>
              </a:rPr>
              <a:t>entry section: requests entry to CS</a:t>
            </a:r>
          </a:p>
          <a:p>
            <a:pPr marL="577850" lvl="1" indent="-295275">
              <a:spcBef>
                <a:spcPts val="600"/>
              </a:spcBef>
              <a:buClr>
                <a:schemeClr val="accent1"/>
              </a:buClr>
              <a:buSzPct val="75000"/>
              <a:buFont typeface="Wingdings" pitchFamily="2" charset="2"/>
              <a:buChar char="n"/>
            </a:pPr>
            <a:r>
              <a:rPr lang="en-US" sz="2400" dirty="0">
                <a:solidFill>
                  <a:srgbClr val="262626"/>
                </a:solidFill>
                <a:latin typeface="Calisto MT" pitchFamily="18" charset="0"/>
              </a:rPr>
              <a:t>exit section: notifies that CS is completed</a:t>
            </a:r>
          </a:p>
          <a:p>
            <a:pPr marL="577850" lvl="1" indent="-295275">
              <a:spcBef>
                <a:spcPts val="600"/>
              </a:spcBef>
              <a:buClr>
                <a:schemeClr val="accent1"/>
              </a:buClr>
              <a:buSzPct val="75000"/>
              <a:buFont typeface="Wingdings" pitchFamily="2" charset="2"/>
              <a:buChar char="n"/>
            </a:pPr>
            <a:r>
              <a:rPr lang="en-US" sz="2400" dirty="0">
                <a:solidFill>
                  <a:srgbClr val="262626"/>
                </a:solidFill>
                <a:latin typeface="Calisto MT" pitchFamily="18" charset="0"/>
              </a:rPr>
              <a:t>remainder section (RS): code that does not involve shared data and resources.</a:t>
            </a:r>
          </a:p>
          <a:p>
            <a:pPr marL="282575" indent="-282575">
              <a:spcBef>
                <a:spcPts val="1800"/>
              </a:spcBef>
              <a:buClr>
                <a:schemeClr val="accent1"/>
              </a:buClr>
              <a:buSzPct val="75000"/>
              <a:buFont typeface="Wingdings" pitchFamily="2" charset="2"/>
              <a:buChar char="n"/>
            </a:pPr>
            <a:r>
              <a:rPr lang="en-US" sz="2800" dirty="0">
                <a:solidFill>
                  <a:srgbClr val="262626"/>
                </a:solidFill>
                <a:latin typeface="Calisto MT" pitchFamily="18" charset="0"/>
              </a:rPr>
              <a:t>The CS problem exists on multiprocessors as well as on uniprocessors</a:t>
            </a:r>
            <a:r>
              <a:rPr lang="en-US" sz="2000" dirty="0">
                <a:solidFill>
                  <a:srgbClr val="262626"/>
                </a:solidFill>
                <a:latin typeface="Calisto MT"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5939">
                                            <p:txEl>
                                              <p:pRg st="0" end="0"/>
                                            </p:txEl>
                                          </p:spTgt>
                                        </p:tgtEl>
                                        <p:attrNameLst>
                                          <p:attrName>style.visibility</p:attrName>
                                        </p:attrNameLst>
                                      </p:cBhvr>
                                      <p:to>
                                        <p:strVal val="visible"/>
                                      </p:to>
                                    </p:set>
                                    <p:anim calcmode="lin" valueType="num">
                                      <p:cBhvr additive="base">
                                        <p:cTn id="7" dur="500" fill="hold"/>
                                        <p:tgtEl>
                                          <p:spTgt spid="2959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59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5939">
                                            <p:txEl>
                                              <p:pRg st="1" end="1"/>
                                            </p:txEl>
                                          </p:spTgt>
                                        </p:tgtEl>
                                        <p:attrNameLst>
                                          <p:attrName>style.visibility</p:attrName>
                                        </p:attrNameLst>
                                      </p:cBhvr>
                                      <p:to>
                                        <p:strVal val="visible"/>
                                      </p:to>
                                    </p:set>
                                    <p:anim calcmode="lin" valueType="num">
                                      <p:cBhvr additive="base">
                                        <p:cTn id="13" dur="500" fill="hold"/>
                                        <p:tgtEl>
                                          <p:spTgt spid="2959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59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95939">
                                            <p:txEl>
                                              <p:pRg st="2" end="2"/>
                                            </p:txEl>
                                          </p:spTgt>
                                        </p:tgtEl>
                                        <p:attrNameLst>
                                          <p:attrName>style.visibility</p:attrName>
                                        </p:attrNameLst>
                                      </p:cBhvr>
                                      <p:to>
                                        <p:strVal val="visible"/>
                                      </p:to>
                                    </p:set>
                                    <p:anim calcmode="lin" valueType="num">
                                      <p:cBhvr additive="base">
                                        <p:cTn id="17" dur="500" fill="hold"/>
                                        <p:tgtEl>
                                          <p:spTgt spid="2959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9593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95939">
                                            <p:txEl>
                                              <p:pRg st="3" end="3"/>
                                            </p:txEl>
                                          </p:spTgt>
                                        </p:tgtEl>
                                        <p:attrNameLst>
                                          <p:attrName>style.visibility</p:attrName>
                                        </p:attrNameLst>
                                      </p:cBhvr>
                                      <p:to>
                                        <p:strVal val="visible"/>
                                      </p:to>
                                    </p:set>
                                    <p:anim calcmode="lin" valueType="num">
                                      <p:cBhvr additive="base">
                                        <p:cTn id="21" dur="500" fill="hold"/>
                                        <p:tgtEl>
                                          <p:spTgt spid="29593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9593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95939">
                                            <p:txEl>
                                              <p:pRg st="4" end="4"/>
                                            </p:txEl>
                                          </p:spTgt>
                                        </p:tgtEl>
                                        <p:attrNameLst>
                                          <p:attrName>style.visibility</p:attrName>
                                        </p:attrNameLst>
                                      </p:cBhvr>
                                      <p:to>
                                        <p:strVal val="visible"/>
                                      </p:to>
                                    </p:set>
                                    <p:anim calcmode="lin" valueType="num">
                                      <p:cBhvr additive="base">
                                        <p:cTn id="25" dur="500" fill="hold"/>
                                        <p:tgtEl>
                                          <p:spTgt spid="29593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59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95939">
                                            <p:txEl>
                                              <p:pRg st="5" end="5"/>
                                            </p:txEl>
                                          </p:spTgt>
                                        </p:tgtEl>
                                        <p:attrNameLst>
                                          <p:attrName>style.visibility</p:attrName>
                                        </p:attrNameLst>
                                      </p:cBhvr>
                                      <p:to>
                                        <p:strVal val="visible"/>
                                      </p:to>
                                    </p:set>
                                    <p:anim calcmode="lin" valueType="num">
                                      <p:cBhvr additive="base">
                                        <p:cTn id="31" dur="500" fill="hold"/>
                                        <p:tgtEl>
                                          <p:spTgt spid="295939">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959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Rectangle 2"/>
          <p:cNvSpPr>
            <a:spLocks noGrp="1"/>
          </p:cNvSpPr>
          <p:nvPr>
            <p:ph type="title"/>
          </p:nvPr>
        </p:nvSpPr>
        <p:spPr bwMode="auto">
          <a:xfrm>
            <a:off x="658813" y="455613"/>
            <a:ext cx="8104187" cy="1323975"/>
          </a:xfrm>
        </p:spPr>
        <p:txBody>
          <a:bodyPr wrap="square" numCol="1" compatLnSpc="1">
            <a:prstTxWarp prst="textNoShape">
              <a:avLst/>
            </a:prstTxWarp>
            <a:normAutofit fontScale="90000"/>
          </a:bodyPr>
          <a:lstStyle/>
          <a:p>
            <a:pPr algn="ctr" eaLnBrk="1" hangingPunct="1"/>
            <a:r>
              <a:rPr lang="en-US">
                <a:solidFill>
                  <a:schemeClr val="tx1"/>
                </a:solidFill>
                <a:effectLst/>
              </a:rPr>
              <a:t>Mutual Exclusion and Data Coherence</a:t>
            </a:r>
          </a:p>
        </p:txBody>
      </p:sp>
      <p:sp>
        <p:nvSpPr>
          <p:cNvPr id="299010" name="Rectangle 3"/>
          <p:cNvSpPr>
            <a:spLocks noGrp="1"/>
          </p:cNvSpPr>
          <p:nvPr>
            <p:ph idx="1"/>
          </p:nvPr>
        </p:nvSpPr>
        <p:spPr>
          <a:xfrm>
            <a:off x="533400" y="2209800"/>
            <a:ext cx="8077200" cy="3840163"/>
          </a:xfrm>
        </p:spPr>
        <p:txBody>
          <a:bodyPr/>
          <a:lstStyle/>
          <a:p>
            <a:pPr eaLnBrk="1" hangingPunct="1">
              <a:lnSpc>
                <a:spcPct val="90000"/>
              </a:lnSpc>
            </a:pPr>
            <a:r>
              <a:rPr lang="en-US" sz="2800"/>
              <a:t>Mutual Exclusion ensures data coherence if properly used.</a:t>
            </a:r>
          </a:p>
          <a:p>
            <a:pPr eaLnBrk="1" hangingPunct="1">
              <a:lnSpc>
                <a:spcPct val="90000"/>
              </a:lnSpc>
            </a:pPr>
            <a:r>
              <a:rPr lang="en-US" sz="2800"/>
              <a:t>Critical Resource (CR) - a shared resource such as a variable, file, or device</a:t>
            </a:r>
          </a:p>
          <a:p>
            <a:pPr eaLnBrk="1" hangingPunct="1">
              <a:lnSpc>
                <a:spcPct val="90000"/>
              </a:lnSpc>
            </a:pPr>
            <a:r>
              <a:rPr lang="en-US" sz="2800"/>
              <a:t>Data Coherence:</a:t>
            </a:r>
          </a:p>
          <a:p>
            <a:pPr lvl="1" eaLnBrk="1" hangingPunct="1">
              <a:lnSpc>
                <a:spcPct val="90000"/>
              </a:lnSpc>
            </a:pPr>
            <a:r>
              <a:rPr lang="en-US"/>
              <a:t>The final value or state of a CR shared by concurrently executing processes is the same as the final value or state would be if each process executed serially, </a:t>
            </a:r>
            <a:r>
              <a:rPr lang="en-US">
                <a:solidFill>
                  <a:srgbClr val="FF0000"/>
                </a:solidFill>
              </a:rPr>
              <a:t>in some order</a:t>
            </a:r>
            <a:r>
              <a:rPr lang="en-US"/>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3" name="Rectangle 2"/>
          <p:cNvSpPr>
            <a:spLocks noGrp="1"/>
          </p:cNvSpPr>
          <p:nvPr>
            <p:ph type="title"/>
          </p:nvPr>
        </p:nvSpPr>
        <p:spPr bwMode="auto"/>
        <p:txBody>
          <a:bodyPr wrap="square" numCol="1" compatLnSpc="1">
            <a:prstTxWarp prst="textNoShape">
              <a:avLst/>
            </a:prstTxWarp>
          </a:bodyPr>
          <a:lstStyle/>
          <a:p>
            <a:pPr eaLnBrk="1" hangingPunct="1"/>
            <a:r>
              <a:rPr lang="en-US">
                <a:solidFill>
                  <a:schemeClr val="tx1"/>
                </a:solidFill>
                <a:effectLst/>
              </a:rPr>
              <a:t>Deadlock and Starvation</a:t>
            </a:r>
          </a:p>
        </p:txBody>
      </p:sp>
      <p:sp>
        <p:nvSpPr>
          <p:cNvPr id="300034" name="Rectangle 3"/>
          <p:cNvSpPr>
            <a:spLocks noGrp="1"/>
          </p:cNvSpPr>
          <p:nvPr>
            <p:ph idx="1"/>
          </p:nvPr>
        </p:nvSpPr>
        <p:spPr>
          <a:xfrm>
            <a:off x="457200" y="2286000"/>
            <a:ext cx="8382000" cy="3840163"/>
          </a:xfrm>
        </p:spPr>
        <p:txBody>
          <a:bodyPr/>
          <a:lstStyle/>
          <a:p>
            <a:pPr algn="just" eaLnBrk="1" hangingPunct="1"/>
            <a:r>
              <a:rPr lang="en-US" sz="2800" dirty="0"/>
              <a:t>Deadlock: two or more processes are blocked permanently because each is waiting for a resource held in a mutually exclusive manner by one of the others.</a:t>
            </a:r>
          </a:p>
          <a:p>
            <a:pPr algn="just" eaLnBrk="1" hangingPunct="1"/>
            <a:r>
              <a:rPr lang="en-US" sz="2800" dirty="0"/>
              <a:t>Starvation: a process is repeatedly denied access to some resource which is protected by mutual exclusion, even though the resource periodically becomes available.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228600"/>
            <a:ext cx="8229600" cy="1066800"/>
          </a:xfrm>
        </p:spPr>
        <p:txBody>
          <a:bodyPr/>
          <a:lstStyle/>
          <a:p>
            <a:pPr algn="ctr" eaLnBrk="1" fontAlgn="auto" hangingPunct="1">
              <a:spcAft>
                <a:spcPts val="0"/>
              </a:spcAft>
              <a:defRPr/>
            </a:pPr>
            <a:r>
              <a:rPr lang="en-US" dirty="0">
                <a:solidFill>
                  <a:schemeClr val="accent2">
                    <a:lumMod val="50000"/>
                  </a:schemeClr>
                </a:solidFill>
              </a:rPr>
              <a:t> </a:t>
            </a:r>
            <a:r>
              <a:rPr lang="en-US" b="1" dirty="0">
                <a:ln w="1905"/>
                <a:solidFill>
                  <a:schemeClr val="accent1">
                    <a:lumMod val="50000"/>
                  </a:schemeClr>
                </a:solidFill>
                <a:effectLst>
                  <a:innerShdw blurRad="69850" dist="43180" dir="5400000">
                    <a:srgbClr val="000000">
                      <a:alpha val="65000"/>
                    </a:srgbClr>
                  </a:innerShdw>
                </a:effectLst>
              </a:rPr>
              <a:t>Mutual Exclusion</a:t>
            </a:r>
            <a:endParaRPr lang="en-US" b="1" dirty="0">
              <a:solidFill>
                <a:schemeClr val="accent1">
                  <a:lumMod val="50000"/>
                </a:schemeClr>
              </a:solidFill>
            </a:endParaRPr>
          </a:p>
        </p:txBody>
      </p:sp>
      <p:pic>
        <p:nvPicPr>
          <p:cNvPr id="302082" name="Picture 4"/>
          <p:cNvPicPr>
            <a:picLocks noChangeAspect="1" noChangeArrowheads="1"/>
          </p:cNvPicPr>
          <p:nvPr/>
        </p:nvPicPr>
        <p:blipFill>
          <a:blip r:embed="rId3"/>
          <a:srcRect/>
          <a:stretch>
            <a:fillRect/>
          </a:stretch>
        </p:blipFill>
        <p:spPr bwMode="auto">
          <a:xfrm>
            <a:off x="-28222" y="1353312"/>
            <a:ext cx="8867422" cy="4788408"/>
          </a:xfrm>
          <a:prstGeom prst="rect">
            <a:avLst/>
          </a:prstGeom>
          <a:noFill/>
          <a:ln w="9525">
            <a:noFill/>
            <a:miter lim="800000"/>
            <a:headEnd/>
            <a:tailEnd/>
          </a:ln>
        </p:spPr>
      </p:pic>
    </p:spTree>
  </p:cSld>
  <p:clrMapOvr>
    <a:masterClrMapping/>
  </p:clrMapOvr>
  <p:transition spd="med">
    <p:check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6605"/>
            <a:ext cx="8763000" cy="932596"/>
          </a:xfrm>
        </p:spPr>
        <p:txBody>
          <a:bodyPr/>
          <a:lstStyle/>
          <a:p>
            <a:pPr algn="ct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Requirements for Mutual Exclusion</a:t>
            </a:r>
          </a:p>
        </p:txBody>
      </p:sp>
      <p:sp>
        <p:nvSpPr>
          <p:cNvPr id="3" name="Content Placeholder 2"/>
          <p:cNvSpPr>
            <a:spLocks noGrp="1"/>
          </p:cNvSpPr>
          <p:nvPr>
            <p:ph sz="half" idx="1"/>
          </p:nvPr>
        </p:nvSpPr>
        <p:spPr>
          <a:xfrm>
            <a:off x="457200" y="2057400"/>
            <a:ext cx="8153400" cy="4419600"/>
          </a:xfrm>
        </p:spPr>
        <p:txBody>
          <a:bodyPr/>
          <a:lstStyle/>
          <a:p>
            <a:pPr marL="457200" indent="-457200" algn="just" eaLnBrk="1" hangingPunct="1">
              <a:lnSpc>
                <a:spcPct val="80000"/>
              </a:lnSpc>
              <a:buFont typeface="+mj-lt"/>
              <a:buAutoNum type="arabicPeriod"/>
            </a:pPr>
            <a:r>
              <a:rPr lang="en-US" sz="2500" dirty="0"/>
              <a:t>Mutual Exclusion: must be enforced</a:t>
            </a:r>
          </a:p>
          <a:p>
            <a:pPr marL="457200" indent="-457200" algn="just" eaLnBrk="1" hangingPunct="1">
              <a:lnSpc>
                <a:spcPct val="80000"/>
              </a:lnSpc>
              <a:buFont typeface="+mj-lt"/>
              <a:buAutoNum type="arabicPeriod"/>
            </a:pPr>
            <a:r>
              <a:rPr lang="en-US" sz="2500" dirty="0"/>
              <a:t>Non interference: A process that halts must not interfere with other processes</a:t>
            </a:r>
          </a:p>
          <a:p>
            <a:pPr marL="457200" indent="-457200" algn="just" eaLnBrk="1" hangingPunct="1">
              <a:lnSpc>
                <a:spcPct val="80000"/>
              </a:lnSpc>
              <a:buFont typeface="+mj-lt"/>
              <a:buAutoNum type="arabicPeriod"/>
            </a:pPr>
            <a:r>
              <a:rPr lang="en-US" sz="2500" dirty="0"/>
              <a:t>No deadlock or starvation</a:t>
            </a:r>
          </a:p>
          <a:p>
            <a:pPr marL="457200" indent="-457200" algn="just" eaLnBrk="1" hangingPunct="1">
              <a:lnSpc>
                <a:spcPct val="80000"/>
              </a:lnSpc>
              <a:buFont typeface="+mj-lt"/>
              <a:buAutoNum type="arabicPeriod"/>
            </a:pPr>
            <a:r>
              <a:rPr lang="en-US" sz="2500" dirty="0"/>
              <a:t>Progress: A process must not be denied access to a critical section when there is no other process using it</a:t>
            </a:r>
          </a:p>
          <a:p>
            <a:pPr marL="457200" indent="-457200" algn="just" eaLnBrk="1" hangingPunct="1">
              <a:lnSpc>
                <a:spcPct val="80000"/>
              </a:lnSpc>
              <a:buFont typeface="+mj-lt"/>
              <a:buAutoNum type="arabicPeriod"/>
            </a:pPr>
            <a:r>
              <a:rPr lang="en-US" sz="2500" dirty="0"/>
              <a:t>No assumptions are made about relative process speeds or number of processes</a:t>
            </a:r>
          </a:p>
          <a:p>
            <a:pPr marL="457200" indent="-457200" algn="just" eaLnBrk="1" hangingPunct="1">
              <a:lnSpc>
                <a:spcPct val="80000"/>
              </a:lnSpc>
              <a:buFont typeface="+mj-lt"/>
              <a:buAutoNum type="arabicPeriod"/>
            </a:pPr>
            <a:r>
              <a:rPr lang="en-US" sz="2500" dirty="0"/>
              <a:t>A process remains inside its critical section for a finite time only</a:t>
            </a:r>
          </a:p>
          <a:p>
            <a:pPr marL="342900" indent="-342900" algn="just" eaLnBrk="1" hangingPunct="1">
              <a:lnSpc>
                <a:spcPct val="80000"/>
              </a:lnSpc>
              <a:buFont typeface="+mj-lt"/>
              <a:buAutoNum type="arabicPeriod"/>
            </a:pP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par>
                          <p:cTn id="10" fill="hold">
                            <p:stCondLst>
                              <p:cond delay="1000"/>
                            </p:stCondLst>
                            <p:childTnLst>
                              <p:par>
                                <p:cTn id="11" presetID="50" presetClass="entr" presetSubtype="0" decel="10000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14"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3">
                                            <p:txEl>
                                              <p:pRg st="1" end="1"/>
                                            </p:txEl>
                                          </p:spTgt>
                                        </p:tgtEl>
                                      </p:cBhvr>
                                    </p:animEffect>
                                  </p:childTnLst>
                                </p:cTn>
                              </p:par>
                            </p:childTnLst>
                          </p:cTn>
                        </p:par>
                        <p:par>
                          <p:cTn id="16" fill="hold">
                            <p:stCondLst>
                              <p:cond delay="2000"/>
                            </p:stCondLst>
                            <p:childTnLst>
                              <p:par>
                                <p:cTn id="17" presetID="50" presetClass="entr" presetSubtype="0" decel="10000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20"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3">
                                            <p:txEl>
                                              <p:pRg st="2" end="2"/>
                                            </p:txEl>
                                          </p:spTgt>
                                        </p:tgtEl>
                                      </p:cBhvr>
                                    </p:animEffect>
                                  </p:childTnLst>
                                </p:cTn>
                              </p:par>
                            </p:childTnLst>
                          </p:cTn>
                        </p:par>
                        <p:par>
                          <p:cTn id="22" fill="hold">
                            <p:stCondLst>
                              <p:cond delay="3000"/>
                            </p:stCondLst>
                            <p:childTnLst>
                              <p:par>
                                <p:cTn id="23" presetID="50" presetClass="entr" presetSubtype="0" decel="10000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26"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3">
                                            <p:txEl>
                                              <p:pRg st="3" end="3"/>
                                            </p:txEl>
                                          </p:spTgt>
                                        </p:tgtEl>
                                      </p:cBhvr>
                                    </p:animEffect>
                                  </p:childTnLst>
                                </p:cTn>
                              </p:par>
                            </p:childTnLst>
                          </p:cTn>
                        </p:par>
                        <p:par>
                          <p:cTn id="28" fill="hold">
                            <p:stCondLst>
                              <p:cond delay="4000"/>
                            </p:stCondLst>
                            <p:childTnLst>
                              <p:par>
                                <p:cTn id="29" presetID="50" presetClass="entr" presetSubtype="0" decel="10000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1000" fill="hold"/>
                                        <p:tgtEl>
                                          <p:spTgt spid="3">
                                            <p:txEl>
                                              <p:pRg st="4" end="4"/>
                                            </p:txEl>
                                          </p:spTgt>
                                        </p:tgtEl>
                                        <p:attrNameLst>
                                          <p:attrName>ppt_w</p:attrName>
                                        </p:attrNameLst>
                                      </p:cBhvr>
                                      <p:tavLst>
                                        <p:tav tm="0">
                                          <p:val>
                                            <p:strVal val="#ppt_w+.3"/>
                                          </p:val>
                                        </p:tav>
                                        <p:tav tm="100000">
                                          <p:val>
                                            <p:strVal val="#ppt_w"/>
                                          </p:val>
                                        </p:tav>
                                      </p:tavLst>
                                    </p:anim>
                                    <p:anim calcmode="lin" valueType="num">
                                      <p:cBhvr>
                                        <p:cTn id="32"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3">
                                            <p:txEl>
                                              <p:pRg st="4" end="4"/>
                                            </p:txEl>
                                          </p:spTgt>
                                        </p:tgtEl>
                                      </p:cBhvr>
                                    </p:animEffect>
                                  </p:childTnLst>
                                </p:cTn>
                              </p:par>
                            </p:childTnLst>
                          </p:cTn>
                        </p:par>
                        <p:par>
                          <p:cTn id="34" fill="hold">
                            <p:stCondLst>
                              <p:cond delay="5000"/>
                            </p:stCondLst>
                            <p:childTnLst>
                              <p:par>
                                <p:cTn id="35" presetID="50" presetClass="entr" presetSubtype="0" decel="10000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1000" fill="hold"/>
                                        <p:tgtEl>
                                          <p:spTgt spid="3">
                                            <p:txEl>
                                              <p:pRg st="5" end="5"/>
                                            </p:txEl>
                                          </p:spTgt>
                                        </p:tgtEl>
                                        <p:attrNameLst>
                                          <p:attrName>ppt_w</p:attrName>
                                        </p:attrNameLst>
                                      </p:cBhvr>
                                      <p:tavLst>
                                        <p:tav tm="0">
                                          <p:val>
                                            <p:strVal val="#ppt_w+.3"/>
                                          </p:val>
                                        </p:tav>
                                        <p:tav tm="100000">
                                          <p:val>
                                            <p:strVal val="#ppt_w"/>
                                          </p:val>
                                        </p:tav>
                                      </p:tavLst>
                                    </p:anim>
                                    <p:anim calcmode="lin" valueType="num">
                                      <p:cBhvr>
                                        <p:cTn id="38"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eaLnBrk="1" fontAlgn="auto" hangingPunct="1">
              <a:spcAft>
                <a:spcPts val="0"/>
              </a:spcAft>
              <a:defRPr/>
            </a:pP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a:t>
            </a:r>
            <a:b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Hardware Support</a:t>
            </a:r>
          </a:p>
        </p:txBody>
      </p:sp>
      <p:sp>
        <p:nvSpPr>
          <p:cNvPr id="8" name="TextBox 7"/>
          <p:cNvSpPr txBox="1"/>
          <p:nvPr/>
        </p:nvSpPr>
        <p:spPr>
          <a:xfrm>
            <a:off x="304800" y="2209800"/>
            <a:ext cx="3810000" cy="3323987"/>
          </a:xfrm>
          <a:prstGeom prst="rect">
            <a:avLst/>
          </a:prstGeom>
          <a:noFill/>
        </p:spPr>
        <p:txBody>
          <a:bodyPr wrap="square">
            <a:spAutoFit/>
          </a:bodyPr>
          <a:lstStyle/>
          <a:p>
            <a:pPr marL="342900" lvl="1" indent="-342900" algn="just">
              <a:buFont typeface="Arial"/>
              <a:buChar char="•"/>
              <a:defRPr/>
            </a:pP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Interrupt Disabling</a:t>
            </a:r>
          </a:p>
          <a:p>
            <a:pPr marL="342900" indent="-342900" algn="just">
              <a:buFont typeface="Arial" panose="020B0604020202020204" pitchFamily="34" charset="0"/>
              <a:buChar char="•"/>
              <a:defRPr/>
            </a:pPr>
            <a:endPar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endParaRPr>
          </a:p>
          <a:p>
            <a:pPr marL="342900" indent="-342900" algn="just">
              <a:buFont typeface="Arial" panose="020B0604020202020204" pitchFamily="34" charset="0"/>
              <a:buChar char="•"/>
              <a:defRPr/>
            </a:pPr>
            <a:r>
              <a:rPr lang="en-US" sz="2400" dirty="0">
                <a:cs typeface="+mn-cs"/>
              </a:rPr>
              <a:t>uniprocessor system</a:t>
            </a:r>
          </a:p>
          <a:p>
            <a:pPr marL="342900" indent="-342900" algn="just">
              <a:buFont typeface="Arial" panose="020B0604020202020204" pitchFamily="34" charset="0"/>
              <a:buChar char="•"/>
              <a:defRPr/>
            </a:pPr>
            <a:r>
              <a:rPr lang="en-US" sz="2400" dirty="0">
                <a:cs typeface="+mn-cs"/>
              </a:rPr>
              <a:t>disabling interrupts guarantees mutual exclusion</a:t>
            </a:r>
          </a:p>
          <a:p>
            <a:pPr algn="just">
              <a:defRPr/>
            </a:pPr>
            <a:endParaRPr lang="en-US" dirty="0">
              <a:cs typeface="+mn-cs"/>
            </a:endParaRPr>
          </a:p>
        </p:txBody>
      </p:sp>
      <p:sp>
        <p:nvSpPr>
          <p:cNvPr id="9" name="TextBox 8"/>
          <p:cNvSpPr txBox="1"/>
          <p:nvPr/>
        </p:nvSpPr>
        <p:spPr>
          <a:xfrm>
            <a:off x="4191000" y="2209800"/>
            <a:ext cx="4572000" cy="3077766"/>
          </a:xfrm>
          <a:prstGeom prst="rect">
            <a:avLst/>
          </a:prstGeom>
          <a:noFill/>
        </p:spPr>
        <p:txBody>
          <a:bodyPr wrap="square">
            <a:spAutoFit/>
          </a:bodyPr>
          <a:lstStyle/>
          <a:p>
            <a:pPr marL="342900" lvl="1" indent="-342900">
              <a:buFont typeface="Arial"/>
              <a:buChar char="•"/>
              <a:defRPr/>
            </a:pP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Disadvantages:</a:t>
            </a:r>
            <a:endParaRPr lang="en-US" sz="3200" b="1" dirty="0">
              <a:solidFill>
                <a:schemeClr val="accent4">
                  <a:lumMod val="50000"/>
                </a:schemeClr>
              </a:solidFill>
              <a:cs typeface="+mn-cs"/>
            </a:endParaRPr>
          </a:p>
          <a:p>
            <a:pPr marL="342900" lvl="1" indent="-342900" algn="just">
              <a:buFont typeface="Arial"/>
              <a:buChar char="•"/>
              <a:defRPr/>
            </a:pPr>
            <a:endParaRPr lang="en-US" sz="2400" dirty="0">
              <a:cs typeface="+mn-cs"/>
            </a:endParaRPr>
          </a:p>
          <a:p>
            <a:pPr marL="0" lvl="1" algn="just">
              <a:defRPr/>
            </a:pPr>
            <a:endParaRPr lang="en-US" sz="2400" dirty="0">
              <a:cs typeface="+mn-cs"/>
            </a:endParaRPr>
          </a:p>
          <a:p>
            <a:pPr marL="342900" lvl="1" indent="-342900" algn="just">
              <a:buFont typeface="Arial"/>
              <a:buChar char="•"/>
              <a:defRPr/>
            </a:pPr>
            <a:r>
              <a:rPr lang="en-US" sz="2400" dirty="0">
                <a:cs typeface="+mn-cs"/>
              </a:rPr>
              <a:t>the efficiency of execution could be noticeably degraded</a:t>
            </a:r>
          </a:p>
          <a:p>
            <a:pPr marL="342900" lvl="1" indent="-342900" algn="just">
              <a:buFont typeface="Arial"/>
              <a:buChar char="•"/>
              <a:defRPr/>
            </a:pPr>
            <a:r>
              <a:rPr lang="en-US" sz="2400" dirty="0">
                <a:cs typeface="+mn-cs"/>
              </a:rPr>
              <a:t>this approach will not work in a multiprocessor architecture</a:t>
            </a:r>
          </a:p>
          <a:p>
            <a:pPr>
              <a:defRPr/>
            </a:pPr>
            <a:endParaRPr lang="en-US" dirty="0">
              <a:cs typeface="+mn-cs"/>
            </a:endParaRPr>
          </a:p>
        </p:txBody>
      </p:sp>
      <p:cxnSp>
        <p:nvCxnSpPr>
          <p:cNvPr id="11" name="Straight Connector 10"/>
          <p:cNvCxnSpPr/>
          <p:nvPr/>
        </p:nvCxnSpPr>
        <p:spPr>
          <a:xfrm rot="5400000">
            <a:off x="2401094" y="4075906"/>
            <a:ext cx="3581400" cy="1588"/>
          </a:xfrm>
          <a:prstGeom prst="line">
            <a:avLst/>
          </a:prstGeom>
          <a:ln w="34925">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6200" y="286605"/>
            <a:ext cx="8991599" cy="856396"/>
          </a:xfrm>
        </p:spPr>
        <p:txBody>
          <a:bodyPr/>
          <a:lstStyle/>
          <a:p>
            <a:r>
              <a:rPr lang="en-US" altLang="en-US" dirty="0"/>
              <a:t>Solution to Critical-Section Problem</a:t>
            </a:r>
          </a:p>
        </p:txBody>
      </p:sp>
      <p:sp>
        <p:nvSpPr>
          <p:cNvPr id="35843" name="Rectangle 3"/>
          <p:cNvSpPr>
            <a:spLocks noGrp="1" noChangeArrowheads="1"/>
          </p:cNvSpPr>
          <p:nvPr>
            <p:ph type="body" idx="1"/>
          </p:nvPr>
        </p:nvSpPr>
        <p:spPr>
          <a:xfrm>
            <a:off x="228600" y="1676400"/>
            <a:ext cx="8686799" cy="4724400"/>
          </a:xfrm>
        </p:spPr>
        <p:txBody>
          <a:bodyPr>
            <a:normAutofit/>
          </a:bodyPr>
          <a:lstStyle/>
          <a:p>
            <a:pPr marL="457200" indent="-457200" algn="just">
              <a:buFont typeface="+mj-lt"/>
              <a:buAutoNum type="arabicPeriod"/>
            </a:pPr>
            <a:r>
              <a:rPr lang="en-US" altLang="en-US" sz="2400" b="1" dirty="0"/>
              <a:t>Mutual Exclusion</a:t>
            </a:r>
            <a:r>
              <a:rPr lang="en-US" altLang="en-US" sz="2400" dirty="0"/>
              <a:t>.  If process </a:t>
            </a:r>
            <a:r>
              <a:rPr lang="en-US" altLang="en-US" sz="2400" i="1" dirty="0"/>
              <a:t>P</a:t>
            </a:r>
            <a:r>
              <a:rPr lang="en-US" altLang="en-US" sz="2400" i="1" baseline="-25000" dirty="0"/>
              <a:t>i</a:t>
            </a:r>
            <a:r>
              <a:rPr lang="en-US" altLang="en-US" sz="2400" dirty="0"/>
              <a:t> is executing in its critical section, then no other processes can be executing in their critical sections.</a:t>
            </a:r>
          </a:p>
          <a:p>
            <a:pPr marL="457200" indent="-457200" algn="just">
              <a:buFont typeface="+mj-lt"/>
              <a:buAutoNum type="arabicPeriod"/>
            </a:pPr>
            <a:r>
              <a:rPr lang="en-US" altLang="en-US" sz="2400" b="1" dirty="0"/>
              <a:t>Progress</a:t>
            </a:r>
            <a:r>
              <a:rPr lang="en-US" altLang="en-US" sz="2400" dirty="0"/>
              <a:t>.  If no process is executing in its critical section and there exist some processes that wish to enter their critical section, then the selection of the processes that will enter the critical section next cannot be postponed indefinitely.</a:t>
            </a:r>
          </a:p>
          <a:p>
            <a:pPr marL="457200" indent="-457200" algn="just">
              <a:buFont typeface="+mj-lt"/>
              <a:buAutoNum type="arabicPeriod"/>
            </a:pPr>
            <a:r>
              <a:rPr lang="en-US" altLang="en-US" sz="2400" b="1" dirty="0"/>
              <a:t>Bounded Waiting</a:t>
            </a:r>
            <a:r>
              <a:rPr lang="en-US" altLang="en-US" sz="2400" dirty="0"/>
              <a:t>.  A bound must exist on the number of times that other processes are allowed to enter their critical sections after a process has made a request to enter its critical section and before that request is granted.</a:t>
            </a:r>
          </a:p>
          <a:p>
            <a:pPr lvl="3" algn="just">
              <a:buFont typeface="Arial" panose="020B0604020202020204" pitchFamily="34" charset="0"/>
              <a:buChar char="•"/>
            </a:pPr>
            <a:r>
              <a:rPr lang="en-US" altLang="en-US" sz="2400" dirty="0"/>
              <a:t>Assume that each process executes at a nonzero speed </a:t>
            </a:r>
          </a:p>
          <a:p>
            <a:pPr lvl="3" algn="just">
              <a:buFont typeface="Arial" panose="020B0604020202020204" pitchFamily="34" charset="0"/>
              <a:buChar char="•"/>
            </a:pPr>
            <a:r>
              <a:rPr lang="en-US" altLang="en-US" sz="2400" dirty="0"/>
              <a:t>No assumption concerning relative speed of the </a:t>
            </a:r>
            <a:r>
              <a:rPr lang="en-US" altLang="en-US" sz="2400" i="1" dirty="0"/>
              <a:t>n</a:t>
            </a:r>
            <a:r>
              <a:rPr lang="en-US" altLang="en-US" sz="2400" dirty="0"/>
              <a:t> processes.</a:t>
            </a:r>
          </a:p>
        </p:txBody>
      </p:sp>
    </p:spTree>
    <p:extLst>
      <p:ext uri="{BB962C8B-B14F-4D97-AF65-F5344CB8AC3E}">
        <p14:creationId xmlns:p14="http://schemas.microsoft.com/office/powerpoint/2010/main" val="2430395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7" dur="500"/>
                                        <p:tgtEl>
                                          <p:spTgt spid="3584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20" dur="500"/>
                                        <p:tgtEl>
                                          <p:spTgt spid="3584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23" dur="500"/>
                                        <p:tgtEl>
                                          <p:spTgt spid="35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4800" y="286605"/>
            <a:ext cx="8458200" cy="856396"/>
          </a:xfrm>
        </p:spPr>
        <p:txBody>
          <a:bodyPr/>
          <a:lstStyle/>
          <a:p>
            <a:r>
              <a:rPr lang="en-US" altLang="en-US" dirty="0"/>
              <a:t>Initial Attempts to Solve Problem</a:t>
            </a:r>
          </a:p>
        </p:txBody>
      </p:sp>
      <p:sp>
        <p:nvSpPr>
          <p:cNvPr id="49155" name="Rectangle 3"/>
          <p:cNvSpPr>
            <a:spLocks noGrp="1" noChangeArrowheads="1"/>
          </p:cNvSpPr>
          <p:nvPr>
            <p:ph type="body" idx="1"/>
          </p:nvPr>
        </p:nvSpPr>
        <p:spPr/>
        <p:txBody>
          <a:bodyPr>
            <a:normAutofit lnSpcReduction="10000"/>
          </a:bodyPr>
          <a:lstStyle/>
          <a:p>
            <a:pPr>
              <a:tabLst>
                <a:tab pos="2286000" algn="l"/>
                <a:tab pos="2630488" algn="l"/>
                <a:tab pos="2911475" algn="l"/>
              </a:tabLst>
            </a:pPr>
            <a:r>
              <a:rPr lang="en-US" altLang="en-US" dirty="0"/>
              <a:t>Only 2  processes, </a:t>
            </a:r>
            <a:r>
              <a:rPr lang="en-US" altLang="en-US" i="1" dirty="0"/>
              <a:t>P</a:t>
            </a:r>
            <a:r>
              <a:rPr lang="en-US" altLang="en-US" baseline="-25000" dirty="0"/>
              <a:t>0</a:t>
            </a:r>
            <a:r>
              <a:rPr lang="en-US" altLang="en-US" dirty="0"/>
              <a:t> and </a:t>
            </a:r>
            <a:r>
              <a:rPr lang="en-US" altLang="en-US" i="1" dirty="0"/>
              <a:t>P</a:t>
            </a:r>
            <a:r>
              <a:rPr lang="en-US" altLang="en-US" baseline="-25000" dirty="0"/>
              <a:t>1</a:t>
            </a:r>
          </a:p>
          <a:p>
            <a:pPr>
              <a:tabLst>
                <a:tab pos="2286000" algn="l"/>
                <a:tab pos="2630488" algn="l"/>
                <a:tab pos="2911475" algn="l"/>
              </a:tabLst>
            </a:pPr>
            <a:r>
              <a:rPr lang="en-US" altLang="en-US" dirty="0"/>
              <a:t>General structure of process </a:t>
            </a:r>
            <a:r>
              <a:rPr lang="en-US" altLang="en-US" i="1" dirty="0"/>
              <a:t>P</a:t>
            </a:r>
            <a:r>
              <a:rPr lang="en-US" altLang="en-US" i="1" baseline="-25000" dirty="0"/>
              <a:t>i</a:t>
            </a:r>
            <a:r>
              <a:rPr lang="en-US" altLang="en-US" i="1" dirty="0"/>
              <a:t> </a:t>
            </a:r>
            <a:r>
              <a:rPr lang="en-US" altLang="en-US" dirty="0"/>
              <a:t>(other process </a:t>
            </a:r>
            <a:r>
              <a:rPr lang="en-US" altLang="en-US" i="1" dirty="0" err="1"/>
              <a:t>P</a:t>
            </a:r>
            <a:r>
              <a:rPr lang="en-US" altLang="en-US" i="1" baseline="-25000" dirty="0" err="1"/>
              <a:t>j</a:t>
            </a:r>
            <a:r>
              <a:rPr lang="en-US" altLang="en-US" dirty="0"/>
              <a:t>)</a:t>
            </a:r>
          </a:p>
          <a:p>
            <a:pPr>
              <a:buFont typeface="Monotype Sorts" pitchFamily="2" charset="2"/>
              <a:buNone/>
              <a:tabLst>
                <a:tab pos="2286000" algn="l"/>
                <a:tab pos="2630488" algn="l"/>
                <a:tab pos="2911475" algn="l"/>
              </a:tabLst>
            </a:pPr>
            <a:r>
              <a:rPr lang="en-US" altLang="en-US" dirty="0"/>
              <a:t>		</a:t>
            </a:r>
            <a:r>
              <a:rPr lang="en-US" altLang="en-US" b="1" dirty="0"/>
              <a:t>do</a:t>
            </a:r>
            <a:r>
              <a:rPr lang="en-US" altLang="en-US" dirty="0"/>
              <a:t> {</a:t>
            </a:r>
            <a:endParaRPr lang="en-US" altLang="en-US" b="1" dirty="0"/>
          </a:p>
          <a:p>
            <a:pPr>
              <a:buFont typeface="Monotype Sorts" pitchFamily="2" charset="2"/>
              <a:buNone/>
              <a:tabLst>
                <a:tab pos="2286000" algn="l"/>
                <a:tab pos="2630488" algn="l"/>
                <a:tab pos="2911475" algn="l"/>
              </a:tabLst>
            </a:pPr>
            <a:r>
              <a:rPr lang="en-US" altLang="en-US" dirty="0"/>
              <a:t>			</a:t>
            </a:r>
            <a:r>
              <a:rPr lang="en-US" altLang="en-US" i="1" dirty="0"/>
              <a:t>entry section</a:t>
            </a:r>
          </a:p>
          <a:p>
            <a:pPr>
              <a:buFont typeface="Monotype Sorts" pitchFamily="2" charset="2"/>
              <a:buNone/>
              <a:tabLst>
                <a:tab pos="2286000" algn="l"/>
                <a:tab pos="2630488" algn="l"/>
                <a:tab pos="2911475" algn="l"/>
              </a:tabLst>
            </a:pPr>
            <a:r>
              <a:rPr lang="en-US" altLang="en-US" dirty="0"/>
              <a:t>				critical section</a:t>
            </a:r>
          </a:p>
          <a:p>
            <a:pPr>
              <a:buFont typeface="Monotype Sorts" pitchFamily="2" charset="2"/>
              <a:buNone/>
              <a:tabLst>
                <a:tab pos="2286000" algn="l"/>
                <a:tab pos="2630488" algn="l"/>
                <a:tab pos="2911475" algn="l"/>
              </a:tabLst>
            </a:pPr>
            <a:r>
              <a:rPr lang="en-US" altLang="en-US" dirty="0"/>
              <a:t>			</a:t>
            </a:r>
            <a:r>
              <a:rPr lang="en-US" altLang="en-US" i="1" dirty="0"/>
              <a:t>exit section</a:t>
            </a:r>
            <a:endParaRPr lang="en-US" altLang="en-US" dirty="0"/>
          </a:p>
          <a:p>
            <a:pPr>
              <a:buFont typeface="Monotype Sorts" pitchFamily="2" charset="2"/>
              <a:buNone/>
              <a:tabLst>
                <a:tab pos="2286000" algn="l"/>
                <a:tab pos="2630488" algn="l"/>
                <a:tab pos="2911475" algn="l"/>
              </a:tabLst>
            </a:pPr>
            <a:r>
              <a:rPr lang="en-US" altLang="en-US" dirty="0"/>
              <a:t>				reminder section</a:t>
            </a:r>
          </a:p>
          <a:p>
            <a:pPr>
              <a:buFont typeface="Monotype Sorts" pitchFamily="2" charset="2"/>
              <a:buNone/>
              <a:tabLst>
                <a:tab pos="2286000" algn="l"/>
                <a:tab pos="2630488" algn="l"/>
                <a:tab pos="2911475" algn="l"/>
              </a:tabLst>
            </a:pPr>
            <a:r>
              <a:rPr lang="en-US" altLang="en-US" dirty="0"/>
              <a:t>		} </a:t>
            </a:r>
            <a:r>
              <a:rPr lang="en-US" altLang="en-US" b="1" dirty="0"/>
              <a:t>while (1)</a:t>
            </a:r>
            <a:r>
              <a:rPr lang="en-US" altLang="en-US" dirty="0"/>
              <a:t>;</a:t>
            </a:r>
          </a:p>
          <a:p>
            <a:pPr>
              <a:tabLst>
                <a:tab pos="2286000" algn="l"/>
                <a:tab pos="2630488" algn="l"/>
                <a:tab pos="2911475" algn="l"/>
              </a:tabLst>
            </a:pPr>
            <a:r>
              <a:rPr lang="en-US" altLang="en-US" dirty="0"/>
              <a:t>Processes may share some common variables to synchronize their actions.</a:t>
            </a:r>
          </a:p>
        </p:txBody>
      </p:sp>
      <p:grpSp>
        <p:nvGrpSpPr>
          <p:cNvPr id="49160" name="Group 8"/>
          <p:cNvGrpSpPr>
            <a:grpSpLocks/>
          </p:cNvGrpSpPr>
          <p:nvPr/>
        </p:nvGrpSpPr>
        <p:grpSpPr bwMode="auto">
          <a:xfrm>
            <a:off x="3352800" y="3171825"/>
            <a:ext cx="1533525" cy="1095375"/>
            <a:chOff x="2562" y="1536"/>
            <a:chExt cx="966" cy="690"/>
          </a:xfrm>
        </p:grpSpPr>
        <p:sp>
          <p:nvSpPr>
            <p:cNvPr id="49156" name="Rectangle 4"/>
            <p:cNvSpPr>
              <a:spLocks noChangeArrowheads="1"/>
            </p:cNvSpPr>
            <p:nvPr/>
          </p:nvSpPr>
          <p:spPr bwMode="auto">
            <a:xfrm>
              <a:off x="2568" y="1536"/>
              <a:ext cx="96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7" name="Rectangle 5"/>
            <p:cNvSpPr>
              <a:spLocks noChangeArrowheads="1"/>
            </p:cNvSpPr>
            <p:nvPr/>
          </p:nvSpPr>
          <p:spPr bwMode="auto">
            <a:xfrm>
              <a:off x="2562" y="1986"/>
              <a:ext cx="96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360952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t>Algorithm 1</a:t>
            </a:r>
          </a:p>
        </p:txBody>
      </p:sp>
      <p:sp>
        <p:nvSpPr>
          <p:cNvPr id="50179" name="Rectangle 3"/>
          <p:cNvSpPr>
            <a:spLocks noGrp="1" noChangeArrowheads="1"/>
          </p:cNvSpPr>
          <p:nvPr>
            <p:ph type="body" idx="1"/>
          </p:nvPr>
        </p:nvSpPr>
        <p:spPr>
          <a:xfrm>
            <a:off x="990600" y="1737361"/>
            <a:ext cx="7029450" cy="4114800"/>
          </a:xfrm>
        </p:spPr>
        <p:txBody>
          <a:bodyPr>
            <a:normAutofit fontScale="92500" lnSpcReduction="10000"/>
          </a:bodyPr>
          <a:lstStyle/>
          <a:p>
            <a:pPr>
              <a:lnSpc>
                <a:spcPct val="90000"/>
              </a:lnSpc>
              <a:tabLst>
                <a:tab pos="2005013" algn="l"/>
                <a:tab pos="2339975" algn="l"/>
                <a:tab pos="2630488" algn="l"/>
              </a:tabLst>
            </a:pPr>
            <a:r>
              <a:rPr lang="en-US" altLang="en-US" dirty="0"/>
              <a:t>Shared variables: </a:t>
            </a:r>
          </a:p>
          <a:p>
            <a:pPr lvl="1">
              <a:lnSpc>
                <a:spcPct val="90000"/>
              </a:lnSpc>
              <a:tabLst>
                <a:tab pos="2005013" algn="l"/>
                <a:tab pos="2339975" algn="l"/>
                <a:tab pos="2630488" algn="l"/>
              </a:tabLst>
            </a:pPr>
            <a:r>
              <a:rPr lang="en-US" altLang="en-US" b="1" dirty="0" err="1"/>
              <a:t>int</a:t>
            </a:r>
            <a:r>
              <a:rPr lang="en-US" altLang="en-US" b="1" dirty="0"/>
              <a:t> turn</a:t>
            </a:r>
            <a:r>
              <a:rPr lang="en-US" altLang="en-US" dirty="0"/>
              <a:t>;</a:t>
            </a:r>
            <a:br>
              <a:rPr lang="en-US" altLang="en-US" dirty="0"/>
            </a:br>
            <a:r>
              <a:rPr lang="en-US" altLang="en-US" dirty="0"/>
              <a:t>initially </a:t>
            </a:r>
            <a:r>
              <a:rPr lang="en-US" altLang="en-US" b="1" dirty="0"/>
              <a:t>turn = 0</a:t>
            </a:r>
          </a:p>
          <a:p>
            <a:pPr lvl="1">
              <a:lnSpc>
                <a:spcPct val="90000"/>
              </a:lnSpc>
              <a:tabLst>
                <a:tab pos="2005013" algn="l"/>
                <a:tab pos="2339975" algn="l"/>
                <a:tab pos="2630488" algn="l"/>
              </a:tabLst>
            </a:pPr>
            <a:r>
              <a:rPr lang="en-US" altLang="en-US" b="1"/>
              <a:t>turn = </a:t>
            </a:r>
            <a:r>
              <a:rPr lang="en-US" altLang="en-US" b="1" dirty="0" err="1"/>
              <a:t>i</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can enter its critical section</a:t>
            </a:r>
          </a:p>
          <a:p>
            <a:pPr>
              <a:lnSpc>
                <a:spcPct val="90000"/>
              </a:lnSpc>
              <a:tabLst>
                <a:tab pos="2005013" algn="l"/>
                <a:tab pos="2339975" algn="l"/>
                <a:tab pos="2630488" algn="l"/>
              </a:tabLst>
            </a:pPr>
            <a:r>
              <a:rPr lang="en-US" altLang="en-US" dirty="0"/>
              <a:t>Process </a:t>
            </a:r>
            <a:r>
              <a:rPr lang="en-US" altLang="en-US" i="1" dirty="0"/>
              <a:t>P</a:t>
            </a:r>
            <a:r>
              <a:rPr lang="en-US" altLang="en-US" i="1" baseline="-25000" dirty="0"/>
              <a:t>i</a:t>
            </a:r>
            <a:endParaRPr lang="en-US" altLang="en-US" dirty="0"/>
          </a:p>
          <a:p>
            <a:pPr>
              <a:lnSpc>
                <a:spcPct val="90000"/>
              </a:lnSpc>
              <a:buFont typeface="Monotype Sorts" pitchFamily="2" charset="2"/>
              <a:buNone/>
              <a:tabLst>
                <a:tab pos="2005013" algn="l"/>
                <a:tab pos="2339975" algn="l"/>
                <a:tab pos="2630488" algn="l"/>
              </a:tabLst>
            </a:pPr>
            <a:r>
              <a:rPr lang="en-US" altLang="en-US" dirty="0"/>
              <a:t>		</a:t>
            </a:r>
            <a:r>
              <a:rPr lang="en-US" altLang="en-US" b="1" dirty="0"/>
              <a:t>do</a:t>
            </a:r>
            <a:r>
              <a:rPr lang="en-US" altLang="en-US" dirty="0"/>
              <a:t> { </a:t>
            </a:r>
            <a:r>
              <a:rPr lang="en-US" altLang="en-US" b="1" dirty="0"/>
              <a:t>while (turn !=</a:t>
            </a:r>
            <a:r>
              <a:rPr lang="en-US" altLang="en-US" b="1" dirty="0">
                <a:sym typeface="Symbol" panose="05050102010706020507" pitchFamily="18" charset="2"/>
              </a:rPr>
              <a:t> </a:t>
            </a:r>
            <a:r>
              <a:rPr lang="en-US" altLang="en-US" b="1" dirty="0" err="1">
                <a:sym typeface="Symbol" panose="05050102010706020507" pitchFamily="18" charset="2"/>
              </a:rPr>
              <a:t>i</a:t>
            </a:r>
            <a:r>
              <a:rPr lang="en-US" altLang="en-US" b="1" dirty="0">
                <a:sym typeface="Symbol" panose="05050102010706020507" pitchFamily="18" charset="2"/>
              </a:rPr>
              <a:t>) </a:t>
            </a:r>
            <a:r>
              <a:rPr lang="en-US" altLang="en-US" dirty="0">
                <a:sym typeface="Symbol" panose="05050102010706020507" pitchFamily="18" charset="2"/>
              </a:rPr>
              <a:t>;</a:t>
            </a:r>
          </a:p>
          <a:p>
            <a:pPr>
              <a:lnSpc>
                <a:spcPct val="90000"/>
              </a:lnSpc>
              <a:buFont typeface="Monotype Sorts" pitchFamily="2" charset="2"/>
              <a:buNone/>
              <a:tabLst>
                <a:tab pos="2005013" algn="l"/>
                <a:tab pos="2339975" algn="l"/>
                <a:tab pos="2630488" algn="l"/>
              </a:tabLst>
            </a:pPr>
            <a:r>
              <a:rPr lang="en-US" altLang="en-US" dirty="0">
                <a:sym typeface="Symbol" panose="05050102010706020507" pitchFamily="18" charset="2"/>
              </a:rPr>
              <a:t>				critical section</a:t>
            </a:r>
          </a:p>
          <a:p>
            <a:pPr>
              <a:lnSpc>
                <a:spcPct val="90000"/>
              </a:lnSpc>
              <a:buFont typeface="Monotype Sorts" pitchFamily="2" charset="2"/>
              <a:buNone/>
              <a:tabLst>
                <a:tab pos="2005013" algn="l"/>
                <a:tab pos="2339975" algn="l"/>
                <a:tab pos="2630488" algn="l"/>
              </a:tabLst>
            </a:pPr>
            <a:r>
              <a:rPr lang="en-US" altLang="en-US" dirty="0">
                <a:sym typeface="Symbol" panose="05050102010706020507" pitchFamily="18" charset="2"/>
              </a:rPr>
              <a:t>			</a:t>
            </a:r>
            <a:r>
              <a:rPr lang="en-US" altLang="en-US" b="1" dirty="0">
                <a:sym typeface="Symbol" panose="05050102010706020507" pitchFamily="18" charset="2"/>
              </a:rPr>
              <a:t>turn = j</a:t>
            </a:r>
            <a:r>
              <a:rPr lang="en-US" altLang="en-US" dirty="0">
                <a:sym typeface="Symbol" panose="05050102010706020507" pitchFamily="18" charset="2"/>
              </a:rPr>
              <a:t>;</a:t>
            </a:r>
          </a:p>
          <a:p>
            <a:pPr>
              <a:lnSpc>
                <a:spcPct val="90000"/>
              </a:lnSpc>
              <a:buFont typeface="Monotype Sorts" pitchFamily="2" charset="2"/>
              <a:buNone/>
              <a:tabLst>
                <a:tab pos="2005013" algn="l"/>
                <a:tab pos="2339975" algn="l"/>
                <a:tab pos="2630488" algn="l"/>
              </a:tabLst>
            </a:pPr>
            <a:r>
              <a:rPr lang="en-US" altLang="en-US" dirty="0">
                <a:sym typeface="Symbol" panose="05050102010706020507" pitchFamily="18" charset="2"/>
              </a:rPr>
              <a:t>				reminder section</a:t>
            </a:r>
          </a:p>
          <a:p>
            <a:pPr>
              <a:lnSpc>
                <a:spcPct val="90000"/>
              </a:lnSpc>
              <a:buFont typeface="Monotype Sorts" pitchFamily="2" charset="2"/>
              <a:buNone/>
              <a:tabLst>
                <a:tab pos="2005013" algn="l"/>
                <a:tab pos="2339975" algn="l"/>
                <a:tab pos="2630488" algn="l"/>
              </a:tabLst>
            </a:pPr>
            <a:r>
              <a:rPr lang="en-US" altLang="en-US" dirty="0">
                <a:sym typeface="Symbol" panose="05050102010706020507" pitchFamily="18" charset="2"/>
              </a:rPr>
              <a:t>		} </a:t>
            </a:r>
            <a:r>
              <a:rPr lang="en-US" altLang="en-US" b="1" dirty="0">
                <a:sym typeface="Symbol" panose="05050102010706020507" pitchFamily="18" charset="2"/>
              </a:rPr>
              <a:t>while (1)</a:t>
            </a:r>
            <a:r>
              <a:rPr lang="en-US" altLang="en-US" dirty="0">
                <a:sym typeface="Symbol" panose="05050102010706020507" pitchFamily="18" charset="2"/>
              </a:rPr>
              <a:t>;</a:t>
            </a:r>
          </a:p>
          <a:p>
            <a:pPr>
              <a:lnSpc>
                <a:spcPct val="90000"/>
              </a:lnSpc>
              <a:tabLst>
                <a:tab pos="2005013" algn="l"/>
                <a:tab pos="2339975" algn="l"/>
                <a:tab pos="2630488" algn="l"/>
              </a:tabLst>
            </a:pPr>
            <a:r>
              <a:rPr lang="en-US" altLang="en-US" dirty="0"/>
              <a:t>Satisfies mutual exclusion, but not progress</a:t>
            </a:r>
          </a:p>
        </p:txBody>
      </p:sp>
    </p:spTree>
    <p:extLst>
      <p:ext uri="{BB962C8B-B14F-4D97-AF65-F5344CB8AC3E}">
        <p14:creationId xmlns:p14="http://schemas.microsoft.com/office/powerpoint/2010/main" val="4125609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t>Algorithm 2</a:t>
            </a:r>
          </a:p>
        </p:txBody>
      </p:sp>
      <p:sp>
        <p:nvSpPr>
          <p:cNvPr id="51203" name="Rectangle 3"/>
          <p:cNvSpPr>
            <a:spLocks noGrp="1" noChangeArrowheads="1"/>
          </p:cNvSpPr>
          <p:nvPr>
            <p:ph type="body" idx="1"/>
          </p:nvPr>
        </p:nvSpPr>
        <p:spPr>
          <a:xfrm>
            <a:off x="822960" y="1828800"/>
            <a:ext cx="7940040" cy="4114800"/>
          </a:xfrm>
        </p:spPr>
        <p:txBody>
          <a:bodyPr>
            <a:normAutofit fontScale="92500" lnSpcReduction="20000"/>
          </a:bodyPr>
          <a:lstStyle/>
          <a:p>
            <a:pPr>
              <a:lnSpc>
                <a:spcPct val="90000"/>
              </a:lnSpc>
              <a:tabLst>
                <a:tab pos="2403475" algn="l"/>
                <a:tab pos="2684463" algn="l"/>
                <a:tab pos="2974975" algn="l"/>
              </a:tabLst>
            </a:pPr>
            <a:r>
              <a:rPr lang="en-US" altLang="en-US" dirty="0"/>
              <a:t>Shared variables</a:t>
            </a:r>
          </a:p>
          <a:p>
            <a:pPr lvl="1">
              <a:lnSpc>
                <a:spcPct val="90000"/>
              </a:lnSpc>
              <a:tabLst>
                <a:tab pos="2403475" algn="l"/>
                <a:tab pos="2684463" algn="l"/>
                <a:tab pos="2974975" algn="l"/>
              </a:tabLst>
            </a:pPr>
            <a:r>
              <a:rPr lang="en-US" altLang="en-US" b="1" dirty="0" err="1"/>
              <a:t>boolean</a:t>
            </a:r>
            <a:r>
              <a:rPr lang="en-US" altLang="en-US" b="1" dirty="0"/>
              <a:t> flag[2]</a:t>
            </a:r>
            <a:r>
              <a:rPr lang="en-US" altLang="en-US" dirty="0"/>
              <a:t>;</a:t>
            </a:r>
            <a:br>
              <a:rPr lang="en-US" altLang="en-US" dirty="0"/>
            </a:br>
            <a:r>
              <a:rPr lang="en-US" altLang="en-US" dirty="0"/>
              <a:t>initially </a:t>
            </a:r>
            <a:r>
              <a:rPr lang="en-US" altLang="en-US" b="1" dirty="0"/>
              <a:t>flag [0] = flag [1] = false.</a:t>
            </a:r>
          </a:p>
          <a:p>
            <a:pPr lvl="1">
              <a:lnSpc>
                <a:spcPct val="90000"/>
              </a:lnSpc>
              <a:tabLst>
                <a:tab pos="2403475" algn="l"/>
                <a:tab pos="2684463" algn="l"/>
                <a:tab pos="2974975" algn="l"/>
              </a:tabLst>
            </a:pPr>
            <a:r>
              <a:rPr lang="en-US" altLang="en-US" b="1" dirty="0"/>
              <a:t>// flag [</a:t>
            </a:r>
            <a:r>
              <a:rPr lang="en-US" altLang="en-US" b="1" dirty="0" err="1"/>
              <a:t>i</a:t>
            </a:r>
            <a:r>
              <a:rPr lang="en-US" altLang="en-US" b="1" dirty="0"/>
              <a:t>] = true</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ready to enter its critical section</a:t>
            </a:r>
          </a:p>
          <a:p>
            <a:pPr>
              <a:lnSpc>
                <a:spcPct val="90000"/>
              </a:lnSpc>
              <a:tabLst>
                <a:tab pos="2403475" algn="l"/>
                <a:tab pos="2684463" algn="l"/>
                <a:tab pos="2974975" algn="l"/>
              </a:tabLst>
            </a:pPr>
            <a:r>
              <a:rPr lang="en-US" altLang="en-US" dirty="0"/>
              <a:t>Process </a:t>
            </a:r>
            <a:r>
              <a:rPr lang="en-US" altLang="en-US" i="1" dirty="0"/>
              <a:t>P</a:t>
            </a:r>
            <a:r>
              <a:rPr lang="en-US" altLang="en-US" i="1" baseline="-25000" dirty="0"/>
              <a:t>i</a:t>
            </a:r>
            <a:endParaRPr lang="en-US" altLang="en-US" dirty="0"/>
          </a:p>
          <a:p>
            <a:pPr>
              <a:lnSpc>
                <a:spcPct val="90000"/>
              </a:lnSpc>
              <a:buFont typeface="Monotype Sorts" pitchFamily="2" charset="2"/>
              <a:buNone/>
              <a:tabLst>
                <a:tab pos="2403475" algn="l"/>
                <a:tab pos="2684463" algn="l"/>
                <a:tab pos="2974975" algn="l"/>
              </a:tabLst>
            </a:pPr>
            <a:r>
              <a:rPr lang="en-US" altLang="en-US" dirty="0"/>
              <a:t>		</a:t>
            </a:r>
            <a:r>
              <a:rPr lang="en-US" altLang="en-US" b="1" dirty="0"/>
              <a:t>do {</a:t>
            </a:r>
          </a:p>
          <a:p>
            <a:pPr>
              <a:lnSpc>
                <a:spcPct val="90000"/>
              </a:lnSpc>
              <a:buFont typeface="Monotype Sorts" pitchFamily="2" charset="2"/>
              <a:buNone/>
              <a:tabLst>
                <a:tab pos="2403475" algn="l"/>
                <a:tab pos="2684463" algn="l"/>
                <a:tab pos="2974975" algn="l"/>
              </a:tabLst>
            </a:pPr>
            <a:r>
              <a:rPr lang="en-US" altLang="en-US" b="1" dirty="0"/>
              <a:t>			flag[</a:t>
            </a:r>
            <a:r>
              <a:rPr lang="en-US" altLang="en-US" b="1" dirty="0" err="1"/>
              <a:t>i</a:t>
            </a:r>
            <a:r>
              <a:rPr lang="en-US" altLang="en-US" b="1" dirty="0"/>
              <a:t>] := true;</a:t>
            </a:r>
            <a:br>
              <a:rPr lang="en-US" altLang="en-US" b="1" dirty="0"/>
            </a:br>
            <a:r>
              <a:rPr lang="en-US" altLang="en-US" b="1" dirty="0"/>
              <a:t>		while (flag[j]) ;						</a:t>
            </a:r>
            <a:r>
              <a:rPr lang="en-US" altLang="en-US" dirty="0"/>
              <a:t>critical section</a:t>
            </a:r>
          </a:p>
          <a:p>
            <a:pPr>
              <a:lnSpc>
                <a:spcPct val="90000"/>
              </a:lnSpc>
              <a:buFont typeface="Monotype Sorts" pitchFamily="2" charset="2"/>
              <a:buNone/>
              <a:tabLst>
                <a:tab pos="2403475" algn="l"/>
                <a:tab pos="2684463" algn="l"/>
                <a:tab pos="2974975" algn="l"/>
              </a:tabLst>
            </a:pPr>
            <a:r>
              <a:rPr lang="en-US" altLang="en-US" b="1" dirty="0"/>
              <a:t>			flag [</a:t>
            </a:r>
            <a:r>
              <a:rPr lang="en-US" altLang="en-US" b="1" dirty="0" err="1"/>
              <a:t>i</a:t>
            </a:r>
            <a:r>
              <a:rPr lang="en-US" altLang="en-US" b="1" dirty="0"/>
              <a:t>] = false;</a:t>
            </a:r>
          </a:p>
          <a:p>
            <a:pPr>
              <a:lnSpc>
                <a:spcPct val="90000"/>
              </a:lnSpc>
              <a:buFont typeface="Monotype Sorts" pitchFamily="2" charset="2"/>
              <a:buNone/>
              <a:tabLst>
                <a:tab pos="2403475" algn="l"/>
                <a:tab pos="2684463" algn="l"/>
                <a:tab pos="2974975" algn="l"/>
              </a:tabLst>
            </a:pPr>
            <a:r>
              <a:rPr lang="en-US" altLang="en-US" b="1" dirty="0"/>
              <a:t>				</a:t>
            </a:r>
            <a:r>
              <a:rPr lang="en-US" altLang="en-US" dirty="0"/>
              <a:t>remainder section</a:t>
            </a:r>
          </a:p>
          <a:p>
            <a:pPr>
              <a:lnSpc>
                <a:spcPct val="90000"/>
              </a:lnSpc>
              <a:buFont typeface="Monotype Sorts" pitchFamily="2" charset="2"/>
              <a:buNone/>
              <a:tabLst>
                <a:tab pos="2403475" algn="l"/>
                <a:tab pos="2684463" algn="l"/>
                <a:tab pos="2974975" algn="l"/>
              </a:tabLst>
            </a:pPr>
            <a:r>
              <a:rPr lang="en-US" altLang="en-US" b="1" dirty="0"/>
              <a:t>		} while (1);</a:t>
            </a:r>
          </a:p>
          <a:p>
            <a:pPr>
              <a:lnSpc>
                <a:spcPct val="90000"/>
              </a:lnSpc>
              <a:tabLst>
                <a:tab pos="2403475" algn="l"/>
                <a:tab pos="2684463" algn="l"/>
                <a:tab pos="2974975" algn="l"/>
              </a:tabLst>
            </a:pPr>
            <a:r>
              <a:rPr lang="en-US" altLang="en-US" dirty="0"/>
              <a:t>Satisfies mutual exclusion, but not progress requirement.</a:t>
            </a:r>
          </a:p>
        </p:txBody>
      </p:sp>
    </p:spTree>
    <p:extLst>
      <p:ext uri="{BB962C8B-B14F-4D97-AF65-F5344CB8AC3E}">
        <p14:creationId xmlns:p14="http://schemas.microsoft.com/office/powerpoint/2010/main" val="2771365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171575" y="0"/>
            <a:ext cx="7065963" cy="844550"/>
          </a:xfrm>
        </p:spPr>
        <p:txBody>
          <a:bodyPr/>
          <a:lstStyle/>
          <a:p>
            <a:r>
              <a:rPr lang="en-US" altLang="en-US"/>
              <a:t>Algorithm 3</a:t>
            </a:r>
          </a:p>
        </p:txBody>
      </p:sp>
      <p:sp>
        <p:nvSpPr>
          <p:cNvPr id="52227" name="Rectangle 3"/>
          <p:cNvSpPr>
            <a:spLocks noGrp="1" noChangeArrowheads="1"/>
          </p:cNvSpPr>
          <p:nvPr>
            <p:ph type="body" idx="1"/>
          </p:nvPr>
        </p:nvSpPr>
        <p:spPr>
          <a:xfrm>
            <a:off x="990600" y="1752600"/>
            <a:ext cx="7620000" cy="4114800"/>
          </a:xfrm>
        </p:spPr>
        <p:txBody>
          <a:bodyPr>
            <a:normAutofit fontScale="92500" lnSpcReduction="20000"/>
          </a:bodyPr>
          <a:lstStyle/>
          <a:p>
            <a:pPr>
              <a:lnSpc>
                <a:spcPct val="90000"/>
              </a:lnSpc>
              <a:tabLst>
                <a:tab pos="1370013" algn="l"/>
                <a:tab pos="1714500" algn="l"/>
                <a:tab pos="2005013" algn="l"/>
              </a:tabLst>
            </a:pPr>
            <a:r>
              <a:rPr lang="en-US" altLang="en-US" dirty="0"/>
              <a:t>Combined shared variables of algorithms 1 and 2.</a:t>
            </a:r>
          </a:p>
          <a:p>
            <a:pPr>
              <a:lnSpc>
                <a:spcPct val="90000"/>
              </a:lnSpc>
              <a:tabLst>
                <a:tab pos="1370013" algn="l"/>
                <a:tab pos="1714500" algn="l"/>
                <a:tab pos="2005013" algn="l"/>
              </a:tabLst>
            </a:pPr>
            <a:r>
              <a:rPr lang="en-US" altLang="en-US" dirty="0"/>
              <a:t>Process P</a:t>
            </a:r>
            <a:r>
              <a:rPr lang="en-US" altLang="en-US" baseline="-25000" dirty="0"/>
              <a:t>i</a:t>
            </a:r>
            <a:endParaRPr lang="en-US" altLang="en-US" dirty="0"/>
          </a:p>
          <a:p>
            <a:pPr>
              <a:lnSpc>
                <a:spcPct val="90000"/>
              </a:lnSpc>
              <a:buFont typeface="Monotype Sorts" pitchFamily="2" charset="2"/>
              <a:buNone/>
              <a:tabLst>
                <a:tab pos="1370013" algn="l"/>
                <a:tab pos="1714500" algn="l"/>
                <a:tab pos="2005013" algn="l"/>
              </a:tabLst>
            </a:pPr>
            <a:r>
              <a:rPr lang="en-US" altLang="en-US" dirty="0"/>
              <a:t>		</a:t>
            </a:r>
            <a:r>
              <a:rPr lang="en-US" altLang="en-US" b="1" dirty="0"/>
              <a:t>do</a:t>
            </a:r>
            <a:r>
              <a:rPr lang="en-US" altLang="en-US" dirty="0"/>
              <a:t> {</a:t>
            </a:r>
          </a:p>
          <a:p>
            <a:pPr>
              <a:lnSpc>
                <a:spcPct val="90000"/>
              </a:lnSpc>
              <a:buFont typeface="Monotype Sorts" pitchFamily="2" charset="2"/>
              <a:buNone/>
              <a:tabLst>
                <a:tab pos="1370013" algn="l"/>
                <a:tab pos="1714500" algn="l"/>
                <a:tab pos="2005013" algn="l"/>
              </a:tabLst>
            </a:pPr>
            <a:r>
              <a:rPr lang="en-US" altLang="en-US" dirty="0"/>
              <a:t>			</a:t>
            </a:r>
            <a:r>
              <a:rPr lang="en-US" altLang="en-US" b="1" dirty="0"/>
              <a:t>flag [</a:t>
            </a:r>
            <a:r>
              <a:rPr lang="en-US" altLang="en-US" b="1" dirty="0" err="1"/>
              <a:t>i</a:t>
            </a:r>
            <a:r>
              <a:rPr lang="en-US" altLang="en-US" b="1" dirty="0"/>
              <a:t>]:= true;</a:t>
            </a:r>
            <a:br>
              <a:rPr lang="en-US" altLang="en-US" b="1" dirty="0"/>
            </a:br>
            <a:r>
              <a:rPr lang="en-US" altLang="en-US" b="1" dirty="0"/>
              <a:t>		turn = j;</a:t>
            </a:r>
            <a:br>
              <a:rPr lang="en-US" altLang="en-US" b="1" dirty="0"/>
            </a:br>
            <a:r>
              <a:rPr lang="en-US" altLang="en-US" b="1" dirty="0"/>
              <a:t>		while (flag [j] and turn = j) ;</a:t>
            </a:r>
          </a:p>
          <a:p>
            <a:pPr>
              <a:lnSpc>
                <a:spcPct val="90000"/>
              </a:lnSpc>
              <a:buFont typeface="Monotype Sorts" pitchFamily="2" charset="2"/>
              <a:buNone/>
              <a:tabLst>
                <a:tab pos="1370013" algn="l"/>
                <a:tab pos="1714500" algn="l"/>
                <a:tab pos="2005013" algn="l"/>
              </a:tabLst>
            </a:pPr>
            <a:r>
              <a:rPr lang="en-US" altLang="en-US" dirty="0"/>
              <a:t>				critical section</a:t>
            </a:r>
          </a:p>
          <a:p>
            <a:pPr>
              <a:lnSpc>
                <a:spcPct val="90000"/>
              </a:lnSpc>
              <a:buFont typeface="Monotype Sorts" pitchFamily="2" charset="2"/>
              <a:buNone/>
              <a:tabLst>
                <a:tab pos="1370013" algn="l"/>
                <a:tab pos="1714500" algn="l"/>
                <a:tab pos="2005013" algn="l"/>
              </a:tabLst>
            </a:pPr>
            <a:r>
              <a:rPr lang="en-US" altLang="en-US" dirty="0"/>
              <a:t>			</a:t>
            </a:r>
            <a:r>
              <a:rPr lang="en-US" altLang="en-US" b="1" dirty="0"/>
              <a:t>flag [</a:t>
            </a:r>
            <a:r>
              <a:rPr lang="en-US" altLang="en-US" b="1" dirty="0" err="1"/>
              <a:t>i</a:t>
            </a:r>
            <a:r>
              <a:rPr lang="en-US" altLang="en-US" b="1" dirty="0"/>
              <a:t>] = false;</a:t>
            </a:r>
          </a:p>
          <a:p>
            <a:pPr>
              <a:lnSpc>
                <a:spcPct val="90000"/>
              </a:lnSpc>
              <a:buFont typeface="Monotype Sorts" pitchFamily="2" charset="2"/>
              <a:buNone/>
              <a:tabLst>
                <a:tab pos="1370013" algn="l"/>
                <a:tab pos="1714500" algn="l"/>
                <a:tab pos="2005013" algn="l"/>
              </a:tabLst>
            </a:pPr>
            <a:r>
              <a:rPr lang="en-US" altLang="en-US" dirty="0"/>
              <a:t>				remainder section</a:t>
            </a:r>
          </a:p>
          <a:p>
            <a:pPr>
              <a:lnSpc>
                <a:spcPct val="90000"/>
              </a:lnSpc>
              <a:buFont typeface="Monotype Sorts" pitchFamily="2" charset="2"/>
              <a:buNone/>
              <a:tabLst>
                <a:tab pos="1370013" algn="l"/>
                <a:tab pos="1714500" algn="l"/>
                <a:tab pos="2005013" algn="l"/>
              </a:tabLst>
            </a:pPr>
            <a:r>
              <a:rPr lang="en-US" altLang="en-US" dirty="0"/>
              <a:t>		} </a:t>
            </a:r>
            <a:r>
              <a:rPr lang="en-US" altLang="en-US" b="1" dirty="0"/>
              <a:t>while (1);</a:t>
            </a:r>
          </a:p>
          <a:p>
            <a:pPr>
              <a:lnSpc>
                <a:spcPct val="90000"/>
              </a:lnSpc>
              <a:tabLst>
                <a:tab pos="1370013" algn="l"/>
                <a:tab pos="1714500" algn="l"/>
                <a:tab pos="2005013" algn="l"/>
              </a:tabLst>
            </a:pPr>
            <a:r>
              <a:rPr lang="en-US" altLang="en-US" dirty="0"/>
              <a:t>Meets all three requirements; solves the critical-section problem for two processes.</a:t>
            </a:r>
          </a:p>
        </p:txBody>
      </p:sp>
    </p:spTree>
    <p:extLst>
      <p:ext uri="{BB962C8B-B14F-4D97-AF65-F5344CB8AC3E}">
        <p14:creationId xmlns:p14="http://schemas.microsoft.com/office/powerpoint/2010/main" val="3101628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t>Bakery Algorithm</a:t>
            </a:r>
          </a:p>
        </p:txBody>
      </p:sp>
      <p:sp>
        <p:nvSpPr>
          <p:cNvPr id="53251" name="Rectangle 3"/>
          <p:cNvSpPr>
            <a:spLocks noGrp="1" noChangeArrowheads="1"/>
          </p:cNvSpPr>
          <p:nvPr>
            <p:ph type="body" idx="1"/>
          </p:nvPr>
        </p:nvSpPr>
        <p:spPr>
          <a:xfrm>
            <a:off x="1066800" y="2590800"/>
            <a:ext cx="7772400" cy="3505200"/>
          </a:xfrm>
        </p:spPr>
        <p:txBody>
          <a:bodyPr/>
          <a:lstStyle/>
          <a:p>
            <a:r>
              <a:rPr lang="en-US" altLang="en-US" dirty="0"/>
              <a:t>Before entering its critical section, process receives a number. Holder of the smallest number enters the critical section.</a:t>
            </a:r>
          </a:p>
          <a:p>
            <a:r>
              <a:rPr lang="en-US" altLang="en-US" dirty="0"/>
              <a:t>If processes </a:t>
            </a:r>
            <a:r>
              <a:rPr lang="en-US" altLang="en-US" i="1" dirty="0"/>
              <a:t>P</a:t>
            </a:r>
            <a:r>
              <a:rPr lang="en-US" altLang="en-US" i="1" baseline="-25000" dirty="0"/>
              <a:t>i</a:t>
            </a:r>
            <a:r>
              <a:rPr lang="en-US" altLang="en-US" dirty="0"/>
              <a:t> and </a:t>
            </a:r>
            <a:r>
              <a:rPr lang="en-US" altLang="en-US" i="1" dirty="0" err="1"/>
              <a:t>P</a:t>
            </a:r>
            <a:r>
              <a:rPr lang="en-US" altLang="en-US" i="1" baseline="-25000" dirty="0" err="1"/>
              <a:t>j</a:t>
            </a:r>
            <a:r>
              <a:rPr lang="en-US" altLang="en-US" dirty="0"/>
              <a:t> receive the same number, if </a:t>
            </a:r>
            <a:r>
              <a:rPr lang="en-US" altLang="en-US" i="1" dirty="0" err="1"/>
              <a:t>i</a:t>
            </a:r>
            <a:r>
              <a:rPr lang="en-US" altLang="en-US" dirty="0"/>
              <a:t> &lt; </a:t>
            </a:r>
            <a:r>
              <a:rPr lang="en-US" altLang="en-US" i="1" dirty="0"/>
              <a:t>j</a:t>
            </a:r>
            <a:r>
              <a:rPr lang="en-US" altLang="en-US" dirty="0"/>
              <a:t>, then </a:t>
            </a:r>
            <a:r>
              <a:rPr lang="en-US" altLang="en-US" i="1" dirty="0"/>
              <a:t>P</a:t>
            </a:r>
            <a:r>
              <a:rPr lang="en-US" altLang="en-US" i="1" baseline="-25000" dirty="0"/>
              <a:t>i</a:t>
            </a:r>
            <a:r>
              <a:rPr lang="en-US" altLang="en-US" dirty="0"/>
              <a:t> is served first; else </a:t>
            </a:r>
            <a:r>
              <a:rPr lang="en-US" altLang="en-US" i="1" dirty="0" err="1"/>
              <a:t>P</a:t>
            </a:r>
            <a:r>
              <a:rPr lang="en-US" altLang="en-US" i="1" baseline="-25000" dirty="0" err="1"/>
              <a:t>j</a:t>
            </a:r>
            <a:r>
              <a:rPr lang="en-US" altLang="en-US" dirty="0"/>
              <a:t> is served first.</a:t>
            </a:r>
          </a:p>
          <a:p>
            <a:r>
              <a:rPr lang="en-US" altLang="en-US" dirty="0"/>
              <a:t>The numbering scheme always generates numbers in increasing order of enumeration; i.e., 1,2,3,4,5...</a:t>
            </a:r>
          </a:p>
        </p:txBody>
      </p:sp>
      <p:sp>
        <p:nvSpPr>
          <p:cNvPr id="53252" name="Text Box 4"/>
          <p:cNvSpPr txBox="1">
            <a:spLocks noChangeArrowheads="1"/>
          </p:cNvSpPr>
          <p:nvPr/>
        </p:nvSpPr>
        <p:spPr bwMode="auto">
          <a:xfrm>
            <a:off x="794089" y="1990727"/>
            <a:ext cx="364013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sz="2000" dirty="0"/>
              <a:t>Critical section for n processes</a:t>
            </a:r>
          </a:p>
        </p:txBody>
      </p:sp>
    </p:spTree>
    <p:extLst>
      <p:ext uri="{BB962C8B-B14F-4D97-AF65-F5344CB8AC3E}">
        <p14:creationId xmlns:p14="http://schemas.microsoft.com/office/powerpoint/2010/main" val="3399174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a:t>Bakery Algorithm </a:t>
            </a:r>
          </a:p>
        </p:txBody>
      </p:sp>
      <p:sp>
        <p:nvSpPr>
          <p:cNvPr id="54275" name="Rectangle 3"/>
          <p:cNvSpPr>
            <a:spLocks noGrp="1" noChangeArrowheads="1"/>
          </p:cNvSpPr>
          <p:nvPr>
            <p:ph type="body" idx="1"/>
          </p:nvPr>
        </p:nvSpPr>
        <p:spPr/>
        <p:txBody>
          <a:bodyPr/>
          <a:lstStyle/>
          <a:p>
            <a:pPr>
              <a:tabLst>
                <a:tab pos="1316038" algn="l"/>
                <a:tab pos="1714500" algn="l"/>
              </a:tabLst>
            </a:pPr>
            <a:r>
              <a:rPr lang="en-US" altLang="en-US" dirty="0"/>
              <a:t>Notation &lt;</a:t>
            </a:r>
            <a:r>
              <a:rPr lang="en-US" altLang="en-US" dirty="0">
                <a:sym typeface="Symbol" panose="05050102010706020507" pitchFamily="18" charset="2"/>
              </a:rPr>
              <a:t> lexicographical order (ticket #, process id #)</a:t>
            </a:r>
          </a:p>
          <a:p>
            <a:pPr lvl="1">
              <a:tabLst>
                <a:tab pos="1316038" algn="l"/>
                <a:tab pos="1714500" algn="l"/>
              </a:tabLst>
            </a:pPr>
            <a:r>
              <a:rPr lang="en-US" altLang="en-US" dirty="0"/>
              <a:t>(</a:t>
            </a:r>
            <a:r>
              <a:rPr lang="en-US" altLang="en-US" i="1" dirty="0" err="1"/>
              <a:t>a,b</a:t>
            </a:r>
            <a:r>
              <a:rPr lang="en-US" altLang="en-US" dirty="0"/>
              <a:t>) &lt; (</a:t>
            </a:r>
            <a:r>
              <a:rPr lang="en-US" altLang="en-US" i="1" dirty="0" err="1"/>
              <a:t>c,d</a:t>
            </a:r>
            <a:r>
              <a:rPr lang="en-US" altLang="en-US" dirty="0"/>
              <a:t>) if </a:t>
            </a:r>
            <a:r>
              <a:rPr lang="en-US" altLang="en-US" i="1" dirty="0"/>
              <a:t>a</a:t>
            </a:r>
            <a:r>
              <a:rPr lang="en-US" altLang="en-US" dirty="0"/>
              <a:t> &lt; </a:t>
            </a:r>
            <a:r>
              <a:rPr lang="en-US" altLang="en-US" i="1" dirty="0"/>
              <a:t>c</a:t>
            </a:r>
            <a:r>
              <a:rPr lang="en-US" altLang="en-US" dirty="0"/>
              <a:t> or if </a:t>
            </a:r>
            <a:r>
              <a:rPr lang="en-US" altLang="en-US" i="1" dirty="0"/>
              <a:t>a</a:t>
            </a:r>
            <a:r>
              <a:rPr lang="en-US" altLang="en-US" dirty="0"/>
              <a:t> = </a:t>
            </a:r>
            <a:r>
              <a:rPr lang="en-US" altLang="en-US" i="1" dirty="0"/>
              <a:t>c</a:t>
            </a:r>
            <a:r>
              <a:rPr lang="en-US" altLang="en-US" dirty="0"/>
              <a:t> and </a:t>
            </a:r>
            <a:r>
              <a:rPr lang="en-US" altLang="en-US" i="1" dirty="0"/>
              <a:t>b </a:t>
            </a:r>
            <a:r>
              <a:rPr lang="en-US" altLang="en-US" dirty="0"/>
              <a:t>&lt; </a:t>
            </a:r>
            <a:r>
              <a:rPr lang="en-US" altLang="en-US" i="1" dirty="0"/>
              <a:t>d</a:t>
            </a:r>
            <a:endParaRPr lang="en-US" altLang="en-US" dirty="0"/>
          </a:p>
          <a:p>
            <a:pPr lvl="1">
              <a:tabLst>
                <a:tab pos="1316038" algn="l"/>
                <a:tab pos="1714500" algn="l"/>
              </a:tabLst>
            </a:pPr>
            <a:r>
              <a:rPr lang="en-US" altLang="en-US" dirty="0"/>
              <a:t>max (</a:t>
            </a:r>
            <a:r>
              <a:rPr lang="en-US" altLang="en-US" i="1" dirty="0"/>
              <a:t>a</a:t>
            </a:r>
            <a:r>
              <a:rPr lang="en-US" altLang="en-US" i="1" baseline="-25000" dirty="0"/>
              <a:t>0</a:t>
            </a:r>
            <a:r>
              <a:rPr lang="en-US" altLang="en-US" dirty="0"/>
              <a:t>,…, </a:t>
            </a:r>
            <a:r>
              <a:rPr lang="en-US" altLang="en-US" i="1" dirty="0"/>
              <a:t>a</a:t>
            </a:r>
            <a:r>
              <a:rPr lang="en-US" altLang="en-US" i="1" baseline="-25000" dirty="0"/>
              <a:t>n</a:t>
            </a:r>
            <a:r>
              <a:rPr lang="en-US" altLang="en-US" baseline="-25000" dirty="0"/>
              <a:t>-1</a:t>
            </a:r>
            <a:r>
              <a:rPr lang="en-US" altLang="en-US" dirty="0"/>
              <a:t>) is a number, </a:t>
            </a:r>
            <a:r>
              <a:rPr lang="en-US" altLang="en-US" i="1" dirty="0"/>
              <a:t>k</a:t>
            </a:r>
            <a:r>
              <a:rPr lang="en-US" altLang="en-US" dirty="0"/>
              <a:t>, such that </a:t>
            </a:r>
            <a:r>
              <a:rPr lang="en-US" altLang="en-US" i="1" dirty="0"/>
              <a:t>k</a:t>
            </a:r>
            <a:r>
              <a:rPr lang="en-US" altLang="en-US" dirty="0"/>
              <a:t> </a:t>
            </a:r>
            <a:r>
              <a:rPr lang="en-US" altLang="en-US" dirty="0">
                <a:sym typeface="Symbol" panose="05050102010706020507" pitchFamily="18" charset="2"/>
              </a:rPr>
              <a:t></a:t>
            </a:r>
            <a:r>
              <a:rPr lang="en-US" altLang="en-US" i="1" dirty="0">
                <a:sym typeface="Symbol" panose="05050102010706020507" pitchFamily="18" charset="2"/>
              </a:rPr>
              <a:t> </a:t>
            </a:r>
            <a:r>
              <a:rPr lang="en-US" altLang="en-US" i="1" dirty="0" err="1">
                <a:sym typeface="Symbol" panose="05050102010706020507" pitchFamily="18" charset="2"/>
              </a:rPr>
              <a:t>a</a:t>
            </a:r>
            <a:r>
              <a:rPr lang="en-US" altLang="en-US" baseline="-25000" dirty="0" err="1">
                <a:sym typeface="Symbol" panose="05050102010706020507" pitchFamily="18" charset="2"/>
              </a:rPr>
              <a:t>i</a:t>
            </a:r>
            <a:r>
              <a:rPr lang="en-US" altLang="en-US" dirty="0">
                <a:sym typeface="Symbol" panose="05050102010706020507" pitchFamily="18" charset="2"/>
              </a:rPr>
              <a:t> for </a:t>
            </a:r>
            <a:r>
              <a:rPr lang="en-US" altLang="en-US" i="1" dirty="0" err="1">
                <a:sym typeface="Symbol" panose="05050102010706020507" pitchFamily="18" charset="2"/>
              </a:rPr>
              <a:t>i</a:t>
            </a:r>
            <a:r>
              <a:rPr lang="en-US" altLang="en-US" dirty="0">
                <a:sym typeface="Symbol" panose="05050102010706020507" pitchFamily="18" charset="2"/>
              </a:rPr>
              <a:t> - 0, </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sym typeface="Symbol" panose="05050102010706020507" pitchFamily="18" charset="2"/>
              </a:rPr>
              <a:t>n</a:t>
            </a:r>
            <a:r>
              <a:rPr lang="en-US" altLang="en-US" dirty="0">
                <a:sym typeface="Symbol" panose="05050102010706020507" pitchFamily="18" charset="2"/>
              </a:rPr>
              <a:t> – 1</a:t>
            </a:r>
            <a:endParaRPr lang="en-US" altLang="en-US" dirty="0"/>
          </a:p>
          <a:p>
            <a:pPr>
              <a:tabLst>
                <a:tab pos="1316038" algn="l"/>
                <a:tab pos="1714500" algn="l"/>
              </a:tabLst>
            </a:pPr>
            <a:r>
              <a:rPr lang="en-US" altLang="en-US" dirty="0"/>
              <a:t>Shared data</a:t>
            </a:r>
          </a:p>
          <a:p>
            <a:pPr>
              <a:buFont typeface="Monotype Sorts" pitchFamily="2" charset="2"/>
              <a:buNone/>
              <a:tabLst>
                <a:tab pos="1316038" algn="l"/>
                <a:tab pos="1714500" algn="l"/>
              </a:tabLst>
            </a:pPr>
            <a:r>
              <a:rPr lang="en-US" altLang="en-US" dirty="0"/>
              <a:t>		</a:t>
            </a:r>
            <a:r>
              <a:rPr lang="en-US" altLang="en-US" b="1" dirty="0" err="1"/>
              <a:t>boolean</a:t>
            </a:r>
            <a:r>
              <a:rPr lang="en-US" altLang="en-US" b="1" dirty="0"/>
              <a:t> choosing[n]</a:t>
            </a:r>
            <a:r>
              <a:rPr lang="en-US" altLang="en-US" b="1" dirty="0">
                <a:sym typeface="Symbol" panose="05050102010706020507" pitchFamily="18" charset="2"/>
              </a:rPr>
              <a:t>;</a:t>
            </a:r>
          </a:p>
          <a:p>
            <a:pPr>
              <a:buFont typeface="Monotype Sorts" pitchFamily="2" charset="2"/>
              <a:buNone/>
              <a:tabLst>
                <a:tab pos="1316038" algn="l"/>
                <a:tab pos="1714500" algn="l"/>
              </a:tabLst>
            </a:pPr>
            <a:r>
              <a:rPr lang="en-US" altLang="en-US" b="1" dirty="0">
                <a:sym typeface="Symbol" panose="05050102010706020507" pitchFamily="18" charset="2"/>
              </a:rPr>
              <a:t>		</a:t>
            </a:r>
            <a:r>
              <a:rPr lang="en-US" altLang="en-US" b="1" dirty="0" err="1">
                <a:sym typeface="Symbol" panose="05050102010706020507" pitchFamily="18" charset="2"/>
              </a:rPr>
              <a:t>int</a:t>
            </a:r>
            <a:r>
              <a:rPr lang="en-US" altLang="en-US" b="1" dirty="0">
                <a:sym typeface="Symbol" panose="05050102010706020507" pitchFamily="18" charset="2"/>
              </a:rPr>
              <a:t> number[n];</a:t>
            </a:r>
          </a:p>
          <a:p>
            <a:pPr>
              <a:buFont typeface="Monotype Sorts" pitchFamily="2" charset="2"/>
              <a:buNone/>
              <a:tabLst>
                <a:tab pos="1316038" algn="l"/>
                <a:tab pos="1714500" algn="l"/>
              </a:tabLst>
            </a:pPr>
            <a:r>
              <a:rPr lang="en-US" altLang="en-US" dirty="0">
                <a:sym typeface="Symbol" panose="05050102010706020507" pitchFamily="18" charset="2"/>
              </a:rPr>
              <a:t>    Data structures are initialized to </a:t>
            </a:r>
            <a:r>
              <a:rPr lang="en-US" altLang="en-US" b="1" dirty="0">
                <a:sym typeface="Symbol" panose="05050102010706020507" pitchFamily="18" charset="2"/>
              </a:rPr>
              <a:t>false</a:t>
            </a:r>
            <a:r>
              <a:rPr lang="en-US" altLang="en-US" dirty="0">
                <a:sym typeface="Symbol" panose="05050102010706020507" pitchFamily="18" charset="2"/>
              </a:rPr>
              <a:t> and </a:t>
            </a:r>
            <a:r>
              <a:rPr lang="en-US" altLang="en-US" b="1" dirty="0">
                <a:sym typeface="Symbol" panose="05050102010706020507" pitchFamily="18" charset="2"/>
              </a:rPr>
              <a:t>0</a:t>
            </a:r>
            <a:r>
              <a:rPr lang="en-US" altLang="en-US" dirty="0">
                <a:sym typeface="Symbol" panose="05050102010706020507" pitchFamily="18" charset="2"/>
              </a:rPr>
              <a:t> respectively</a:t>
            </a:r>
          </a:p>
        </p:txBody>
      </p:sp>
    </p:spTree>
    <p:extLst>
      <p:ext uri="{BB962C8B-B14F-4D97-AF65-F5344CB8AC3E}">
        <p14:creationId xmlns:p14="http://schemas.microsoft.com/office/powerpoint/2010/main" val="666856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en-US"/>
              <a:t>Bakery Algorithm </a:t>
            </a:r>
          </a:p>
        </p:txBody>
      </p:sp>
      <p:sp>
        <p:nvSpPr>
          <p:cNvPr id="64515" name="Rectangle 3"/>
          <p:cNvSpPr>
            <a:spLocks noGrp="1" noChangeArrowheads="1"/>
          </p:cNvSpPr>
          <p:nvPr>
            <p:ph type="body" idx="1"/>
          </p:nvPr>
        </p:nvSpPr>
        <p:spPr>
          <a:xfrm>
            <a:off x="838105" y="1737361"/>
            <a:ext cx="8134350" cy="4114800"/>
          </a:xfrm>
        </p:spPr>
        <p:txBody>
          <a:bodyPr>
            <a:normAutofit lnSpcReduction="10000"/>
          </a:bodyPr>
          <a:lstStyle/>
          <a:p>
            <a:pPr>
              <a:lnSpc>
                <a:spcPct val="90000"/>
              </a:lnSpc>
              <a:spcBef>
                <a:spcPct val="15000"/>
              </a:spcBef>
              <a:buFont typeface="Monotype Sorts" pitchFamily="2" charset="2"/>
              <a:buNone/>
              <a:tabLst>
                <a:tab pos="517525" algn="l"/>
                <a:tab pos="1196975" algn="l"/>
                <a:tab pos="1487488" algn="l"/>
                <a:tab pos="1831975" algn="l"/>
              </a:tabLst>
            </a:pPr>
            <a:r>
              <a:rPr lang="en-US" altLang="en-US" b="1" dirty="0"/>
              <a:t>do { </a:t>
            </a:r>
            <a:endParaRPr lang="en-US" altLang="en-US" dirty="0"/>
          </a:p>
          <a:p>
            <a:pPr>
              <a:lnSpc>
                <a:spcPct val="90000"/>
              </a:lnSpc>
              <a:spcBef>
                <a:spcPct val="15000"/>
              </a:spcBef>
              <a:buFont typeface="Monotype Sorts" pitchFamily="2" charset="2"/>
              <a:buNone/>
              <a:tabLst>
                <a:tab pos="517525" algn="l"/>
                <a:tab pos="1196975" algn="l"/>
                <a:tab pos="1487488" algn="l"/>
                <a:tab pos="1831975" algn="l"/>
              </a:tabLst>
            </a:pPr>
            <a:r>
              <a:rPr lang="en-US" altLang="en-US" dirty="0"/>
              <a:t>	</a:t>
            </a:r>
            <a:r>
              <a:rPr lang="en-US" altLang="en-US" b="1" dirty="0"/>
              <a:t>choosing[</a:t>
            </a:r>
            <a:r>
              <a:rPr lang="en-US" altLang="en-US" b="1" dirty="0" err="1"/>
              <a:t>i</a:t>
            </a:r>
            <a:r>
              <a:rPr lang="en-US" altLang="en-US" b="1" dirty="0"/>
              <a:t>] = true;</a:t>
            </a:r>
          </a:p>
          <a:p>
            <a:pPr>
              <a:lnSpc>
                <a:spcPct val="90000"/>
              </a:lnSpc>
              <a:spcBef>
                <a:spcPct val="15000"/>
              </a:spcBef>
              <a:buFont typeface="Monotype Sorts" pitchFamily="2" charset="2"/>
              <a:buNone/>
              <a:tabLst>
                <a:tab pos="517525" algn="l"/>
                <a:tab pos="1196975" algn="l"/>
                <a:tab pos="1487488" algn="l"/>
                <a:tab pos="1831975" algn="l"/>
              </a:tabLst>
            </a:pPr>
            <a:r>
              <a:rPr lang="en-US" altLang="en-US" b="1" dirty="0"/>
              <a:t>	number[</a:t>
            </a:r>
            <a:r>
              <a:rPr lang="en-US" altLang="en-US" b="1" dirty="0" err="1"/>
              <a:t>i</a:t>
            </a:r>
            <a:r>
              <a:rPr lang="en-US" altLang="en-US" b="1" dirty="0"/>
              <a:t>] = max(number[0], number[1], …, number [n – 1])+1;</a:t>
            </a:r>
          </a:p>
          <a:p>
            <a:pPr>
              <a:lnSpc>
                <a:spcPct val="90000"/>
              </a:lnSpc>
              <a:spcBef>
                <a:spcPct val="15000"/>
              </a:spcBef>
              <a:buFont typeface="Monotype Sorts" pitchFamily="2" charset="2"/>
              <a:buNone/>
              <a:tabLst>
                <a:tab pos="517525" algn="l"/>
                <a:tab pos="1196975" algn="l"/>
                <a:tab pos="1487488" algn="l"/>
                <a:tab pos="1831975" algn="l"/>
              </a:tabLst>
            </a:pPr>
            <a:r>
              <a:rPr lang="en-US" altLang="en-US" b="1" dirty="0"/>
              <a:t>	choosing[</a:t>
            </a:r>
            <a:r>
              <a:rPr lang="en-US" altLang="en-US" b="1" dirty="0" err="1"/>
              <a:t>i</a:t>
            </a:r>
            <a:r>
              <a:rPr lang="en-US" altLang="en-US" b="1" dirty="0"/>
              <a:t>] = false;</a:t>
            </a:r>
          </a:p>
          <a:p>
            <a:pPr>
              <a:lnSpc>
                <a:spcPct val="90000"/>
              </a:lnSpc>
              <a:spcBef>
                <a:spcPct val="15000"/>
              </a:spcBef>
              <a:buFont typeface="Monotype Sorts" pitchFamily="2" charset="2"/>
              <a:buNone/>
              <a:tabLst>
                <a:tab pos="517525" algn="l"/>
                <a:tab pos="1196975" algn="l"/>
                <a:tab pos="1487488" algn="l"/>
                <a:tab pos="1831975" algn="l"/>
              </a:tabLst>
            </a:pPr>
            <a:r>
              <a:rPr lang="en-US" altLang="en-US" dirty="0"/>
              <a:t>	</a:t>
            </a:r>
            <a:r>
              <a:rPr lang="en-US" altLang="en-US" b="1" dirty="0"/>
              <a:t>for (j = 0; j &lt; n; </a:t>
            </a:r>
            <a:r>
              <a:rPr lang="en-US" altLang="en-US" b="1" dirty="0" err="1"/>
              <a:t>j++</a:t>
            </a:r>
            <a:r>
              <a:rPr lang="en-US" altLang="en-US" b="1" dirty="0"/>
              <a:t>) {</a:t>
            </a:r>
          </a:p>
          <a:p>
            <a:pPr>
              <a:lnSpc>
                <a:spcPct val="90000"/>
              </a:lnSpc>
              <a:spcBef>
                <a:spcPct val="15000"/>
              </a:spcBef>
              <a:buFont typeface="Monotype Sorts" pitchFamily="2" charset="2"/>
              <a:buNone/>
              <a:tabLst>
                <a:tab pos="517525" algn="l"/>
                <a:tab pos="1196975" algn="l"/>
                <a:tab pos="1487488" algn="l"/>
                <a:tab pos="1831975" algn="l"/>
              </a:tabLst>
            </a:pPr>
            <a:r>
              <a:rPr lang="en-US" altLang="en-US" b="1" dirty="0"/>
              <a:t>			while (choosing[j]) ; </a:t>
            </a:r>
          </a:p>
          <a:p>
            <a:pPr>
              <a:lnSpc>
                <a:spcPct val="90000"/>
              </a:lnSpc>
              <a:spcBef>
                <a:spcPct val="15000"/>
              </a:spcBef>
              <a:buFont typeface="Monotype Sorts" pitchFamily="2" charset="2"/>
              <a:buNone/>
              <a:tabLst>
                <a:tab pos="517525" algn="l"/>
                <a:tab pos="1196975" algn="l"/>
                <a:tab pos="1487488" algn="l"/>
                <a:tab pos="1831975" algn="l"/>
              </a:tabLst>
            </a:pPr>
            <a:r>
              <a:rPr lang="en-US" altLang="en-US" b="1" dirty="0"/>
              <a:t>			while ((number[j] !=</a:t>
            </a:r>
            <a:r>
              <a:rPr lang="en-US" altLang="en-US" b="1" dirty="0">
                <a:sym typeface="Symbol" panose="05050102010706020507" pitchFamily="18" charset="2"/>
              </a:rPr>
              <a:t> 0) &amp;&amp; </a:t>
            </a:r>
            <a:r>
              <a:rPr lang="en-US" altLang="en-US" b="1">
                <a:sym typeface="Symbol" panose="05050102010706020507" pitchFamily="18" charset="2"/>
              </a:rPr>
              <a:t>(number[j],j</a:t>
            </a:r>
            <a:r>
              <a:rPr lang="en-US" altLang="en-US" b="1" dirty="0">
                <a:sym typeface="Symbol" panose="05050102010706020507" pitchFamily="18" charset="2"/>
              </a:rPr>
              <a:t>)</a:t>
            </a:r>
            <a:r>
              <a:rPr lang="en-US" altLang="en-US" b="1">
                <a:sym typeface="Symbol" panose="05050102010706020507" pitchFamily="18" charset="2"/>
              </a:rPr>
              <a:t> </a:t>
            </a:r>
            <a:r>
              <a:rPr lang="en-US" altLang="en-US" b="1" dirty="0">
                <a:sym typeface="Symbol" panose="05050102010706020507" pitchFamily="18" charset="2"/>
              </a:rPr>
              <a:t>&lt; number[</a:t>
            </a:r>
            <a:r>
              <a:rPr lang="en-US" altLang="en-US" b="1" dirty="0" err="1">
                <a:sym typeface="Symbol" panose="05050102010706020507" pitchFamily="18" charset="2"/>
              </a:rPr>
              <a:t>i</a:t>
            </a:r>
            <a:r>
              <a:rPr lang="en-US" altLang="en-US" b="1" dirty="0">
                <a:sym typeface="Symbol" panose="05050102010706020507" pitchFamily="18" charset="2"/>
              </a:rPr>
              <a:t>].</a:t>
            </a:r>
            <a:r>
              <a:rPr lang="en-US" altLang="en-US" b="1" dirty="0" err="1">
                <a:sym typeface="Symbol" panose="05050102010706020507" pitchFamily="18" charset="2"/>
              </a:rPr>
              <a:t>i</a:t>
            </a:r>
            <a:r>
              <a:rPr lang="en-US" altLang="en-US" b="1" dirty="0">
                <a:sym typeface="Symbol" panose="05050102010706020507" pitchFamily="18" charset="2"/>
              </a:rPr>
              <a:t>)) ;</a:t>
            </a:r>
          </a:p>
          <a:p>
            <a:pPr>
              <a:lnSpc>
                <a:spcPct val="90000"/>
              </a:lnSpc>
              <a:spcBef>
                <a:spcPct val="15000"/>
              </a:spcBef>
              <a:buFont typeface="Monotype Sorts" pitchFamily="2" charset="2"/>
              <a:buNone/>
              <a:tabLst>
                <a:tab pos="517525" algn="l"/>
                <a:tab pos="1196975" algn="l"/>
                <a:tab pos="1487488" algn="l"/>
                <a:tab pos="1831975" algn="l"/>
              </a:tabLst>
            </a:pPr>
            <a:r>
              <a:rPr lang="en-US" altLang="en-US" b="1" dirty="0">
                <a:sym typeface="Symbol" panose="05050102010706020507" pitchFamily="18" charset="2"/>
              </a:rPr>
              <a:t>	}</a:t>
            </a:r>
          </a:p>
          <a:p>
            <a:pPr>
              <a:lnSpc>
                <a:spcPct val="90000"/>
              </a:lnSpc>
              <a:spcBef>
                <a:spcPct val="15000"/>
              </a:spcBef>
              <a:buFont typeface="Monotype Sorts" pitchFamily="2" charset="2"/>
              <a:buNone/>
              <a:tabLst>
                <a:tab pos="517525" algn="l"/>
                <a:tab pos="1196975" algn="l"/>
                <a:tab pos="1487488" algn="l"/>
                <a:tab pos="1831975" algn="l"/>
              </a:tabLst>
            </a:pPr>
            <a:r>
              <a:rPr lang="en-US" altLang="en-US" dirty="0">
                <a:sym typeface="Symbol" panose="05050102010706020507" pitchFamily="18" charset="2"/>
              </a:rPr>
              <a:t>		critical section</a:t>
            </a:r>
          </a:p>
          <a:p>
            <a:pPr>
              <a:lnSpc>
                <a:spcPct val="90000"/>
              </a:lnSpc>
              <a:spcBef>
                <a:spcPct val="15000"/>
              </a:spcBef>
              <a:buFont typeface="Monotype Sorts" pitchFamily="2" charset="2"/>
              <a:buNone/>
              <a:tabLst>
                <a:tab pos="517525" algn="l"/>
                <a:tab pos="1196975" algn="l"/>
                <a:tab pos="1487488" algn="l"/>
                <a:tab pos="1831975" algn="l"/>
              </a:tabLst>
            </a:pPr>
            <a:r>
              <a:rPr lang="en-US" altLang="en-US" dirty="0">
                <a:sym typeface="Symbol" panose="05050102010706020507" pitchFamily="18" charset="2"/>
              </a:rPr>
              <a:t>	</a:t>
            </a:r>
            <a:r>
              <a:rPr lang="en-US" altLang="en-US" b="1" dirty="0">
                <a:sym typeface="Symbol" panose="05050102010706020507" pitchFamily="18" charset="2"/>
              </a:rPr>
              <a:t>number[</a:t>
            </a:r>
            <a:r>
              <a:rPr lang="en-US" altLang="en-US" b="1" dirty="0" err="1">
                <a:sym typeface="Symbol" panose="05050102010706020507" pitchFamily="18" charset="2"/>
              </a:rPr>
              <a:t>i</a:t>
            </a:r>
            <a:r>
              <a:rPr lang="en-US" altLang="en-US" b="1" dirty="0">
                <a:sym typeface="Symbol" panose="05050102010706020507" pitchFamily="18" charset="2"/>
              </a:rPr>
              <a:t>] = 0;</a:t>
            </a:r>
          </a:p>
          <a:p>
            <a:pPr>
              <a:lnSpc>
                <a:spcPct val="90000"/>
              </a:lnSpc>
              <a:spcBef>
                <a:spcPct val="15000"/>
              </a:spcBef>
              <a:buFont typeface="Monotype Sorts" pitchFamily="2" charset="2"/>
              <a:buNone/>
              <a:tabLst>
                <a:tab pos="517525" algn="l"/>
                <a:tab pos="1196975" algn="l"/>
                <a:tab pos="1487488" algn="l"/>
                <a:tab pos="1831975" algn="l"/>
              </a:tabLst>
            </a:pPr>
            <a:r>
              <a:rPr lang="en-US" altLang="en-US" dirty="0">
                <a:sym typeface="Symbol" panose="05050102010706020507" pitchFamily="18" charset="2"/>
              </a:rPr>
              <a:t>		remainder section</a:t>
            </a:r>
          </a:p>
          <a:p>
            <a:pPr>
              <a:lnSpc>
                <a:spcPct val="90000"/>
              </a:lnSpc>
              <a:spcBef>
                <a:spcPct val="15000"/>
              </a:spcBef>
              <a:buFont typeface="Monotype Sorts" pitchFamily="2" charset="2"/>
              <a:buNone/>
              <a:tabLst>
                <a:tab pos="517525" algn="l"/>
                <a:tab pos="1196975" algn="l"/>
                <a:tab pos="1487488" algn="l"/>
                <a:tab pos="1831975" algn="l"/>
              </a:tabLst>
            </a:pPr>
            <a:r>
              <a:rPr lang="en-US" altLang="en-US" b="1" dirty="0">
                <a:sym typeface="Symbol" panose="05050102010706020507" pitchFamily="18" charset="2"/>
              </a:rPr>
              <a:t>} while (1);</a:t>
            </a:r>
            <a:endParaRPr lang="en-US" altLang="en-US" dirty="0"/>
          </a:p>
        </p:txBody>
      </p:sp>
    </p:spTree>
    <p:extLst>
      <p:ext uri="{BB962C8B-B14F-4D97-AF65-F5344CB8AC3E}">
        <p14:creationId xmlns:p14="http://schemas.microsoft.com/office/powerpoint/2010/main" val="1619203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t>Synchronization Hardware</a:t>
            </a:r>
          </a:p>
        </p:txBody>
      </p:sp>
      <p:sp>
        <p:nvSpPr>
          <p:cNvPr id="55299" name="Rectangle 3"/>
          <p:cNvSpPr>
            <a:spLocks noGrp="1" noChangeArrowheads="1"/>
          </p:cNvSpPr>
          <p:nvPr>
            <p:ph type="body" idx="1"/>
          </p:nvPr>
        </p:nvSpPr>
        <p:spPr/>
        <p:txBody>
          <a:bodyPr/>
          <a:lstStyle/>
          <a:p>
            <a:pPr>
              <a:tabLst>
                <a:tab pos="744538" algn="l"/>
                <a:tab pos="1025525" algn="l"/>
                <a:tab pos="1260475" algn="l"/>
              </a:tabLst>
            </a:pPr>
            <a:r>
              <a:rPr lang="en-US" altLang="en-US"/>
              <a:t>Test and modify the content of a word atomically</a:t>
            </a:r>
            <a:br>
              <a:rPr lang="en-US" altLang="en-US"/>
            </a:br>
            <a:r>
              <a:rPr lang="en-US" altLang="en-US"/>
              <a:t>.</a:t>
            </a:r>
          </a:p>
          <a:p>
            <a:pPr>
              <a:buFont typeface="Monotype Sorts" pitchFamily="2" charset="2"/>
              <a:buNone/>
              <a:tabLst>
                <a:tab pos="744538" algn="l"/>
                <a:tab pos="1025525" algn="l"/>
                <a:tab pos="1260475" algn="l"/>
              </a:tabLst>
            </a:pPr>
            <a:r>
              <a:rPr lang="en-US" altLang="en-US"/>
              <a:t>		</a:t>
            </a:r>
            <a:r>
              <a:rPr lang="en-US" altLang="en-US" b="1"/>
              <a:t>boolean TestAndSet(boolean &amp;target) {</a:t>
            </a:r>
          </a:p>
          <a:p>
            <a:pPr>
              <a:buFont typeface="Monotype Sorts" pitchFamily="2" charset="2"/>
              <a:buNone/>
              <a:tabLst>
                <a:tab pos="744538" algn="l"/>
                <a:tab pos="1025525" algn="l"/>
                <a:tab pos="1260475" algn="l"/>
              </a:tabLst>
            </a:pPr>
            <a:r>
              <a:rPr lang="en-US" altLang="en-US" b="1"/>
              <a:t>			boolean rv = target;</a:t>
            </a:r>
          </a:p>
          <a:p>
            <a:pPr>
              <a:buFont typeface="Monotype Sorts" pitchFamily="2" charset="2"/>
              <a:buNone/>
              <a:tabLst>
                <a:tab pos="744538" algn="l"/>
                <a:tab pos="1025525" algn="l"/>
                <a:tab pos="1260475" algn="l"/>
              </a:tabLst>
            </a:pPr>
            <a:r>
              <a:rPr lang="en-US" altLang="en-US" b="1"/>
              <a:t>			target = true;</a:t>
            </a:r>
          </a:p>
          <a:p>
            <a:pPr>
              <a:buFont typeface="Monotype Sorts" pitchFamily="2" charset="2"/>
              <a:buNone/>
              <a:tabLst>
                <a:tab pos="744538" algn="l"/>
                <a:tab pos="1025525" algn="l"/>
                <a:tab pos="1260475" algn="l"/>
              </a:tabLst>
            </a:pPr>
            <a:endParaRPr lang="en-US" altLang="en-US" b="1"/>
          </a:p>
          <a:p>
            <a:pPr>
              <a:buFont typeface="Monotype Sorts" pitchFamily="2" charset="2"/>
              <a:buNone/>
              <a:tabLst>
                <a:tab pos="744538" algn="l"/>
                <a:tab pos="1025525" algn="l"/>
                <a:tab pos="1260475" algn="l"/>
              </a:tabLst>
            </a:pPr>
            <a:r>
              <a:rPr lang="en-US" altLang="en-US" b="1"/>
              <a:t>			return rv;</a:t>
            </a:r>
          </a:p>
          <a:p>
            <a:pPr>
              <a:buFont typeface="Monotype Sorts" pitchFamily="2" charset="2"/>
              <a:buNone/>
              <a:tabLst>
                <a:tab pos="744538" algn="l"/>
                <a:tab pos="1025525" algn="l"/>
                <a:tab pos="1260475" algn="l"/>
              </a:tabLst>
            </a:pPr>
            <a:r>
              <a:rPr lang="en-US" altLang="en-US" b="1"/>
              <a:t>		}</a:t>
            </a:r>
          </a:p>
        </p:txBody>
      </p:sp>
    </p:spTree>
    <p:extLst>
      <p:ext uri="{BB962C8B-B14F-4D97-AF65-F5344CB8AC3E}">
        <p14:creationId xmlns:p14="http://schemas.microsoft.com/office/powerpoint/2010/main" val="2597105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a:t>Mutual Exclusion with Test-and-Set</a:t>
            </a:r>
          </a:p>
        </p:txBody>
      </p:sp>
      <p:sp>
        <p:nvSpPr>
          <p:cNvPr id="56323" name="Rectangle 3"/>
          <p:cNvSpPr>
            <a:spLocks noGrp="1" noChangeArrowheads="1"/>
          </p:cNvSpPr>
          <p:nvPr>
            <p:ph type="body" idx="1"/>
          </p:nvPr>
        </p:nvSpPr>
        <p:spPr>
          <a:noFill/>
        </p:spPr>
        <p:txBody>
          <a:bodyPr>
            <a:normAutofit lnSpcReduction="10000"/>
          </a:bodyPr>
          <a:lstStyle/>
          <a:p>
            <a:pPr>
              <a:tabLst>
                <a:tab pos="1433513" algn="l"/>
                <a:tab pos="1714500" algn="l"/>
                <a:tab pos="2058988" algn="l"/>
              </a:tabLst>
            </a:pPr>
            <a:r>
              <a:rPr lang="en-US" altLang="en-US"/>
              <a:t>Shared data: </a:t>
            </a:r>
            <a:br>
              <a:rPr lang="en-US" altLang="en-US"/>
            </a:br>
            <a:r>
              <a:rPr lang="en-US" altLang="en-US"/>
              <a:t>	</a:t>
            </a:r>
            <a:r>
              <a:rPr lang="en-US" altLang="en-US" b="1"/>
              <a:t>boolean lock = false;</a:t>
            </a:r>
            <a:br>
              <a:rPr lang="en-US" altLang="en-US" b="1"/>
            </a:br>
            <a:endParaRPr lang="en-US" altLang="en-US" b="1"/>
          </a:p>
          <a:p>
            <a:pPr>
              <a:tabLst>
                <a:tab pos="1433513" algn="l"/>
                <a:tab pos="1714500" algn="l"/>
                <a:tab pos="2058988" algn="l"/>
              </a:tabLst>
            </a:pPr>
            <a:r>
              <a:rPr lang="en-US" altLang="en-US"/>
              <a:t>Process </a:t>
            </a:r>
            <a:r>
              <a:rPr lang="en-US" altLang="en-US" i="1"/>
              <a:t>P</a:t>
            </a:r>
            <a:r>
              <a:rPr lang="en-US" altLang="en-US" i="1" baseline="-25000"/>
              <a:t>i</a:t>
            </a:r>
            <a:endParaRPr lang="en-US" altLang="en-US"/>
          </a:p>
          <a:p>
            <a:pPr>
              <a:buFont typeface="Monotype Sorts" pitchFamily="2" charset="2"/>
              <a:buNone/>
              <a:tabLst>
                <a:tab pos="1433513" algn="l"/>
                <a:tab pos="1714500" algn="l"/>
                <a:tab pos="2058988" algn="l"/>
              </a:tabLst>
            </a:pPr>
            <a:r>
              <a:rPr lang="en-US" altLang="en-US"/>
              <a:t>		</a:t>
            </a:r>
            <a:r>
              <a:rPr lang="en-US" altLang="en-US" b="1"/>
              <a:t>do {</a:t>
            </a:r>
          </a:p>
          <a:p>
            <a:pPr>
              <a:buFont typeface="Monotype Sorts" pitchFamily="2" charset="2"/>
              <a:buNone/>
              <a:tabLst>
                <a:tab pos="1433513" algn="l"/>
                <a:tab pos="1714500" algn="l"/>
                <a:tab pos="2058988" algn="l"/>
              </a:tabLst>
            </a:pPr>
            <a:r>
              <a:rPr lang="en-US" altLang="en-US" b="1"/>
              <a:t>			while (TestAndSet(lock)) ;</a:t>
            </a:r>
          </a:p>
          <a:p>
            <a:pPr>
              <a:buFont typeface="Monotype Sorts" pitchFamily="2" charset="2"/>
              <a:buNone/>
              <a:tabLst>
                <a:tab pos="1433513" algn="l"/>
                <a:tab pos="1714500" algn="l"/>
                <a:tab pos="2058988" algn="l"/>
              </a:tabLst>
            </a:pPr>
            <a:r>
              <a:rPr lang="en-US" altLang="en-US" b="1"/>
              <a:t>				</a:t>
            </a:r>
            <a:r>
              <a:rPr lang="en-US" altLang="en-US"/>
              <a:t>critical section</a:t>
            </a:r>
          </a:p>
          <a:p>
            <a:pPr>
              <a:buFont typeface="Monotype Sorts" pitchFamily="2" charset="2"/>
              <a:buNone/>
              <a:tabLst>
                <a:tab pos="1433513" algn="l"/>
                <a:tab pos="1714500" algn="l"/>
                <a:tab pos="2058988" algn="l"/>
              </a:tabLst>
            </a:pPr>
            <a:r>
              <a:rPr lang="en-US" altLang="en-US" b="1"/>
              <a:t>			lock = false;</a:t>
            </a:r>
          </a:p>
          <a:p>
            <a:pPr>
              <a:buFont typeface="Monotype Sorts" pitchFamily="2" charset="2"/>
              <a:buNone/>
              <a:tabLst>
                <a:tab pos="1433513" algn="l"/>
                <a:tab pos="1714500" algn="l"/>
                <a:tab pos="2058988" algn="l"/>
              </a:tabLst>
            </a:pPr>
            <a:r>
              <a:rPr lang="en-US" altLang="en-US" b="1"/>
              <a:t>				</a:t>
            </a:r>
            <a:r>
              <a:rPr lang="en-US" altLang="en-US"/>
              <a:t>remainder section</a:t>
            </a:r>
          </a:p>
          <a:p>
            <a:pPr>
              <a:buFont typeface="Monotype Sorts" pitchFamily="2" charset="2"/>
              <a:buNone/>
              <a:tabLst>
                <a:tab pos="1433513" algn="l"/>
                <a:tab pos="1714500" algn="l"/>
                <a:tab pos="2058988" algn="l"/>
              </a:tabLst>
            </a:pPr>
            <a:r>
              <a:rPr lang="en-US" altLang="en-US" b="1"/>
              <a:t>		}</a:t>
            </a:r>
          </a:p>
        </p:txBody>
      </p:sp>
    </p:spTree>
    <p:extLst>
      <p:ext uri="{BB962C8B-B14F-4D97-AF65-F5344CB8AC3E}">
        <p14:creationId xmlns:p14="http://schemas.microsoft.com/office/powerpoint/2010/main" val="435545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US" altLang="en-US"/>
              <a:t>Synchronization Hardware </a:t>
            </a:r>
          </a:p>
        </p:txBody>
      </p:sp>
      <p:sp>
        <p:nvSpPr>
          <p:cNvPr id="119811" name="Rectangle 3"/>
          <p:cNvSpPr>
            <a:spLocks noGrp="1" noChangeArrowheads="1"/>
          </p:cNvSpPr>
          <p:nvPr>
            <p:ph type="body" idx="1"/>
          </p:nvPr>
        </p:nvSpPr>
        <p:spPr/>
        <p:txBody>
          <a:bodyPr/>
          <a:lstStyle/>
          <a:p>
            <a:pPr>
              <a:tabLst>
                <a:tab pos="744538" algn="l"/>
                <a:tab pos="1025525" algn="l"/>
                <a:tab pos="1260475" algn="l"/>
              </a:tabLst>
            </a:pPr>
            <a:r>
              <a:rPr lang="en-US" altLang="en-US"/>
              <a:t>Atomically swap two variables.</a:t>
            </a:r>
            <a:br>
              <a:rPr lang="en-US" altLang="en-US"/>
            </a:br>
            <a:endParaRPr lang="en-US" altLang="en-US"/>
          </a:p>
          <a:p>
            <a:pPr>
              <a:buFont typeface="Monotype Sorts" pitchFamily="2" charset="2"/>
              <a:buNone/>
              <a:tabLst>
                <a:tab pos="744538" algn="l"/>
                <a:tab pos="1025525" algn="l"/>
                <a:tab pos="1260475" algn="l"/>
              </a:tabLst>
            </a:pPr>
            <a:r>
              <a:rPr lang="en-US" altLang="en-US"/>
              <a:t>		</a:t>
            </a:r>
            <a:r>
              <a:rPr lang="en-US" altLang="en-US" b="1"/>
              <a:t>void Swap(boolean &amp;a, boolean &amp;b) {</a:t>
            </a:r>
          </a:p>
          <a:p>
            <a:pPr>
              <a:buFont typeface="Monotype Sorts" pitchFamily="2" charset="2"/>
              <a:buNone/>
              <a:tabLst>
                <a:tab pos="744538" algn="l"/>
                <a:tab pos="1025525" algn="l"/>
                <a:tab pos="1260475" algn="l"/>
              </a:tabLst>
            </a:pPr>
            <a:r>
              <a:rPr lang="en-US" altLang="en-US" b="1"/>
              <a:t>			boolean temp = a;</a:t>
            </a:r>
          </a:p>
          <a:p>
            <a:pPr>
              <a:buFont typeface="Monotype Sorts" pitchFamily="2" charset="2"/>
              <a:buNone/>
              <a:tabLst>
                <a:tab pos="744538" algn="l"/>
                <a:tab pos="1025525" algn="l"/>
                <a:tab pos="1260475" algn="l"/>
              </a:tabLst>
            </a:pPr>
            <a:r>
              <a:rPr lang="en-US" altLang="en-US" b="1"/>
              <a:t>			a = b;</a:t>
            </a:r>
          </a:p>
          <a:p>
            <a:pPr>
              <a:buFont typeface="Monotype Sorts" pitchFamily="2" charset="2"/>
              <a:buNone/>
              <a:tabLst>
                <a:tab pos="744538" algn="l"/>
                <a:tab pos="1025525" algn="l"/>
                <a:tab pos="1260475" algn="l"/>
              </a:tabLst>
            </a:pPr>
            <a:r>
              <a:rPr lang="en-US" altLang="en-US" b="1"/>
              <a:t>			b = temp;</a:t>
            </a:r>
          </a:p>
          <a:p>
            <a:pPr>
              <a:buFont typeface="Monotype Sorts" pitchFamily="2" charset="2"/>
              <a:buNone/>
              <a:tabLst>
                <a:tab pos="744538" algn="l"/>
                <a:tab pos="1025525" algn="l"/>
                <a:tab pos="1260475" algn="l"/>
              </a:tabLst>
            </a:pPr>
            <a:r>
              <a:rPr lang="en-US" altLang="en-US" b="1"/>
              <a:t>		}</a:t>
            </a:r>
          </a:p>
        </p:txBody>
      </p:sp>
    </p:spTree>
    <p:extLst>
      <p:ext uri="{BB962C8B-B14F-4D97-AF65-F5344CB8AC3E}">
        <p14:creationId xmlns:p14="http://schemas.microsoft.com/office/powerpoint/2010/main" val="3148933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en-US"/>
              <a:t>Mutual Exclusion with Swap</a:t>
            </a:r>
          </a:p>
        </p:txBody>
      </p:sp>
      <p:sp>
        <p:nvSpPr>
          <p:cNvPr id="120835" name="Rectangle 3"/>
          <p:cNvSpPr>
            <a:spLocks noGrp="1" noChangeArrowheads="1"/>
          </p:cNvSpPr>
          <p:nvPr>
            <p:ph type="body" idx="1"/>
          </p:nvPr>
        </p:nvSpPr>
        <p:spPr>
          <a:noFill/>
        </p:spPr>
        <p:txBody>
          <a:bodyPr>
            <a:normAutofit fontScale="85000" lnSpcReduction="20000"/>
          </a:bodyPr>
          <a:lstStyle/>
          <a:p>
            <a:pPr>
              <a:lnSpc>
                <a:spcPct val="90000"/>
              </a:lnSpc>
              <a:tabLst>
                <a:tab pos="1433513" algn="l"/>
                <a:tab pos="1714500" algn="l"/>
                <a:tab pos="2058988" algn="l"/>
              </a:tabLst>
            </a:pPr>
            <a:r>
              <a:rPr lang="en-US" altLang="en-US" dirty="0"/>
              <a:t>Shared data (initialized to </a:t>
            </a:r>
            <a:r>
              <a:rPr lang="en-US" altLang="en-US" b="1" dirty="0"/>
              <a:t>false</a:t>
            </a:r>
            <a:r>
              <a:rPr lang="en-US" altLang="en-US" dirty="0"/>
              <a:t>): </a:t>
            </a:r>
            <a:br>
              <a:rPr lang="en-US" altLang="en-US" dirty="0"/>
            </a:br>
            <a:r>
              <a:rPr lang="en-US" altLang="en-US" dirty="0"/>
              <a:t>	</a:t>
            </a:r>
            <a:r>
              <a:rPr lang="en-US" altLang="en-US" b="1" dirty="0" err="1"/>
              <a:t>boolean</a:t>
            </a:r>
            <a:r>
              <a:rPr lang="en-US" altLang="en-US" b="1" dirty="0"/>
              <a:t> lock;</a:t>
            </a:r>
          </a:p>
          <a:p>
            <a:pPr lvl="1">
              <a:lnSpc>
                <a:spcPct val="90000"/>
              </a:lnSpc>
              <a:buFont typeface="Monotype Sorts" pitchFamily="2" charset="2"/>
              <a:buNone/>
              <a:tabLst>
                <a:tab pos="1433513" algn="l"/>
                <a:tab pos="1714500" algn="l"/>
                <a:tab pos="2058988" algn="l"/>
              </a:tabLst>
            </a:pPr>
            <a:r>
              <a:rPr lang="en-US" altLang="en-US" b="1" dirty="0"/>
              <a:t>		</a:t>
            </a:r>
          </a:p>
          <a:p>
            <a:pPr>
              <a:lnSpc>
                <a:spcPct val="90000"/>
              </a:lnSpc>
              <a:tabLst>
                <a:tab pos="1433513" algn="l"/>
                <a:tab pos="1714500" algn="l"/>
                <a:tab pos="2058988" algn="l"/>
              </a:tabLst>
            </a:pPr>
            <a:r>
              <a:rPr lang="en-US" altLang="en-US" dirty="0"/>
              <a:t>Process </a:t>
            </a:r>
            <a:r>
              <a:rPr lang="en-US" altLang="en-US" i="1" dirty="0"/>
              <a:t>P</a:t>
            </a:r>
            <a:r>
              <a:rPr lang="en-US" altLang="en-US" i="1" baseline="-25000" dirty="0"/>
              <a:t>i</a:t>
            </a:r>
            <a:endParaRPr lang="en-US" altLang="en-US" dirty="0"/>
          </a:p>
          <a:p>
            <a:pPr>
              <a:lnSpc>
                <a:spcPct val="90000"/>
              </a:lnSpc>
              <a:buFont typeface="Monotype Sorts" pitchFamily="2" charset="2"/>
              <a:buNone/>
              <a:tabLst>
                <a:tab pos="1433513" algn="l"/>
                <a:tab pos="1714500" algn="l"/>
                <a:tab pos="2058988" algn="l"/>
              </a:tabLst>
            </a:pPr>
            <a:r>
              <a:rPr lang="en-US" altLang="en-US" dirty="0"/>
              <a:t>		</a:t>
            </a:r>
            <a:r>
              <a:rPr lang="en-US" altLang="en-US" b="1" dirty="0"/>
              <a:t>do {</a:t>
            </a:r>
          </a:p>
          <a:p>
            <a:pPr>
              <a:lnSpc>
                <a:spcPct val="90000"/>
              </a:lnSpc>
              <a:buFont typeface="Monotype Sorts" pitchFamily="2" charset="2"/>
              <a:buNone/>
              <a:tabLst>
                <a:tab pos="1433513" algn="l"/>
                <a:tab pos="1714500" algn="l"/>
                <a:tab pos="2058988" algn="l"/>
              </a:tabLst>
            </a:pPr>
            <a:r>
              <a:rPr lang="en-US" altLang="en-US" b="1" dirty="0"/>
              <a:t>			key = true;</a:t>
            </a:r>
          </a:p>
          <a:p>
            <a:pPr>
              <a:lnSpc>
                <a:spcPct val="90000"/>
              </a:lnSpc>
              <a:buFont typeface="Monotype Sorts" pitchFamily="2" charset="2"/>
              <a:buNone/>
              <a:tabLst>
                <a:tab pos="1433513" algn="l"/>
                <a:tab pos="1714500" algn="l"/>
                <a:tab pos="2058988" algn="l"/>
              </a:tabLst>
            </a:pPr>
            <a:r>
              <a:rPr lang="en-US" altLang="en-US" b="1" dirty="0"/>
              <a:t>			while (key == true) </a:t>
            </a:r>
          </a:p>
          <a:p>
            <a:pPr>
              <a:lnSpc>
                <a:spcPct val="90000"/>
              </a:lnSpc>
              <a:buFont typeface="Monotype Sorts" pitchFamily="2" charset="2"/>
              <a:buNone/>
              <a:tabLst>
                <a:tab pos="1433513" algn="l"/>
                <a:tab pos="1714500" algn="l"/>
                <a:tab pos="2058988" algn="l"/>
              </a:tabLst>
            </a:pPr>
            <a:r>
              <a:rPr lang="en-US" altLang="en-US" b="1" dirty="0"/>
              <a:t>					Swap(</a:t>
            </a:r>
            <a:r>
              <a:rPr lang="en-US" altLang="en-US" b="1" dirty="0" err="1"/>
              <a:t>lock,key</a:t>
            </a:r>
            <a:r>
              <a:rPr lang="en-US" altLang="en-US" b="1" dirty="0"/>
              <a:t>);</a:t>
            </a:r>
          </a:p>
          <a:p>
            <a:pPr>
              <a:lnSpc>
                <a:spcPct val="90000"/>
              </a:lnSpc>
              <a:buFont typeface="Monotype Sorts" pitchFamily="2" charset="2"/>
              <a:buNone/>
              <a:tabLst>
                <a:tab pos="1433513" algn="l"/>
                <a:tab pos="1714500" algn="l"/>
                <a:tab pos="2058988" algn="l"/>
              </a:tabLst>
            </a:pPr>
            <a:r>
              <a:rPr lang="en-US" altLang="en-US" b="1" dirty="0"/>
              <a:t>				</a:t>
            </a:r>
            <a:r>
              <a:rPr lang="en-US" altLang="en-US" dirty="0"/>
              <a:t>critical section</a:t>
            </a:r>
          </a:p>
          <a:p>
            <a:pPr>
              <a:lnSpc>
                <a:spcPct val="90000"/>
              </a:lnSpc>
              <a:buFont typeface="Monotype Sorts" pitchFamily="2" charset="2"/>
              <a:buNone/>
              <a:tabLst>
                <a:tab pos="1433513" algn="l"/>
                <a:tab pos="1714500" algn="l"/>
                <a:tab pos="2058988" algn="l"/>
              </a:tabLst>
            </a:pPr>
            <a:r>
              <a:rPr lang="en-US" altLang="en-US" b="1" dirty="0"/>
              <a:t>			lock = false;</a:t>
            </a:r>
          </a:p>
          <a:p>
            <a:pPr>
              <a:lnSpc>
                <a:spcPct val="90000"/>
              </a:lnSpc>
              <a:buFont typeface="Monotype Sorts" pitchFamily="2" charset="2"/>
              <a:buNone/>
              <a:tabLst>
                <a:tab pos="1433513" algn="l"/>
                <a:tab pos="1714500" algn="l"/>
                <a:tab pos="2058988" algn="l"/>
              </a:tabLst>
            </a:pPr>
            <a:r>
              <a:rPr lang="en-US" altLang="en-US" b="1" dirty="0"/>
              <a:t>				</a:t>
            </a:r>
            <a:r>
              <a:rPr lang="en-US" altLang="en-US" dirty="0"/>
              <a:t>remainder section</a:t>
            </a:r>
          </a:p>
          <a:p>
            <a:pPr>
              <a:lnSpc>
                <a:spcPct val="90000"/>
              </a:lnSpc>
              <a:buFont typeface="Monotype Sorts" pitchFamily="2" charset="2"/>
              <a:buNone/>
              <a:tabLst>
                <a:tab pos="1433513" algn="l"/>
                <a:tab pos="1714500" algn="l"/>
                <a:tab pos="2058988" algn="l"/>
              </a:tabLst>
            </a:pPr>
            <a:r>
              <a:rPr lang="en-US" altLang="en-US" b="1" dirty="0"/>
              <a:t>		}</a:t>
            </a:r>
          </a:p>
        </p:txBody>
      </p:sp>
    </p:spTree>
    <p:extLst>
      <p:ext uri="{BB962C8B-B14F-4D97-AF65-F5344CB8AC3E}">
        <p14:creationId xmlns:p14="http://schemas.microsoft.com/office/powerpoint/2010/main" val="2503210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a:t>Semaphores</a:t>
            </a:r>
          </a:p>
        </p:txBody>
      </p:sp>
      <p:sp>
        <p:nvSpPr>
          <p:cNvPr id="57347" name="Rectangle 3"/>
          <p:cNvSpPr>
            <a:spLocks noGrp="1" noChangeArrowheads="1"/>
          </p:cNvSpPr>
          <p:nvPr>
            <p:ph type="body" idx="1"/>
          </p:nvPr>
        </p:nvSpPr>
        <p:spPr/>
        <p:txBody>
          <a:bodyPr/>
          <a:lstStyle/>
          <a:p>
            <a:pPr>
              <a:tabLst>
                <a:tab pos="1597025" algn="l"/>
                <a:tab pos="2576513" algn="l"/>
              </a:tabLst>
            </a:pPr>
            <a:r>
              <a:rPr lang="en-US" altLang="en-US"/>
              <a:t>Synchronization tool that does not require busy waiting.</a:t>
            </a:r>
          </a:p>
          <a:p>
            <a:pPr>
              <a:tabLst>
                <a:tab pos="1597025" algn="l"/>
                <a:tab pos="2576513" algn="l"/>
              </a:tabLst>
            </a:pPr>
            <a:r>
              <a:rPr lang="en-US" altLang="en-US"/>
              <a:t>Semaphore </a:t>
            </a:r>
            <a:r>
              <a:rPr lang="en-US" altLang="en-US" i="1"/>
              <a:t>S</a:t>
            </a:r>
            <a:r>
              <a:rPr lang="en-US" altLang="en-US"/>
              <a:t> – integer variable</a:t>
            </a:r>
          </a:p>
          <a:p>
            <a:pPr>
              <a:tabLst>
                <a:tab pos="1597025" algn="l"/>
                <a:tab pos="2576513" algn="l"/>
              </a:tabLst>
            </a:pPr>
            <a:r>
              <a:rPr lang="en-US" altLang="en-US"/>
              <a:t>can only be accessed via two indivisible (atomic) operations</a:t>
            </a:r>
          </a:p>
          <a:p>
            <a:pPr>
              <a:buFont typeface="Monotype Sorts" pitchFamily="2" charset="2"/>
              <a:buNone/>
              <a:tabLst>
                <a:tab pos="1597025" algn="l"/>
                <a:tab pos="2576513" algn="l"/>
              </a:tabLst>
            </a:pPr>
            <a:r>
              <a:rPr lang="en-US" altLang="en-US"/>
              <a:t>		</a:t>
            </a:r>
            <a:r>
              <a:rPr lang="en-US" altLang="en-US" i="1"/>
              <a:t>wait</a:t>
            </a:r>
            <a:r>
              <a:rPr lang="en-US" altLang="en-US"/>
              <a:t> (</a:t>
            </a:r>
            <a:r>
              <a:rPr lang="en-US" altLang="en-US" i="1"/>
              <a:t>S</a:t>
            </a:r>
            <a:r>
              <a:rPr lang="en-US" altLang="en-US"/>
              <a:t>):  </a:t>
            </a:r>
          </a:p>
          <a:p>
            <a:pPr>
              <a:buFont typeface="Monotype Sorts" pitchFamily="2" charset="2"/>
              <a:buNone/>
              <a:tabLst>
                <a:tab pos="1597025" algn="l"/>
                <a:tab pos="2576513" algn="l"/>
              </a:tabLst>
            </a:pPr>
            <a:r>
              <a:rPr lang="en-US" altLang="en-US"/>
              <a:t>			</a:t>
            </a:r>
            <a:r>
              <a:rPr lang="en-US" altLang="en-US" b="1"/>
              <a:t>while </a:t>
            </a:r>
            <a:r>
              <a:rPr lang="en-US" altLang="en-US" b="1" i="1"/>
              <a:t>S</a:t>
            </a:r>
            <a:r>
              <a:rPr lang="en-US" altLang="en-US" b="1">
                <a:sym typeface="Symbol" panose="05050102010706020507" pitchFamily="18" charset="2"/>
              </a:rPr>
              <a:t> 0 do </a:t>
            </a:r>
            <a:r>
              <a:rPr lang="en-US" altLang="en-US" b="1" i="1">
                <a:sym typeface="Symbol" panose="05050102010706020507" pitchFamily="18" charset="2"/>
              </a:rPr>
              <a:t>no-op</a:t>
            </a:r>
            <a:r>
              <a:rPr lang="en-US" altLang="en-US" b="1">
                <a:sym typeface="Symbol" panose="05050102010706020507" pitchFamily="18" charset="2"/>
              </a:rPr>
              <a:t>;</a:t>
            </a:r>
            <a:br>
              <a:rPr lang="en-US" altLang="en-US" b="1">
                <a:sym typeface="Symbol" panose="05050102010706020507" pitchFamily="18" charset="2"/>
              </a:rPr>
            </a:br>
            <a:r>
              <a:rPr lang="en-US" altLang="en-US" b="1">
                <a:sym typeface="Symbol" panose="05050102010706020507" pitchFamily="18" charset="2"/>
              </a:rPr>
              <a:t>			</a:t>
            </a:r>
            <a:r>
              <a:rPr lang="en-US" altLang="en-US" b="1" i="1"/>
              <a:t>S</a:t>
            </a:r>
            <a:r>
              <a:rPr lang="en-US" altLang="en-US" b="1"/>
              <a:t>--;</a:t>
            </a:r>
            <a:br>
              <a:rPr lang="en-US" altLang="en-US" b="1">
                <a:sym typeface="Symbol" panose="05050102010706020507" pitchFamily="18" charset="2"/>
              </a:rPr>
            </a:br>
            <a:endParaRPr lang="en-US" altLang="en-US" b="1">
              <a:sym typeface="Symbol" panose="05050102010706020507" pitchFamily="18" charset="2"/>
            </a:endParaRPr>
          </a:p>
          <a:p>
            <a:pPr>
              <a:buFont typeface="Monotype Sorts" pitchFamily="2" charset="2"/>
              <a:buNone/>
              <a:tabLst>
                <a:tab pos="1597025" algn="l"/>
                <a:tab pos="2576513" algn="l"/>
              </a:tabLst>
            </a:pPr>
            <a:r>
              <a:rPr lang="en-US" altLang="en-US">
                <a:sym typeface="Symbol" panose="05050102010706020507" pitchFamily="18" charset="2"/>
              </a:rPr>
              <a:t>		</a:t>
            </a:r>
            <a:r>
              <a:rPr lang="en-US" altLang="en-US" i="1">
                <a:sym typeface="Symbol" panose="05050102010706020507" pitchFamily="18" charset="2"/>
              </a:rPr>
              <a:t>signal</a:t>
            </a:r>
            <a:r>
              <a:rPr lang="en-US" altLang="en-US">
                <a:sym typeface="Symbol" panose="05050102010706020507" pitchFamily="18" charset="2"/>
              </a:rPr>
              <a:t> (</a:t>
            </a:r>
            <a:r>
              <a:rPr lang="en-US" altLang="en-US" i="1">
                <a:sym typeface="Symbol" panose="05050102010706020507" pitchFamily="18" charset="2"/>
              </a:rPr>
              <a:t>S</a:t>
            </a:r>
            <a:r>
              <a:rPr lang="en-US" altLang="en-US">
                <a:sym typeface="Symbol" panose="05050102010706020507" pitchFamily="18" charset="2"/>
              </a:rPr>
              <a:t>): </a:t>
            </a:r>
          </a:p>
          <a:p>
            <a:pPr>
              <a:buFont typeface="Monotype Sorts" pitchFamily="2" charset="2"/>
              <a:buNone/>
              <a:tabLst>
                <a:tab pos="1597025" algn="l"/>
                <a:tab pos="2576513" algn="l"/>
              </a:tabLst>
            </a:pPr>
            <a:r>
              <a:rPr lang="en-US" altLang="en-US">
                <a:sym typeface="Symbol" panose="05050102010706020507" pitchFamily="18" charset="2"/>
              </a:rPr>
              <a:t>			</a:t>
            </a:r>
            <a:r>
              <a:rPr lang="en-US" altLang="en-US" b="1" i="1">
                <a:sym typeface="Symbol" panose="05050102010706020507" pitchFamily="18" charset="2"/>
              </a:rPr>
              <a:t>S++;</a:t>
            </a:r>
            <a:endParaRPr lang="en-US" altLang="en-US" b="1">
              <a:sym typeface="Symbol" panose="05050102010706020507" pitchFamily="18" charset="2"/>
            </a:endParaRPr>
          </a:p>
        </p:txBody>
      </p:sp>
    </p:spTree>
    <p:extLst>
      <p:ext uri="{BB962C8B-B14F-4D97-AF65-F5344CB8AC3E}">
        <p14:creationId xmlns:p14="http://schemas.microsoft.com/office/powerpoint/2010/main" val="1191948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09600" y="838200"/>
            <a:ext cx="7248525" cy="457200"/>
          </a:xfrm>
        </p:spPr>
        <p:txBody>
          <a:bodyPr/>
          <a:lstStyle/>
          <a:p>
            <a:r>
              <a:rPr lang="en-US" altLang="en-US" sz="2800"/>
              <a:t>Critical Section of </a:t>
            </a:r>
            <a:r>
              <a:rPr lang="en-US" altLang="en-US" sz="2800" i="1"/>
              <a:t>n</a:t>
            </a:r>
            <a:r>
              <a:rPr lang="en-US" altLang="en-US" sz="2800"/>
              <a:t> Processes</a:t>
            </a:r>
          </a:p>
        </p:txBody>
      </p:sp>
      <p:sp>
        <p:nvSpPr>
          <p:cNvPr id="58371" name="Rectangle 3"/>
          <p:cNvSpPr>
            <a:spLocks noGrp="1" noChangeArrowheads="1"/>
          </p:cNvSpPr>
          <p:nvPr>
            <p:ph type="body" idx="1"/>
          </p:nvPr>
        </p:nvSpPr>
        <p:spPr/>
        <p:txBody>
          <a:bodyPr>
            <a:normAutofit fontScale="92500" lnSpcReduction="10000"/>
          </a:bodyPr>
          <a:lstStyle/>
          <a:p>
            <a:pPr>
              <a:lnSpc>
                <a:spcPct val="90000"/>
              </a:lnSpc>
              <a:tabLst>
                <a:tab pos="2513013" algn="l"/>
                <a:tab pos="2857500" algn="l"/>
                <a:tab pos="3148013" algn="l"/>
              </a:tabLst>
            </a:pPr>
            <a:r>
              <a:rPr lang="en-US" altLang="en-US" sz="1800"/>
              <a:t>Shared data:</a:t>
            </a:r>
          </a:p>
          <a:p>
            <a:pPr>
              <a:lnSpc>
                <a:spcPct val="90000"/>
              </a:lnSpc>
              <a:buFont typeface="Monotype Sorts" pitchFamily="2" charset="2"/>
              <a:buNone/>
              <a:tabLst>
                <a:tab pos="2513013" algn="l"/>
                <a:tab pos="2857500" algn="l"/>
                <a:tab pos="3148013" algn="l"/>
              </a:tabLst>
            </a:pPr>
            <a:r>
              <a:rPr lang="en-US" altLang="en-US" sz="1800" b="1"/>
              <a:t>	   semaphore mutex; //</a:t>
            </a:r>
            <a:r>
              <a:rPr lang="en-US" altLang="en-US" sz="1800"/>
              <a:t>initially </a:t>
            </a:r>
            <a:r>
              <a:rPr lang="en-US" altLang="en-US" sz="1800" i="1"/>
              <a:t>mutex</a:t>
            </a:r>
            <a:r>
              <a:rPr lang="en-US" altLang="en-US" sz="1800"/>
              <a:t> = 1</a:t>
            </a:r>
            <a:br>
              <a:rPr lang="en-US" altLang="en-US" sz="1800"/>
            </a:br>
            <a:endParaRPr lang="en-US" altLang="en-US" sz="1800"/>
          </a:p>
          <a:p>
            <a:pPr>
              <a:lnSpc>
                <a:spcPct val="90000"/>
              </a:lnSpc>
              <a:tabLst>
                <a:tab pos="2513013" algn="l"/>
                <a:tab pos="2857500" algn="l"/>
                <a:tab pos="3148013" algn="l"/>
              </a:tabLst>
            </a:pPr>
            <a:r>
              <a:rPr lang="en-US" altLang="en-US" sz="1800"/>
              <a:t>Process </a:t>
            </a:r>
            <a:r>
              <a:rPr lang="en-US" altLang="en-US" sz="1800" i="1"/>
              <a:t>Pi: </a:t>
            </a:r>
            <a:br>
              <a:rPr lang="en-US" altLang="en-US" sz="1800"/>
            </a:br>
            <a:br>
              <a:rPr lang="en-US" altLang="en-US" sz="1800"/>
            </a:br>
            <a:r>
              <a:rPr lang="en-US" altLang="en-US" sz="1800" b="1"/>
              <a:t>do {</a:t>
            </a:r>
            <a:br>
              <a:rPr lang="en-US" altLang="en-US" sz="1800" b="1"/>
            </a:br>
            <a:r>
              <a:rPr lang="en-US" altLang="en-US" sz="1800" b="1"/>
              <a:t>    wait(mutex);</a:t>
            </a:r>
            <a:br>
              <a:rPr lang="en-US" altLang="en-US" sz="1800" b="1"/>
            </a:br>
            <a:r>
              <a:rPr lang="en-US" altLang="en-US" sz="1800" b="1"/>
              <a:t>        </a:t>
            </a:r>
            <a:r>
              <a:rPr lang="en-US" altLang="en-US" sz="1800"/>
              <a:t>critical section</a:t>
            </a:r>
          </a:p>
          <a:p>
            <a:pPr>
              <a:lnSpc>
                <a:spcPct val="90000"/>
              </a:lnSpc>
              <a:buFont typeface="Monotype Sorts" pitchFamily="2" charset="2"/>
              <a:buNone/>
              <a:tabLst>
                <a:tab pos="2513013" algn="l"/>
                <a:tab pos="2857500" algn="l"/>
                <a:tab pos="3148013" algn="l"/>
              </a:tabLst>
            </a:pPr>
            <a:r>
              <a:rPr lang="en-US" altLang="en-US" sz="1800" b="1"/>
              <a:t> 	    signal(mutex);</a:t>
            </a:r>
            <a:br>
              <a:rPr lang="en-US" altLang="en-US" sz="1800" b="1"/>
            </a:br>
            <a:r>
              <a:rPr lang="en-US" altLang="en-US" sz="1800" b="1"/>
              <a:t>       </a:t>
            </a:r>
            <a:r>
              <a:rPr lang="en-US" altLang="en-US" sz="1800"/>
              <a:t> remainder section</a:t>
            </a:r>
            <a:br>
              <a:rPr lang="en-US" altLang="en-US" sz="1800"/>
            </a:br>
            <a:r>
              <a:rPr lang="en-US" altLang="en-US" sz="1800" b="1"/>
              <a:t>} while (1);</a:t>
            </a:r>
          </a:p>
          <a:p>
            <a:pPr>
              <a:lnSpc>
                <a:spcPct val="90000"/>
              </a:lnSpc>
              <a:buFont typeface="Monotype Sorts" pitchFamily="2" charset="2"/>
              <a:buNone/>
              <a:tabLst>
                <a:tab pos="2513013" algn="l"/>
                <a:tab pos="2857500" algn="l"/>
                <a:tab pos="3148013" algn="l"/>
              </a:tabLst>
            </a:pPr>
            <a:r>
              <a:rPr lang="en-US" altLang="en-US" sz="1800" b="1" i="1" baseline="-25000"/>
              <a:t>	</a:t>
            </a:r>
            <a:r>
              <a:rPr lang="en-US" altLang="en-US" sz="1800" i="1" baseline="-25000"/>
              <a:t>       </a:t>
            </a:r>
            <a:r>
              <a:rPr lang="en-US" altLang="en-US" sz="1800" baseline="-25000"/>
              <a:t>   </a:t>
            </a:r>
            <a:br>
              <a:rPr lang="en-US" altLang="en-US" sz="1800" i="1" baseline="-25000"/>
            </a:br>
            <a:br>
              <a:rPr lang="en-US" altLang="en-US" sz="1800" i="1" baseline="-25000"/>
            </a:br>
            <a:endParaRPr lang="en-US" altLang="en-US" sz="1800" baseline="-25000"/>
          </a:p>
          <a:p>
            <a:pPr>
              <a:lnSpc>
                <a:spcPct val="90000"/>
              </a:lnSpc>
              <a:buFont typeface="Monotype Sorts" pitchFamily="2" charset="2"/>
              <a:buNone/>
              <a:tabLst>
                <a:tab pos="2513013" algn="l"/>
                <a:tab pos="2857500" algn="l"/>
                <a:tab pos="3148013" algn="l"/>
              </a:tabLst>
            </a:pPr>
            <a:r>
              <a:rPr lang="en-US" altLang="en-US" sz="1800"/>
              <a:t>	</a:t>
            </a:r>
          </a:p>
        </p:txBody>
      </p:sp>
    </p:spTree>
    <p:extLst>
      <p:ext uri="{BB962C8B-B14F-4D97-AF65-F5344CB8AC3E}">
        <p14:creationId xmlns:p14="http://schemas.microsoft.com/office/powerpoint/2010/main" val="382028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a:t>Semaphore Implementation</a:t>
            </a:r>
          </a:p>
        </p:txBody>
      </p:sp>
      <p:sp>
        <p:nvSpPr>
          <p:cNvPr id="59395" name="Rectangle 3"/>
          <p:cNvSpPr>
            <a:spLocks noGrp="1" noChangeArrowheads="1"/>
          </p:cNvSpPr>
          <p:nvPr>
            <p:ph type="body" idx="1"/>
          </p:nvPr>
        </p:nvSpPr>
        <p:spPr/>
        <p:txBody>
          <a:bodyPr/>
          <a:lstStyle/>
          <a:p>
            <a:pPr defTabSz="455613">
              <a:tabLst>
                <a:tab pos="1370013" algn="l"/>
                <a:tab pos="3311525" algn="l"/>
                <a:tab pos="3602038" algn="l"/>
              </a:tabLst>
            </a:pPr>
            <a:r>
              <a:rPr lang="en-US" altLang="en-US"/>
              <a:t>Define a semaphore as a record</a:t>
            </a:r>
          </a:p>
          <a:p>
            <a:pPr defTabSz="455613">
              <a:buFont typeface="Monotype Sorts" pitchFamily="2" charset="2"/>
              <a:buNone/>
              <a:tabLst>
                <a:tab pos="1370013" algn="l"/>
                <a:tab pos="3311525" algn="l"/>
                <a:tab pos="3602038" algn="l"/>
              </a:tabLst>
            </a:pPr>
            <a:r>
              <a:rPr lang="en-US" altLang="en-US"/>
              <a:t>		</a:t>
            </a:r>
            <a:r>
              <a:rPr lang="en-US" altLang="en-US" b="1"/>
              <a:t>typedef struct {</a:t>
            </a:r>
          </a:p>
          <a:p>
            <a:pPr defTabSz="455613">
              <a:buFont typeface="Monotype Sorts" pitchFamily="2" charset="2"/>
              <a:buNone/>
              <a:tabLst>
                <a:tab pos="1370013" algn="l"/>
                <a:tab pos="3311525" algn="l"/>
                <a:tab pos="3602038" algn="l"/>
              </a:tabLst>
            </a:pPr>
            <a:r>
              <a:rPr lang="en-US" altLang="en-US" b="1"/>
              <a:t>		   int value;</a:t>
            </a:r>
            <a:br>
              <a:rPr lang="en-US" altLang="en-US" b="1"/>
            </a:br>
            <a:r>
              <a:rPr lang="en-US" altLang="en-US" b="1"/>
              <a:t>	   struct process *L;</a:t>
            </a:r>
            <a:br>
              <a:rPr lang="en-US" altLang="en-US" b="1"/>
            </a:br>
            <a:r>
              <a:rPr lang="en-US" altLang="en-US" b="1"/>
              <a:t>	} semaphore;</a:t>
            </a:r>
            <a:br>
              <a:rPr lang="en-US" altLang="en-US" b="1"/>
            </a:br>
            <a:endParaRPr lang="en-US" altLang="en-US"/>
          </a:p>
          <a:p>
            <a:pPr defTabSz="455613">
              <a:tabLst>
                <a:tab pos="1370013" algn="l"/>
                <a:tab pos="3311525" algn="l"/>
                <a:tab pos="3602038" algn="l"/>
              </a:tabLst>
            </a:pPr>
            <a:r>
              <a:rPr lang="en-US" altLang="en-US"/>
              <a:t>Assume two simple operations:</a:t>
            </a:r>
          </a:p>
          <a:p>
            <a:pPr lvl="1" defTabSz="455613">
              <a:tabLst>
                <a:tab pos="1370013" algn="l"/>
                <a:tab pos="3311525" algn="l"/>
                <a:tab pos="3602038" algn="l"/>
              </a:tabLst>
            </a:pPr>
            <a:r>
              <a:rPr lang="en-US" altLang="en-US" b="1"/>
              <a:t>block</a:t>
            </a:r>
            <a:r>
              <a:rPr lang="en-US" altLang="en-US"/>
              <a:t> suspends the process that invokes it.</a:t>
            </a:r>
          </a:p>
          <a:p>
            <a:pPr lvl="1" defTabSz="455613">
              <a:tabLst>
                <a:tab pos="1370013" algn="l"/>
                <a:tab pos="3311525" algn="l"/>
                <a:tab pos="3602038" algn="l"/>
              </a:tabLst>
            </a:pPr>
            <a:r>
              <a:rPr lang="en-US" altLang="en-US" b="1"/>
              <a:t>wakeup(</a:t>
            </a:r>
            <a:r>
              <a:rPr lang="en-US" altLang="en-US" b="1" i="1"/>
              <a:t>P</a:t>
            </a:r>
            <a:r>
              <a:rPr lang="en-US" altLang="en-US" b="1"/>
              <a:t>)</a:t>
            </a:r>
            <a:r>
              <a:rPr lang="en-US" altLang="en-US"/>
              <a:t> resumes the execution of a blocked process </a:t>
            </a:r>
            <a:r>
              <a:rPr lang="en-US" altLang="en-US" b="1"/>
              <a:t>P</a:t>
            </a:r>
            <a:r>
              <a:rPr lang="en-US" altLang="en-US"/>
              <a:t>.</a:t>
            </a:r>
          </a:p>
        </p:txBody>
      </p:sp>
    </p:spTree>
    <p:extLst>
      <p:ext uri="{BB962C8B-B14F-4D97-AF65-F5344CB8AC3E}">
        <p14:creationId xmlns:p14="http://schemas.microsoft.com/office/powerpoint/2010/main" val="24384578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en-US"/>
              <a:t>Implementation</a:t>
            </a:r>
          </a:p>
        </p:txBody>
      </p:sp>
      <p:sp>
        <p:nvSpPr>
          <p:cNvPr id="60419" name="Rectangle 3"/>
          <p:cNvSpPr>
            <a:spLocks noGrp="1" noChangeArrowheads="1"/>
          </p:cNvSpPr>
          <p:nvPr>
            <p:ph type="body" idx="1"/>
          </p:nvPr>
        </p:nvSpPr>
        <p:spPr>
          <a:xfrm>
            <a:off x="822960" y="1905000"/>
            <a:ext cx="7940040" cy="4114800"/>
          </a:xfrm>
        </p:spPr>
        <p:txBody>
          <a:bodyPr>
            <a:normAutofit fontScale="92500" lnSpcReduction="20000"/>
          </a:bodyPr>
          <a:lstStyle/>
          <a:p>
            <a:pPr>
              <a:lnSpc>
                <a:spcPct val="90000"/>
              </a:lnSpc>
              <a:tabLst>
                <a:tab pos="915988" algn="l"/>
                <a:tab pos="2005013" algn="l"/>
                <a:tab pos="2232025" algn="l"/>
                <a:tab pos="2803525" algn="l"/>
                <a:tab pos="3201988" algn="l"/>
              </a:tabLst>
            </a:pPr>
            <a:r>
              <a:rPr lang="en-US" altLang="en-US" sz="1800"/>
              <a:t>Semaphore operations now defined as </a:t>
            </a:r>
          </a:p>
          <a:p>
            <a:pPr>
              <a:lnSpc>
                <a:spcPct val="90000"/>
              </a:lnSpc>
              <a:buFont typeface="Monotype Sorts" pitchFamily="2" charset="2"/>
              <a:buNone/>
              <a:tabLst>
                <a:tab pos="915988" algn="l"/>
                <a:tab pos="2005013" algn="l"/>
                <a:tab pos="2232025" algn="l"/>
                <a:tab pos="2803525" algn="l"/>
                <a:tab pos="3201988" algn="l"/>
              </a:tabLst>
            </a:pPr>
            <a:r>
              <a:rPr lang="en-US" altLang="en-US" sz="1800"/>
              <a:t>		</a:t>
            </a:r>
            <a:r>
              <a:rPr lang="en-US" altLang="en-US" sz="1800" i="1"/>
              <a:t>wait</a:t>
            </a:r>
            <a:r>
              <a:rPr lang="en-US" altLang="en-US" sz="1800"/>
              <a:t>(</a:t>
            </a:r>
            <a:r>
              <a:rPr lang="en-US" altLang="en-US" sz="1800" i="1"/>
              <a:t>S</a:t>
            </a:r>
            <a:r>
              <a:rPr lang="en-US" altLang="en-US" sz="1800"/>
              <a:t>):	</a:t>
            </a:r>
            <a:br>
              <a:rPr lang="en-US" altLang="en-US" sz="1800"/>
            </a:br>
            <a:r>
              <a:rPr lang="en-US" altLang="en-US" sz="1800"/>
              <a:t>		</a:t>
            </a:r>
            <a:r>
              <a:rPr lang="en-US" altLang="en-US" sz="1800" b="1"/>
              <a:t>S.value--;</a:t>
            </a:r>
            <a:endParaRPr lang="en-US" altLang="en-US" sz="1800" b="1">
              <a:sym typeface="Symbol" panose="05050102010706020507" pitchFamily="18" charset="2"/>
            </a:endParaRPr>
          </a:p>
          <a:p>
            <a:pPr>
              <a:lnSpc>
                <a:spcPct val="90000"/>
              </a:lnSpc>
              <a:buFont typeface="Monotype Sorts" pitchFamily="2" charset="2"/>
              <a:buNone/>
              <a:tabLst>
                <a:tab pos="915988" algn="l"/>
                <a:tab pos="2005013" algn="l"/>
                <a:tab pos="2232025" algn="l"/>
                <a:tab pos="2803525" algn="l"/>
                <a:tab pos="3201988" algn="l"/>
              </a:tabLst>
            </a:pPr>
            <a:r>
              <a:rPr lang="en-US" altLang="en-US" sz="1800" b="1">
                <a:sym typeface="Symbol" panose="05050102010706020507" pitchFamily="18" charset="2"/>
              </a:rPr>
              <a:t>			if (S.value &lt; 0) { </a:t>
            </a:r>
          </a:p>
          <a:p>
            <a:pPr>
              <a:lnSpc>
                <a:spcPct val="90000"/>
              </a:lnSpc>
              <a:buFont typeface="Monotype Sorts" pitchFamily="2" charset="2"/>
              <a:buNone/>
              <a:tabLst>
                <a:tab pos="915988" algn="l"/>
                <a:tab pos="2005013" algn="l"/>
                <a:tab pos="2232025" algn="l"/>
                <a:tab pos="2803525" algn="l"/>
                <a:tab pos="3201988" algn="l"/>
              </a:tabLst>
            </a:pPr>
            <a:r>
              <a:rPr lang="en-US" altLang="en-US" sz="1800" b="1">
                <a:sym typeface="Symbol" panose="05050102010706020507" pitchFamily="18" charset="2"/>
              </a:rPr>
              <a:t>						</a:t>
            </a:r>
            <a:r>
              <a:rPr lang="en-US" altLang="en-US" sz="1800">
                <a:sym typeface="Symbol" panose="05050102010706020507" pitchFamily="18" charset="2"/>
              </a:rPr>
              <a:t>add this process to</a:t>
            </a:r>
            <a:r>
              <a:rPr lang="en-US" altLang="en-US" sz="1800" b="1">
                <a:sym typeface="Symbol" panose="05050102010706020507" pitchFamily="18" charset="2"/>
              </a:rPr>
              <a:t> S.L;</a:t>
            </a:r>
            <a:br>
              <a:rPr lang="en-US" altLang="en-US" sz="1800" b="1">
                <a:sym typeface="Symbol" panose="05050102010706020507" pitchFamily="18" charset="2"/>
              </a:rPr>
            </a:br>
            <a:r>
              <a:rPr lang="en-US" altLang="en-US" sz="1800" b="1">
                <a:sym typeface="Symbol" panose="05050102010706020507" pitchFamily="18" charset="2"/>
              </a:rPr>
              <a:t>					block;</a:t>
            </a:r>
          </a:p>
          <a:p>
            <a:pPr>
              <a:lnSpc>
                <a:spcPct val="90000"/>
              </a:lnSpc>
              <a:buFont typeface="Monotype Sorts" pitchFamily="2" charset="2"/>
              <a:buNone/>
              <a:tabLst>
                <a:tab pos="915988" algn="l"/>
                <a:tab pos="2005013" algn="l"/>
                <a:tab pos="2232025" algn="l"/>
                <a:tab pos="2803525" algn="l"/>
                <a:tab pos="3201988" algn="l"/>
              </a:tabLst>
            </a:pPr>
            <a:r>
              <a:rPr lang="en-US" altLang="en-US" sz="1800" b="1">
                <a:sym typeface="Symbol" panose="05050102010706020507" pitchFamily="18" charset="2"/>
              </a:rPr>
              <a:t>			}</a:t>
            </a:r>
            <a:br>
              <a:rPr lang="en-US" altLang="en-US" sz="1800">
                <a:sym typeface="Symbol" panose="05050102010706020507" pitchFamily="18" charset="2"/>
              </a:rPr>
            </a:br>
            <a:endParaRPr lang="en-US" altLang="en-US" sz="1800">
              <a:sym typeface="Symbol" panose="05050102010706020507" pitchFamily="18" charset="2"/>
            </a:endParaRPr>
          </a:p>
          <a:p>
            <a:pPr>
              <a:lnSpc>
                <a:spcPct val="90000"/>
              </a:lnSpc>
              <a:buFont typeface="Monotype Sorts" pitchFamily="2" charset="2"/>
              <a:buNone/>
              <a:tabLst>
                <a:tab pos="915988" algn="l"/>
                <a:tab pos="2005013" algn="l"/>
                <a:tab pos="2232025" algn="l"/>
                <a:tab pos="2803525" algn="l"/>
                <a:tab pos="3201988" algn="l"/>
              </a:tabLst>
            </a:pPr>
            <a:r>
              <a:rPr lang="en-US" altLang="en-US" sz="1800">
                <a:sym typeface="Symbol" panose="05050102010706020507" pitchFamily="18" charset="2"/>
              </a:rPr>
              <a:t>		</a:t>
            </a:r>
            <a:r>
              <a:rPr lang="en-US" altLang="en-US" sz="1800" i="1">
                <a:sym typeface="Symbol" panose="05050102010706020507" pitchFamily="18" charset="2"/>
              </a:rPr>
              <a:t>signal</a:t>
            </a:r>
            <a:r>
              <a:rPr lang="en-US" altLang="en-US" sz="1800">
                <a:sym typeface="Symbol" panose="05050102010706020507" pitchFamily="18" charset="2"/>
              </a:rPr>
              <a:t>(</a:t>
            </a:r>
            <a:r>
              <a:rPr lang="en-US" altLang="en-US" sz="1800" i="1">
                <a:sym typeface="Symbol" panose="05050102010706020507" pitchFamily="18" charset="2"/>
              </a:rPr>
              <a:t>S</a:t>
            </a:r>
            <a:r>
              <a:rPr lang="en-US" altLang="en-US" sz="1800">
                <a:sym typeface="Symbol" panose="05050102010706020507" pitchFamily="18" charset="2"/>
              </a:rPr>
              <a:t>): </a:t>
            </a:r>
            <a:br>
              <a:rPr lang="en-US" altLang="en-US" sz="1800">
                <a:sym typeface="Symbol" panose="05050102010706020507" pitchFamily="18" charset="2"/>
              </a:rPr>
            </a:br>
            <a:r>
              <a:rPr lang="en-US" altLang="en-US" sz="1800">
                <a:sym typeface="Symbol" panose="05050102010706020507" pitchFamily="18" charset="2"/>
              </a:rPr>
              <a:t>		</a:t>
            </a:r>
            <a:r>
              <a:rPr lang="en-US" altLang="en-US" sz="1800" b="1">
                <a:sym typeface="Symbol" panose="05050102010706020507" pitchFamily="18" charset="2"/>
              </a:rPr>
              <a:t>S.value++;</a:t>
            </a:r>
          </a:p>
          <a:p>
            <a:pPr>
              <a:lnSpc>
                <a:spcPct val="90000"/>
              </a:lnSpc>
              <a:buFont typeface="Monotype Sorts" pitchFamily="2" charset="2"/>
              <a:buNone/>
              <a:tabLst>
                <a:tab pos="915988" algn="l"/>
                <a:tab pos="2005013" algn="l"/>
                <a:tab pos="2232025" algn="l"/>
                <a:tab pos="2803525" algn="l"/>
                <a:tab pos="3201988" algn="l"/>
              </a:tabLst>
            </a:pPr>
            <a:r>
              <a:rPr lang="en-US" altLang="en-US" sz="1800" b="1">
                <a:sym typeface="Symbol" panose="05050102010706020507" pitchFamily="18" charset="2"/>
              </a:rPr>
              <a:t>			if (S.value &lt;= 0) {</a:t>
            </a:r>
          </a:p>
          <a:p>
            <a:pPr>
              <a:lnSpc>
                <a:spcPct val="90000"/>
              </a:lnSpc>
              <a:buFont typeface="Monotype Sorts" pitchFamily="2" charset="2"/>
              <a:buNone/>
              <a:tabLst>
                <a:tab pos="915988" algn="l"/>
                <a:tab pos="2005013" algn="l"/>
                <a:tab pos="2232025" algn="l"/>
                <a:tab pos="2803525" algn="l"/>
                <a:tab pos="3201988" algn="l"/>
              </a:tabLst>
            </a:pPr>
            <a:r>
              <a:rPr lang="en-US" altLang="en-US" sz="1800" b="1">
                <a:sym typeface="Symbol" panose="05050102010706020507" pitchFamily="18" charset="2"/>
              </a:rPr>
              <a:t>						</a:t>
            </a:r>
            <a:r>
              <a:rPr lang="en-US" altLang="en-US" sz="1800">
                <a:sym typeface="Symbol" panose="05050102010706020507" pitchFamily="18" charset="2"/>
              </a:rPr>
              <a:t>remove a process</a:t>
            </a:r>
            <a:r>
              <a:rPr lang="en-US" altLang="en-US" sz="1800" b="1">
                <a:sym typeface="Symbol" panose="05050102010706020507" pitchFamily="18" charset="2"/>
              </a:rPr>
              <a:t> P </a:t>
            </a:r>
            <a:r>
              <a:rPr lang="en-US" altLang="en-US" sz="1800">
                <a:sym typeface="Symbol" panose="05050102010706020507" pitchFamily="18" charset="2"/>
              </a:rPr>
              <a:t>from</a:t>
            </a:r>
            <a:r>
              <a:rPr lang="en-US" altLang="en-US" sz="1800" b="1">
                <a:sym typeface="Symbol" panose="05050102010706020507" pitchFamily="18" charset="2"/>
              </a:rPr>
              <a:t> S.L;</a:t>
            </a:r>
            <a:br>
              <a:rPr lang="en-US" altLang="en-US" sz="1800" b="1">
                <a:sym typeface="Symbol" panose="05050102010706020507" pitchFamily="18" charset="2"/>
              </a:rPr>
            </a:br>
            <a:r>
              <a:rPr lang="en-US" altLang="en-US" sz="1800" b="1">
                <a:sym typeface="Symbol" panose="05050102010706020507" pitchFamily="18" charset="2"/>
              </a:rPr>
              <a:t>					wakeup(P);</a:t>
            </a:r>
          </a:p>
          <a:p>
            <a:pPr>
              <a:lnSpc>
                <a:spcPct val="90000"/>
              </a:lnSpc>
              <a:buFont typeface="Monotype Sorts" pitchFamily="2" charset="2"/>
              <a:buNone/>
              <a:tabLst>
                <a:tab pos="915988" algn="l"/>
                <a:tab pos="2005013" algn="l"/>
                <a:tab pos="2232025" algn="l"/>
                <a:tab pos="2803525" algn="l"/>
                <a:tab pos="3201988" algn="l"/>
              </a:tabLst>
            </a:pPr>
            <a:r>
              <a:rPr lang="en-US" altLang="en-US" sz="1800" b="1">
                <a:sym typeface="Symbol" panose="05050102010706020507" pitchFamily="18" charset="2"/>
              </a:rPr>
              <a:t>			}</a:t>
            </a:r>
          </a:p>
        </p:txBody>
      </p:sp>
    </p:spTree>
    <p:extLst>
      <p:ext uri="{BB962C8B-B14F-4D97-AF65-F5344CB8AC3E}">
        <p14:creationId xmlns:p14="http://schemas.microsoft.com/office/powerpoint/2010/main" val="2612183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852303" y="762000"/>
            <a:ext cx="8153400" cy="457200"/>
          </a:xfrm>
        </p:spPr>
        <p:txBody>
          <a:bodyPr>
            <a:normAutofit/>
          </a:bodyPr>
          <a:lstStyle/>
          <a:p>
            <a:r>
              <a:rPr lang="en-US" altLang="en-US" sz="2800" dirty="0"/>
              <a:t>Semaphore as a General Synchronization Tool</a:t>
            </a:r>
          </a:p>
        </p:txBody>
      </p:sp>
      <p:sp>
        <p:nvSpPr>
          <p:cNvPr id="61443" name="Rectangle 3"/>
          <p:cNvSpPr>
            <a:spLocks noGrp="1" noChangeArrowheads="1"/>
          </p:cNvSpPr>
          <p:nvPr>
            <p:ph type="body" idx="1"/>
          </p:nvPr>
        </p:nvSpPr>
        <p:spPr/>
        <p:txBody>
          <a:bodyPr/>
          <a:lstStyle/>
          <a:p>
            <a:pPr>
              <a:tabLst>
                <a:tab pos="2005013" algn="ctr"/>
                <a:tab pos="4518025" algn="ctr"/>
              </a:tabLst>
            </a:pPr>
            <a:r>
              <a:rPr lang="en-US" altLang="en-US"/>
              <a:t>Execute </a:t>
            </a:r>
            <a:r>
              <a:rPr lang="en-US" altLang="en-US" i="1"/>
              <a:t>B</a:t>
            </a:r>
            <a:r>
              <a:rPr lang="en-US" altLang="en-US"/>
              <a:t> in </a:t>
            </a:r>
            <a:r>
              <a:rPr lang="en-US" altLang="en-US" i="1"/>
              <a:t>P</a:t>
            </a:r>
            <a:r>
              <a:rPr lang="en-US" altLang="en-US" baseline="-25000"/>
              <a:t>j</a:t>
            </a:r>
            <a:r>
              <a:rPr lang="en-US" altLang="en-US"/>
              <a:t> only after </a:t>
            </a:r>
            <a:r>
              <a:rPr lang="en-US" altLang="en-US" i="1"/>
              <a:t>A</a:t>
            </a:r>
            <a:r>
              <a:rPr lang="en-US" altLang="en-US"/>
              <a:t> executed in </a:t>
            </a:r>
            <a:r>
              <a:rPr lang="en-US" altLang="en-US" i="1"/>
              <a:t>P</a:t>
            </a:r>
            <a:r>
              <a:rPr lang="en-US" altLang="en-US" i="1" baseline="-25000"/>
              <a:t>i</a:t>
            </a:r>
            <a:endParaRPr lang="en-US" altLang="en-US" i="1"/>
          </a:p>
          <a:p>
            <a:pPr>
              <a:tabLst>
                <a:tab pos="2005013" algn="ctr"/>
                <a:tab pos="4518025" algn="ctr"/>
              </a:tabLst>
            </a:pPr>
            <a:r>
              <a:rPr lang="en-US" altLang="en-US"/>
              <a:t>Use semaphore </a:t>
            </a:r>
            <a:r>
              <a:rPr lang="en-US" altLang="en-US" i="1"/>
              <a:t>flag</a:t>
            </a:r>
            <a:r>
              <a:rPr lang="en-US" altLang="en-US"/>
              <a:t> initialized to 0</a:t>
            </a:r>
          </a:p>
          <a:p>
            <a:pPr>
              <a:tabLst>
                <a:tab pos="2005013" algn="ctr"/>
                <a:tab pos="4518025" algn="ctr"/>
              </a:tabLst>
            </a:pPr>
            <a:r>
              <a:rPr lang="en-US" altLang="en-US"/>
              <a:t>Code:</a:t>
            </a:r>
          </a:p>
          <a:p>
            <a:pPr>
              <a:buFont typeface="Monotype Sorts" pitchFamily="2" charset="2"/>
              <a:buNone/>
              <a:tabLst>
                <a:tab pos="2005013" algn="ctr"/>
                <a:tab pos="4518025" algn="ctr"/>
              </a:tabLst>
            </a:pPr>
            <a:r>
              <a:rPr lang="en-US" altLang="en-US" i="1"/>
              <a:t>		P</a:t>
            </a:r>
            <a:r>
              <a:rPr lang="en-US" altLang="en-US" i="1" baseline="-25000"/>
              <a:t>i</a:t>
            </a:r>
            <a:r>
              <a:rPr lang="en-US" altLang="en-US" i="1"/>
              <a:t>	P</a:t>
            </a:r>
            <a:r>
              <a:rPr lang="en-US" altLang="en-US" i="1" baseline="-25000"/>
              <a:t>j</a:t>
            </a:r>
            <a:endParaRPr lang="en-US" altLang="en-US" i="1"/>
          </a:p>
          <a:p>
            <a:pPr>
              <a:buFont typeface="Monotype Sorts" pitchFamily="2" charset="2"/>
              <a:buNone/>
              <a:tabLst>
                <a:tab pos="2005013" algn="ctr"/>
                <a:tab pos="4518025" algn="ctr"/>
              </a:tabLst>
            </a:pPr>
            <a:r>
              <a:rPr lang="en-US" altLang="en-US"/>
              <a:t>		 </a:t>
            </a:r>
            <a:r>
              <a:rPr lang="en-US" altLang="en-US">
                <a:sym typeface="MT Extra" panose="05050102010205020202" pitchFamily="18" charset="2"/>
              </a:rPr>
              <a:t></a:t>
            </a:r>
            <a:r>
              <a:rPr lang="en-US" altLang="en-US"/>
              <a:t> </a:t>
            </a:r>
            <a:r>
              <a:rPr lang="en-US" altLang="en-US">
                <a:sym typeface="MT Extra" panose="05050102010205020202" pitchFamily="18" charset="2"/>
              </a:rPr>
              <a:t>	 </a:t>
            </a:r>
          </a:p>
          <a:p>
            <a:pPr>
              <a:buFont typeface="Monotype Sorts" pitchFamily="2" charset="2"/>
              <a:buNone/>
              <a:tabLst>
                <a:tab pos="2005013" algn="ctr"/>
                <a:tab pos="4518025" algn="ctr"/>
              </a:tabLst>
            </a:pPr>
            <a:r>
              <a:rPr lang="en-US" altLang="en-US">
                <a:sym typeface="MT Extra" panose="05050102010205020202" pitchFamily="18" charset="2"/>
              </a:rPr>
              <a:t>		</a:t>
            </a:r>
            <a:r>
              <a:rPr lang="en-US" altLang="en-US" i="1">
                <a:sym typeface="MT Extra" panose="05050102010205020202" pitchFamily="18" charset="2"/>
              </a:rPr>
              <a:t>A</a:t>
            </a:r>
            <a:r>
              <a:rPr lang="en-US" altLang="en-US">
                <a:sym typeface="MT Extra" panose="05050102010205020202" pitchFamily="18" charset="2"/>
              </a:rPr>
              <a:t>	</a:t>
            </a:r>
            <a:r>
              <a:rPr lang="en-US" altLang="en-US" i="1">
                <a:sym typeface="MT Extra" panose="05050102010205020202" pitchFamily="18" charset="2"/>
              </a:rPr>
              <a:t>wait</a:t>
            </a:r>
            <a:r>
              <a:rPr lang="en-US" altLang="en-US">
                <a:sym typeface="MT Extra" panose="05050102010205020202" pitchFamily="18" charset="2"/>
              </a:rPr>
              <a:t>(</a:t>
            </a:r>
            <a:r>
              <a:rPr lang="en-US" altLang="en-US" i="1">
                <a:sym typeface="MT Extra" panose="05050102010205020202" pitchFamily="18" charset="2"/>
              </a:rPr>
              <a:t>flag</a:t>
            </a:r>
            <a:r>
              <a:rPr lang="en-US" altLang="en-US">
                <a:sym typeface="MT Extra" panose="05050102010205020202" pitchFamily="18" charset="2"/>
              </a:rPr>
              <a:t>)</a:t>
            </a:r>
          </a:p>
          <a:p>
            <a:pPr>
              <a:buFont typeface="Monotype Sorts" pitchFamily="2" charset="2"/>
              <a:buNone/>
              <a:tabLst>
                <a:tab pos="2005013" algn="ctr"/>
                <a:tab pos="4518025" algn="ctr"/>
              </a:tabLst>
            </a:pPr>
            <a:r>
              <a:rPr lang="en-US" altLang="en-US">
                <a:sym typeface="MT Extra" panose="05050102010205020202" pitchFamily="18" charset="2"/>
              </a:rPr>
              <a:t>		</a:t>
            </a:r>
            <a:r>
              <a:rPr lang="en-US" altLang="en-US" i="1">
                <a:sym typeface="MT Extra" panose="05050102010205020202" pitchFamily="18" charset="2"/>
              </a:rPr>
              <a:t>signal</a:t>
            </a:r>
            <a:r>
              <a:rPr lang="en-US" altLang="en-US">
                <a:sym typeface="MT Extra" panose="05050102010205020202" pitchFamily="18" charset="2"/>
              </a:rPr>
              <a:t>(</a:t>
            </a:r>
            <a:r>
              <a:rPr lang="en-US" altLang="en-US" i="1">
                <a:sym typeface="MT Extra" panose="05050102010205020202" pitchFamily="18" charset="2"/>
              </a:rPr>
              <a:t>flag</a:t>
            </a:r>
            <a:r>
              <a:rPr lang="en-US" altLang="en-US">
                <a:sym typeface="MT Extra" panose="05050102010205020202" pitchFamily="18" charset="2"/>
              </a:rPr>
              <a:t>)	</a:t>
            </a:r>
            <a:r>
              <a:rPr lang="en-US" altLang="en-US" i="1">
                <a:sym typeface="MT Extra" panose="05050102010205020202" pitchFamily="18" charset="2"/>
              </a:rPr>
              <a:t>B</a:t>
            </a:r>
            <a:endParaRPr lang="en-US" altLang="en-US">
              <a:sym typeface="MT Extra" panose="05050102010205020202" pitchFamily="18" charset="2"/>
            </a:endParaRPr>
          </a:p>
        </p:txBody>
      </p:sp>
    </p:spTree>
    <p:extLst>
      <p:ext uri="{BB962C8B-B14F-4D97-AF65-F5344CB8AC3E}">
        <p14:creationId xmlns:p14="http://schemas.microsoft.com/office/powerpoint/2010/main" val="3008546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ltLang="en-US"/>
              <a:t>Operating System Concepts</a:t>
            </a:r>
          </a:p>
        </p:txBody>
      </p:sp>
      <p:sp>
        <p:nvSpPr>
          <p:cNvPr id="62466" name="Rectangle 2"/>
          <p:cNvSpPr>
            <a:spLocks noGrp="1" noChangeArrowheads="1"/>
          </p:cNvSpPr>
          <p:nvPr>
            <p:ph type="title"/>
          </p:nvPr>
        </p:nvSpPr>
        <p:spPr/>
        <p:txBody>
          <a:bodyPr/>
          <a:lstStyle/>
          <a:p>
            <a:r>
              <a:rPr lang="en-US" altLang="en-US"/>
              <a:t>Deadlock and Starvation</a:t>
            </a:r>
          </a:p>
        </p:txBody>
      </p:sp>
      <p:sp>
        <p:nvSpPr>
          <p:cNvPr id="62467" name="Rectangle 3"/>
          <p:cNvSpPr>
            <a:spLocks noGrp="1" noChangeArrowheads="1"/>
          </p:cNvSpPr>
          <p:nvPr>
            <p:ph type="body" idx="1"/>
          </p:nvPr>
        </p:nvSpPr>
        <p:spPr/>
        <p:txBody>
          <a:bodyPr>
            <a:normAutofit lnSpcReduction="10000"/>
          </a:bodyPr>
          <a:lstStyle/>
          <a:p>
            <a:pPr>
              <a:tabLst>
                <a:tab pos="1887538" algn="ctr"/>
                <a:tab pos="4572000" algn="ctr"/>
              </a:tabLst>
            </a:pPr>
            <a:r>
              <a:rPr lang="en-US" altLang="en-US" sz="1800" b="1"/>
              <a:t>Deadlock</a:t>
            </a:r>
            <a:r>
              <a:rPr lang="en-US" altLang="en-US" sz="1800"/>
              <a:t> – two or more processes are waiting indefinitely for an event that can be caused by only one of the waiting processes.</a:t>
            </a:r>
          </a:p>
          <a:p>
            <a:pPr>
              <a:tabLst>
                <a:tab pos="1887538" algn="ctr"/>
                <a:tab pos="4572000" algn="ctr"/>
              </a:tabLst>
            </a:pPr>
            <a:r>
              <a:rPr lang="en-US" altLang="en-US" sz="1800"/>
              <a:t>Let </a:t>
            </a:r>
            <a:r>
              <a:rPr lang="en-US" altLang="en-US" sz="1800" i="1"/>
              <a:t>S</a:t>
            </a:r>
            <a:r>
              <a:rPr lang="en-US" altLang="en-US" sz="1800"/>
              <a:t> and </a:t>
            </a:r>
            <a:r>
              <a:rPr lang="en-US" altLang="en-US" sz="1800" i="1"/>
              <a:t>Q</a:t>
            </a:r>
            <a:r>
              <a:rPr lang="en-US" altLang="en-US" sz="1800"/>
              <a:t> be two semaphores initialized to 1</a:t>
            </a:r>
          </a:p>
          <a:p>
            <a:pPr>
              <a:buFont typeface="Monotype Sorts" pitchFamily="2" charset="2"/>
              <a:buNone/>
              <a:tabLst>
                <a:tab pos="1887538" algn="ctr"/>
                <a:tab pos="4572000" algn="ctr"/>
              </a:tabLst>
            </a:pPr>
            <a:r>
              <a:rPr lang="en-US" altLang="en-US" sz="1800"/>
              <a:t>		</a:t>
            </a:r>
            <a:r>
              <a:rPr lang="en-US" altLang="en-US" sz="1800" i="1"/>
              <a:t>P</a:t>
            </a:r>
            <a:r>
              <a:rPr lang="en-US" altLang="en-US" sz="1800" i="1" baseline="-25000"/>
              <a:t>0</a:t>
            </a:r>
            <a:r>
              <a:rPr lang="en-US" altLang="en-US" sz="1800"/>
              <a:t>	</a:t>
            </a:r>
            <a:r>
              <a:rPr lang="en-US" altLang="en-US" sz="1800" i="1"/>
              <a:t>P</a:t>
            </a:r>
            <a:r>
              <a:rPr lang="en-US" altLang="en-US" sz="1800" i="1" baseline="-25000"/>
              <a:t>1</a:t>
            </a:r>
            <a:endParaRPr lang="en-US" altLang="en-US" sz="1800" i="1"/>
          </a:p>
          <a:p>
            <a:pPr>
              <a:buFont typeface="Monotype Sorts" pitchFamily="2" charset="2"/>
              <a:buNone/>
              <a:tabLst>
                <a:tab pos="1887538" algn="ctr"/>
                <a:tab pos="4572000" algn="ctr"/>
              </a:tabLst>
            </a:pPr>
            <a:r>
              <a:rPr lang="en-US" altLang="en-US" sz="1800"/>
              <a:t>		</a:t>
            </a:r>
            <a:r>
              <a:rPr lang="en-US" altLang="en-US" sz="1800" i="1"/>
              <a:t>wait</a:t>
            </a:r>
            <a:r>
              <a:rPr lang="en-US" altLang="en-US" sz="1800"/>
              <a:t>(</a:t>
            </a:r>
            <a:r>
              <a:rPr lang="en-US" altLang="en-US" sz="1800" i="1"/>
              <a:t>S</a:t>
            </a:r>
            <a:r>
              <a:rPr lang="en-US" altLang="en-US" sz="1800"/>
              <a:t>);	</a:t>
            </a:r>
            <a:r>
              <a:rPr lang="en-US" altLang="en-US" sz="1800" i="1"/>
              <a:t>wait</a:t>
            </a:r>
            <a:r>
              <a:rPr lang="en-US" altLang="en-US" sz="1800"/>
              <a:t>(</a:t>
            </a:r>
            <a:r>
              <a:rPr lang="en-US" altLang="en-US" sz="1800" i="1"/>
              <a:t>Q</a:t>
            </a:r>
            <a:r>
              <a:rPr lang="en-US" altLang="en-US" sz="1800"/>
              <a:t>);</a:t>
            </a:r>
          </a:p>
          <a:p>
            <a:pPr>
              <a:buFont typeface="Monotype Sorts" pitchFamily="2" charset="2"/>
              <a:buNone/>
              <a:tabLst>
                <a:tab pos="1887538" algn="ctr"/>
                <a:tab pos="4572000" algn="ctr"/>
              </a:tabLst>
            </a:pPr>
            <a:r>
              <a:rPr lang="en-US" altLang="en-US" sz="1800"/>
              <a:t>		</a:t>
            </a:r>
            <a:r>
              <a:rPr lang="en-US" altLang="en-US" sz="1800" i="1"/>
              <a:t>wait</a:t>
            </a:r>
            <a:r>
              <a:rPr lang="en-US" altLang="en-US" sz="1800"/>
              <a:t>(</a:t>
            </a:r>
            <a:r>
              <a:rPr lang="en-US" altLang="en-US" sz="1800" i="1"/>
              <a:t>Q</a:t>
            </a:r>
            <a:r>
              <a:rPr lang="en-US" altLang="en-US" sz="1800"/>
              <a:t>);	</a:t>
            </a:r>
            <a:r>
              <a:rPr lang="en-US" altLang="en-US" sz="1800" i="1"/>
              <a:t>wait</a:t>
            </a:r>
            <a:r>
              <a:rPr lang="en-US" altLang="en-US" sz="1800"/>
              <a:t>(</a:t>
            </a:r>
            <a:r>
              <a:rPr lang="en-US" altLang="en-US" sz="1800" i="1"/>
              <a:t>S</a:t>
            </a:r>
            <a:r>
              <a:rPr lang="en-US" altLang="en-US" sz="1800"/>
              <a:t>);</a:t>
            </a:r>
          </a:p>
          <a:p>
            <a:pPr>
              <a:buFont typeface="Monotype Sorts" pitchFamily="2" charset="2"/>
              <a:buNone/>
              <a:tabLst>
                <a:tab pos="1887538" algn="ctr"/>
                <a:tab pos="4572000" algn="ctr"/>
              </a:tabLst>
            </a:pPr>
            <a:r>
              <a:rPr lang="en-US" altLang="en-US" sz="1800"/>
              <a:t>		 </a:t>
            </a:r>
            <a:r>
              <a:rPr lang="en-US" altLang="en-US" sz="1800">
                <a:sym typeface="MT Extra" panose="05050102010205020202" pitchFamily="18" charset="2"/>
              </a:rPr>
              <a:t>	 </a:t>
            </a:r>
          </a:p>
          <a:p>
            <a:pPr>
              <a:buFont typeface="Monotype Sorts" pitchFamily="2" charset="2"/>
              <a:buNone/>
              <a:tabLst>
                <a:tab pos="1887538" algn="ctr"/>
                <a:tab pos="4572000" algn="ctr"/>
              </a:tabLst>
            </a:pPr>
            <a:r>
              <a:rPr lang="en-US" altLang="en-US" sz="1800">
                <a:sym typeface="MT Extra" panose="05050102010205020202" pitchFamily="18" charset="2"/>
              </a:rPr>
              <a:t>		</a:t>
            </a:r>
            <a:r>
              <a:rPr lang="en-US" altLang="en-US" sz="1800" i="1">
                <a:sym typeface="MT Extra" panose="05050102010205020202" pitchFamily="18" charset="2"/>
              </a:rPr>
              <a:t>signal</a:t>
            </a:r>
            <a:r>
              <a:rPr lang="en-US" altLang="en-US" sz="1800">
                <a:sym typeface="MT Extra" panose="05050102010205020202" pitchFamily="18" charset="2"/>
              </a:rPr>
              <a:t>(</a:t>
            </a:r>
            <a:r>
              <a:rPr lang="en-US" altLang="en-US" sz="1800" i="1">
                <a:sym typeface="MT Extra" panose="05050102010205020202" pitchFamily="18" charset="2"/>
              </a:rPr>
              <a:t>S</a:t>
            </a:r>
            <a:r>
              <a:rPr lang="en-US" altLang="en-US" sz="1800">
                <a:sym typeface="MT Extra" panose="05050102010205020202" pitchFamily="18" charset="2"/>
              </a:rPr>
              <a:t>);	</a:t>
            </a:r>
            <a:r>
              <a:rPr lang="en-US" altLang="en-US" sz="1800" i="1">
                <a:sym typeface="MT Extra" panose="05050102010205020202" pitchFamily="18" charset="2"/>
              </a:rPr>
              <a:t>signal</a:t>
            </a:r>
            <a:r>
              <a:rPr lang="en-US" altLang="en-US" sz="1800">
                <a:sym typeface="MT Extra" panose="05050102010205020202" pitchFamily="18" charset="2"/>
              </a:rPr>
              <a:t>(</a:t>
            </a:r>
            <a:r>
              <a:rPr lang="en-US" altLang="en-US" sz="1800" i="1">
                <a:sym typeface="MT Extra" panose="05050102010205020202" pitchFamily="18" charset="2"/>
              </a:rPr>
              <a:t>Q</a:t>
            </a:r>
            <a:r>
              <a:rPr lang="en-US" altLang="en-US" sz="1800">
                <a:sym typeface="MT Extra" panose="05050102010205020202" pitchFamily="18" charset="2"/>
              </a:rPr>
              <a:t>);</a:t>
            </a:r>
          </a:p>
          <a:p>
            <a:pPr>
              <a:buFont typeface="Monotype Sorts" pitchFamily="2" charset="2"/>
              <a:buNone/>
              <a:tabLst>
                <a:tab pos="1887538" algn="ctr"/>
                <a:tab pos="4572000" algn="ctr"/>
              </a:tabLst>
            </a:pPr>
            <a:r>
              <a:rPr lang="en-US" altLang="en-US" sz="1800">
                <a:sym typeface="MT Extra" panose="05050102010205020202" pitchFamily="18" charset="2"/>
              </a:rPr>
              <a:t>		</a:t>
            </a:r>
            <a:r>
              <a:rPr lang="en-US" altLang="en-US" sz="1800" i="1">
                <a:sym typeface="MT Extra" panose="05050102010205020202" pitchFamily="18" charset="2"/>
              </a:rPr>
              <a:t>signal</a:t>
            </a:r>
            <a:r>
              <a:rPr lang="en-US" altLang="en-US" sz="1800">
                <a:sym typeface="MT Extra" panose="05050102010205020202" pitchFamily="18" charset="2"/>
              </a:rPr>
              <a:t>(</a:t>
            </a:r>
            <a:r>
              <a:rPr lang="en-US" altLang="en-US" sz="1800" i="1">
                <a:sym typeface="MT Extra" panose="05050102010205020202" pitchFamily="18" charset="2"/>
              </a:rPr>
              <a:t>Q</a:t>
            </a:r>
            <a:r>
              <a:rPr lang="en-US" altLang="en-US" sz="1800">
                <a:sym typeface="MT Extra" panose="05050102010205020202" pitchFamily="18" charset="2"/>
              </a:rPr>
              <a:t>)	</a:t>
            </a:r>
            <a:r>
              <a:rPr lang="en-US" altLang="en-US" sz="1800" i="1">
                <a:sym typeface="MT Extra" panose="05050102010205020202" pitchFamily="18" charset="2"/>
              </a:rPr>
              <a:t>signal</a:t>
            </a:r>
            <a:r>
              <a:rPr lang="en-US" altLang="en-US" sz="1800">
                <a:sym typeface="MT Extra" panose="05050102010205020202" pitchFamily="18" charset="2"/>
              </a:rPr>
              <a:t>(</a:t>
            </a:r>
            <a:r>
              <a:rPr lang="en-US" altLang="en-US" sz="1800" i="1">
                <a:sym typeface="MT Extra" panose="05050102010205020202" pitchFamily="18" charset="2"/>
              </a:rPr>
              <a:t>S</a:t>
            </a:r>
            <a:r>
              <a:rPr lang="en-US" altLang="en-US" sz="1800">
                <a:sym typeface="MT Extra" panose="05050102010205020202" pitchFamily="18" charset="2"/>
              </a:rPr>
              <a:t>);</a:t>
            </a:r>
          </a:p>
          <a:p>
            <a:pPr>
              <a:tabLst>
                <a:tab pos="1887538" algn="ctr"/>
                <a:tab pos="4572000" algn="ctr"/>
              </a:tabLst>
            </a:pPr>
            <a:r>
              <a:rPr lang="en-US" altLang="en-US" sz="1800" b="1">
                <a:sym typeface="MT Extra" panose="05050102010205020202" pitchFamily="18" charset="2"/>
              </a:rPr>
              <a:t>Starvation</a:t>
            </a:r>
            <a:r>
              <a:rPr lang="en-US" altLang="en-US" sz="1800">
                <a:sym typeface="MT Extra" panose="05050102010205020202" pitchFamily="18" charset="2"/>
              </a:rPr>
              <a:t> </a:t>
            </a:r>
            <a:r>
              <a:rPr lang="en-US" altLang="en-US" sz="1800"/>
              <a:t> – indefinite blocking.  A process may never be removed from the semaphore queue in which it is suspended.</a:t>
            </a:r>
          </a:p>
        </p:txBody>
      </p:sp>
    </p:spTree>
    <p:extLst>
      <p:ext uri="{BB962C8B-B14F-4D97-AF65-F5344CB8AC3E}">
        <p14:creationId xmlns:p14="http://schemas.microsoft.com/office/powerpoint/2010/main" val="2108054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ltLang="en-US"/>
              <a:t>Operating System Concepts</a:t>
            </a:r>
          </a:p>
        </p:txBody>
      </p:sp>
      <p:sp>
        <p:nvSpPr>
          <p:cNvPr id="65538" name="Rectangle 2"/>
          <p:cNvSpPr>
            <a:spLocks noGrp="1" noChangeArrowheads="1"/>
          </p:cNvSpPr>
          <p:nvPr>
            <p:ph type="title"/>
          </p:nvPr>
        </p:nvSpPr>
        <p:spPr/>
        <p:txBody>
          <a:bodyPr/>
          <a:lstStyle/>
          <a:p>
            <a:r>
              <a:rPr lang="en-US" altLang="en-US"/>
              <a:t>Two Types of Semaphores</a:t>
            </a:r>
          </a:p>
        </p:txBody>
      </p:sp>
      <p:sp>
        <p:nvSpPr>
          <p:cNvPr id="65539" name="Rectangle 3"/>
          <p:cNvSpPr>
            <a:spLocks noGrp="1" noChangeArrowheads="1"/>
          </p:cNvSpPr>
          <p:nvPr>
            <p:ph type="body" idx="1"/>
          </p:nvPr>
        </p:nvSpPr>
        <p:spPr>
          <a:xfrm>
            <a:off x="609600" y="2016562"/>
            <a:ext cx="8229600" cy="4114800"/>
          </a:xfrm>
        </p:spPr>
        <p:txBody>
          <a:bodyPr/>
          <a:lstStyle/>
          <a:p>
            <a:r>
              <a:rPr lang="en-US" altLang="en-US" i="1" dirty="0"/>
              <a:t>Counting</a:t>
            </a:r>
            <a:r>
              <a:rPr lang="en-US" altLang="en-US" dirty="0"/>
              <a:t> semaphore – integer value can range over an unrestricted domain.</a:t>
            </a:r>
          </a:p>
          <a:p>
            <a:r>
              <a:rPr lang="en-US" altLang="en-US" i="1" dirty="0"/>
              <a:t>Binary</a:t>
            </a:r>
            <a:r>
              <a:rPr lang="en-US" altLang="en-US" dirty="0"/>
              <a:t> semaphore – integer value can range only between 0 and 1; can be simpler to implement.</a:t>
            </a:r>
          </a:p>
          <a:p>
            <a:r>
              <a:rPr lang="en-US" altLang="en-US" dirty="0"/>
              <a:t>Can implement a counting semaphore </a:t>
            </a:r>
            <a:r>
              <a:rPr lang="en-US" altLang="en-US" i="1" dirty="0"/>
              <a:t>S</a:t>
            </a:r>
            <a:r>
              <a:rPr lang="en-US" altLang="en-US" dirty="0"/>
              <a:t> as a binary semaphore.</a:t>
            </a:r>
          </a:p>
        </p:txBody>
      </p:sp>
    </p:spTree>
    <p:extLst>
      <p:ext uri="{BB962C8B-B14F-4D97-AF65-F5344CB8AC3E}">
        <p14:creationId xmlns:p14="http://schemas.microsoft.com/office/powerpoint/2010/main" val="785411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ltLang="en-US"/>
              <a:t>Linux/Unix Semaphore	</a:t>
            </a:r>
          </a:p>
        </p:txBody>
      </p:sp>
      <p:sp>
        <p:nvSpPr>
          <p:cNvPr id="132099" name="Rectangle 3"/>
          <p:cNvSpPr>
            <a:spLocks noGrp="1" noChangeArrowheads="1"/>
          </p:cNvSpPr>
          <p:nvPr>
            <p:ph type="body" idx="1"/>
          </p:nvPr>
        </p:nvSpPr>
        <p:spPr>
          <a:xfrm>
            <a:off x="533400" y="1905000"/>
            <a:ext cx="8213725" cy="4114800"/>
          </a:xfrm>
        </p:spPr>
        <p:txBody>
          <a:bodyPr/>
          <a:lstStyle/>
          <a:p>
            <a:r>
              <a:rPr lang="en-US" altLang="en-US" sz="2400" dirty="0"/>
              <a:t>Synchronization primitive (integer value)</a:t>
            </a:r>
          </a:p>
          <a:p>
            <a:r>
              <a:rPr lang="en-US" altLang="en-US" sz="2400" dirty="0"/>
              <a:t>In kernel and use to synchronized the access to shared memory</a:t>
            </a:r>
          </a:p>
          <a:p>
            <a:r>
              <a:rPr lang="en-US" altLang="en-US" sz="2400" dirty="0"/>
              <a:t>Set of semaphore operation guaranteed for atomic</a:t>
            </a:r>
          </a:p>
          <a:p>
            <a:r>
              <a:rPr lang="en-US" altLang="en-US" sz="2400" dirty="0"/>
              <a:t>Should not be used to exchange large amount of data</a:t>
            </a:r>
          </a:p>
          <a:p>
            <a:r>
              <a:rPr lang="en-US" altLang="en-US" sz="2400" dirty="0" err="1"/>
              <a:t>semget</a:t>
            </a:r>
            <a:r>
              <a:rPr lang="en-US" altLang="en-US" sz="2400" dirty="0"/>
              <a:t>(), </a:t>
            </a:r>
            <a:r>
              <a:rPr lang="en-US" altLang="en-US" sz="2400" dirty="0" err="1"/>
              <a:t>semop</a:t>
            </a:r>
            <a:r>
              <a:rPr lang="en-US" altLang="en-US" sz="2400" dirty="0"/>
              <a:t>()  there is no direct wait() and signal() from system call</a:t>
            </a:r>
          </a:p>
          <a:p>
            <a:endParaRPr lang="en-US" altLang="en-US" sz="2400" dirty="0"/>
          </a:p>
        </p:txBody>
      </p:sp>
    </p:spTree>
    <p:extLst>
      <p:ext uri="{BB962C8B-B14F-4D97-AF65-F5344CB8AC3E}">
        <p14:creationId xmlns:p14="http://schemas.microsoft.com/office/powerpoint/2010/main" val="14879896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152400" y="286605"/>
            <a:ext cx="8991600" cy="932596"/>
          </a:xfrm>
        </p:spPr>
        <p:txBody>
          <a:bodyPr/>
          <a:lstStyle/>
          <a:p>
            <a:r>
              <a:rPr lang="en-US" altLang="en-US" dirty="0"/>
              <a:t>Sample code (sample2.tar) </a:t>
            </a:r>
            <a:r>
              <a:rPr lang="en-US" altLang="en-US" dirty="0" err="1"/>
              <a:t>semaph.c</a:t>
            </a:r>
            <a:endParaRPr lang="en-US" altLang="en-US" dirty="0"/>
          </a:p>
        </p:txBody>
      </p:sp>
      <p:sp>
        <p:nvSpPr>
          <p:cNvPr id="136195" name="Rectangle 3"/>
          <p:cNvSpPr>
            <a:spLocks noGrp="1" noChangeArrowheads="1"/>
          </p:cNvSpPr>
          <p:nvPr>
            <p:ph type="body" idx="1"/>
          </p:nvPr>
        </p:nvSpPr>
        <p:spPr>
          <a:xfrm>
            <a:off x="685800" y="1737361"/>
            <a:ext cx="3886200" cy="4388802"/>
          </a:xfrm>
        </p:spPr>
        <p:txBody>
          <a:bodyPr/>
          <a:lstStyle/>
          <a:p>
            <a:r>
              <a:rPr lang="en-US" altLang="en-US" sz="2400" dirty="0"/>
              <a:t>Server (</a:t>
            </a:r>
            <a:r>
              <a:rPr lang="en-US" altLang="en-US" dirty="0" err="1"/>
              <a:t>mainshmserv.c</a:t>
            </a:r>
            <a:r>
              <a:rPr lang="en-US" altLang="en-US" dirty="0"/>
              <a:t>)</a:t>
            </a:r>
            <a:endParaRPr lang="en-US" altLang="en-US" sz="2400" dirty="0"/>
          </a:p>
          <a:p>
            <a:pPr lvl="1"/>
            <a:r>
              <a:rPr lang="en-US" altLang="en-US" dirty="0"/>
              <a:t>Create a </a:t>
            </a:r>
            <a:r>
              <a:rPr lang="en-US" altLang="en-US" dirty="0" err="1"/>
              <a:t>sh</a:t>
            </a:r>
            <a:r>
              <a:rPr lang="en-US" altLang="en-US" dirty="0"/>
              <a:t> mem</a:t>
            </a:r>
          </a:p>
          <a:p>
            <a:pPr lvl="1"/>
            <a:r>
              <a:rPr lang="en-US" altLang="en-US" dirty="0"/>
              <a:t>Attach to it</a:t>
            </a:r>
          </a:p>
          <a:p>
            <a:pPr lvl="1"/>
            <a:r>
              <a:rPr lang="en-US" altLang="en-US" dirty="0"/>
              <a:t>Create 2 semaphores</a:t>
            </a:r>
          </a:p>
          <a:p>
            <a:pPr lvl="2"/>
            <a:r>
              <a:rPr lang="en-US" altLang="en-US" dirty="0"/>
              <a:t>Client will start first (1)</a:t>
            </a:r>
          </a:p>
          <a:p>
            <a:pPr lvl="2"/>
            <a:r>
              <a:rPr lang="en-US" altLang="en-US" dirty="0"/>
              <a:t>Server initialized to 0</a:t>
            </a:r>
          </a:p>
          <a:p>
            <a:pPr lvl="1"/>
            <a:r>
              <a:rPr lang="en-US" altLang="en-US" dirty="0"/>
              <a:t>Wait to get a request (by reading a filename from a shared mem)</a:t>
            </a:r>
          </a:p>
          <a:p>
            <a:pPr lvl="1"/>
            <a:r>
              <a:rPr lang="en-US" altLang="en-US" dirty="0"/>
              <a:t>Open a file and write content into a shared mem</a:t>
            </a:r>
          </a:p>
          <a:p>
            <a:pPr lvl="1"/>
            <a:endParaRPr lang="en-US" altLang="en-US" dirty="0"/>
          </a:p>
        </p:txBody>
      </p:sp>
      <p:sp>
        <p:nvSpPr>
          <p:cNvPr id="136196" name="Rectangle 4"/>
          <p:cNvSpPr>
            <a:spLocks noChangeArrowheads="1"/>
          </p:cNvSpPr>
          <p:nvPr/>
        </p:nvSpPr>
        <p:spPr bwMode="auto">
          <a:xfrm>
            <a:off x="4800600" y="1737361"/>
            <a:ext cx="4038600" cy="4541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FontTx/>
              <a:buChar char="•"/>
            </a:pPr>
            <a:r>
              <a:rPr lang="en-US" altLang="en-US" dirty="0">
                <a:latin typeface="Arial" panose="020B0604020202020204" pitchFamily="34" charset="0"/>
              </a:rPr>
              <a:t>Client (</a:t>
            </a:r>
            <a:r>
              <a:rPr lang="en-US" altLang="en-US" sz="2000" dirty="0" err="1">
                <a:latin typeface="Helvetica" panose="020B0604020202020204" pitchFamily="34" charset="0"/>
              </a:rPr>
              <a:t>mainshmcli.c</a:t>
            </a:r>
            <a:r>
              <a:rPr lang="en-US" altLang="en-US" sz="2000" dirty="0">
                <a:latin typeface="Helvetica" panose="020B0604020202020204" pitchFamily="34" charset="0"/>
              </a:rPr>
              <a:t>)</a:t>
            </a:r>
            <a:endParaRPr lang="en-US" altLang="en-US" dirty="0">
              <a:latin typeface="Arial" panose="020B0604020202020204" pitchFamily="34" charset="0"/>
            </a:endParaRPr>
          </a:p>
          <a:p>
            <a:pPr lvl="1" eaLnBrk="1" hangingPunct="1">
              <a:spcBef>
                <a:spcPct val="20000"/>
              </a:spcBef>
              <a:buFontTx/>
              <a:buChar char="•"/>
            </a:pPr>
            <a:r>
              <a:rPr lang="en-US" altLang="en-US" sz="2000" dirty="0">
                <a:latin typeface="Arial" panose="020B0604020202020204" pitchFamily="34" charset="0"/>
              </a:rPr>
              <a:t>Get a share</a:t>
            </a:r>
          </a:p>
          <a:p>
            <a:pPr lvl="1" eaLnBrk="1" hangingPunct="1">
              <a:spcBef>
                <a:spcPct val="20000"/>
              </a:spcBef>
              <a:buFontTx/>
              <a:buChar char="•"/>
            </a:pPr>
            <a:r>
              <a:rPr lang="en-US" altLang="en-US" sz="2000" dirty="0">
                <a:latin typeface="Arial" panose="020B0604020202020204" pitchFamily="34" charset="0"/>
              </a:rPr>
              <a:t>Attach to it</a:t>
            </a:r>
          </a:p>
          <a:p>
            <a:pPr lvl="1" eaLnBrk="1" hangingPunct="1">
              <a:spcBef>
                <a:spcPct val="20000"/>
              </a:spcBef>
              <a:buFontTx/>
              <a:buChar char="•"/>
            </a:pPr>
            <a:r>
              <a:rPr lang="en-US" altLang="en-US" sz="2000" dirty="0">
                <a:latin typeface="Arial" panose="020B0604020202020204" pitchFamily="34" charset="0"/>
              </a:rPr>
              <a:t>Get a semaphore</a:t>
            </a:r>
          </a:p>
          <a:p>
            <a:pPr lvl="1" eaLnBrk="1" hangingPunct="1">
              <a:spcBef>
                <a:spcPct val="20000"/>
              </a:spcBef>
              <a:buFontTx/>
              <a:buChar char="•"/>
            </a:pPr>
            <a:r>
              <a:rPr lang="en-US" altLang="en-US" sz="2000" dirty="0">
                <a:latin typeface="Arial" panose="020B0604020202020204" pitchFamily="34" charset="0"/>
              </a:rPr>
              <a:t>Write a filename</a:t>
            </a:r>
          </a:p>
          <a:p>
            <a:pPr lvl="1" eaLnBrk="1" hangingPunct="1">
              <a:spcBef>
                <a:spcPct val="20000"/>
              </a:spcBef>
              <a:buFontTx/>
              <a:buChar char="•"/>
            </a:pPr>
            <a:r>
              <a:rPr lang="en-US" altLang="en-US" sz="2000" dirty="0">
                <a:latin typeface="Arial" panose="020B0604020202020204" pitchFamily="34" charset="0"/>
              </a:rPr>
              <a:t>Inform a server to start via server semaphore</a:t>
            </a:r>
          </a:p>
          <a:p>
            <a:pPr lvl="1" eaLnBrk="1" hangingPunct="1">
              <a:spcBef>
                <a:spcPct val="20000"/>
              </a:spcBef>
              <a:buFontTx/>
              <a:buChar char="•"/>
            </a:pPr>
            <a:r>
              <a:rPr lang="en-US" altLang="en-US" sz="2000" dirty="0">
                <a:latin typeface="Arial" panose="020B0604020202020204" pitchFamily="34" charset="0"/>
              </a:rPr>
              <a:t>Wait to get a turn to read a file content</a:t>
            </a:r>
          </a:p>
          <a:p>
            <a:pPr lvl="1" eaLnBrk="1" hangingPunct="1">
              <a:spcBef>
                <a:spcPct val="20000"/>
              </a:spcBef>
              <a:buFontTx/>
              <a:buChar char="•"/>
            </a:pPr>
            <a:endParaRPr lang="en-US" altLang="en-US" sz="2000" dirty="0">
              <a:latin typeface="Arial" panose="020B0604020202020204" pitchFamily="34" charset="0"/>
            </a:endParaRPr>
          </a:p>
          <a:p>
            <a:pPr lvl="1" eaLnBrk="1" hangingPunct="1">
              <a:spcBef>
                <a:spcPct val="20000"/>
              </a:spcBef>
              <a:buFontTx/>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28796311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86605"/>
            <a:ext cx="8991600" cy="1008796"/>
          </a:xfrm>
        </p:spPr>
        <p:txBody>
          <a:bodyPr>
            <a:normAutofit/>
          </a:bodyPr>
          <a:lstStyle/>
          <a:p>
            <a:pPr algn="ctr" eaLnBrk="1" fontAlgn="auto" hangingPunct="1">
              <a:spcAft>
                <a:spcPts val="0"/>
              </a:spcAft>
              <a:defRPr/>
            </a:pP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H/w Support</a:t>
            </a:r>
            <a:endParaRPr lang="en-NZ"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sz="half" idx="1"/>
          </p:nvPr>
        </p:nvSpPr>
        <p:spPr>
          <a:xfrm>
            <a:off x="381000" y="2209800"/>
            <a:ext cx="8305800" cy="4419600"/>
          </a:xfrm>
        </p:spPr>
        <p:txBody>
          <a:bodyPr>
            <a:normAutofit/>
          </a:bodyPr>
          <a:lstStyle/>
          <a:p>
            <a:pPr lvl="1" eaLnBrk="1" hangingPunct="1"/>
            <a:r>
              <a:rPr lang="en-NZ" sz="3600" dirty="0"/>
              <a:t>Special Machine Instructions</a:t>
            </a:r>
          </a:p>
          <a:p>
            <a:pPr lvl="2" eaLnBrk="1" hangingPunct="1"/>
            <a:r>
              <a:rPr lang="en-NZ" sz="3400" dirty="0" err="1"/>
              <a:t>Compare&amp;Swap</a:t>
            </a:r>
            <a:r>
              <a:rPr lang="en-NZ" sz="3400" dirty="0"/>
              <a:t> Instruction </a:t>
            </a:r>
          </a:p>
          <a:p>
            <a:pPr lvl="4" eaLnBrk="1" hangingPunct="1"/>
            <a:r>
              <a:rPr lang="en-NZ" sz="2800" dirty="0"/>
              <a:t>also called a “compare and exchange instruction”</a:t>
            </a:r>
          </a:p>
          <a:p>
            <a:pPr lvl="4" eaLnBrk="1" hangingPunct="1"/>
            <a:r>
              <a:rPr lang="en-NZ" sz="2800" dirty="0"/>
              <a:t>a </a:t>
            </a:r>
            <a:r>
              <a:rPr lang="en-NZ" sz="2800" b="1" dirty="0"/>
              <a:t>compare </a:t>
            </a:r>
            <a:r>
              <a:rPr lang="en-NZ" sz="2800" dirty="0"/>
              <a:t>is made between a memory value and a test value</a:t>
            </a:r>
          </a:p>
          <a:p>
            <a:pPr lvl="4" eaLnBrk="1" hangingPunct="1"/>
            <a:r>
              <a:rPr lang="en-NZ" sz="2800" dirty="0"/>
              <a:t>if the old memory value = test value, swap in a new value to the memory location</a:t>
            </a:r>
          </a:p>
          <a:p>
            <a:pPr lvl="4" eaLnBrk="1" hangingPunct="1"/>
            <a:r>
              <a:rPr lang="en-NZ" sz="2800" dirty="0"/>
              <a:t>always return the old memory value</a:t>
            </a:r>
          </a:p>
          <a:p>
            <a:pPr lvl="4" eaLnBrk="1" hangingPunct="1"/>
            <a:r>
              <a:rPr lang="en-NZ" sz="2800" dirty="0"/>
              <a:t>carried out atomically in the hardware.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after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p:cTn id="7" dur="1000" fill="hold"/>
                                        <p:tgtEl>
                                          <p:spTgt spid="3">
                                            <p:txEl>
                                              <p:pRg st="6" end="6"/>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3">
                                            <p:txEl>
                                              <p:pRg st="6" end="6"/>
                                            </p:txEl>
                                          </p:spTgt>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
                                          </p:val>
                                        </p:tav>
                                        <p:tav tm="100000">
                                          <p:val>
                                            <p:strVal val="#ppt_y"/>
                                          </p:val>
                                        </p:tav>
                                      </p:tavLst>
                                    </p:anim>
                                    <p:animEffect transition="in" filter="fade">
                                      <p:cBhvr>
                                        <p:cTn id="10"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86605"/>
            <a:ext cx="8915400" cy="932596"/>
          </a:xfrm>
        </p:spPr>
        <p:txBody>
          <a:bodyPr>
            <a:normAutofit/>
          </a:bodyPr>
          <a:lstStyle/>
          <a:p>
            <a:pPr algn="ctr" eaLnBrk="1" fontAlgn="auto" hangingPunct="1">
              <a:spcAft>
                <a:spcPts val="0"/>
              </a:spcAft>
              <a:defRPr/>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Hardware Support</a:t>
            </a:r>
            <a:endParaRPr lang="en-NZ"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sz="half" idx="1"/>
          </p:nvPr>
        </p:nvSpPr>
        <p:spPr>
          <a:xfrm>
            <a:off x="381000" y="2209800"/>
            <a:ext cx="8305800" cy="4419600"/>
          </a:xfrm>
        </p:spPr>
        <p:txBody>
          <a:bodyPr>
            <a:normAutofit/>
          </a:bodyPr>
          <a:lstStyle/>
          <a:p>
            <a:pPr lvl="1" eaLnBrk="1" hangingPunct="1"/>
            <a:r>
              <a:rPr lang="en-NZ" sz="3400" dirty="0" err="1"/>
              <a:t>Compare&amp;Swap</a:t>
            </a:r>
            <a:r>
              <a:rPr lang="en-NZ" sz="3400" dirty="0"/>
              <a:t> Instruction</a:t>
            </a:r>
          </a:p>
          <a:p>
            <a:pPr lvl="2" eaLnBrk="1" hangingPunct="1"/>
            <a:r>
              <a:rPr lang="en-NZ" sz="3400" dirty="0"/>
              <a:t>Pseudo-code definition of the hardware instruction:</a:t>
            </a:r>
          </a:p>
          <a:p>
            <a:pPr marL="860425" lvl="3" indent="0" eaLnBrk="1" hangingPunct="1">
              <a:buNone/>
            </a:pPr>
            <a:br>
              <a:rPr lang="en-NZ" sz="2800" dirty="0"/>
            </a:br>
            <a:r>
              <a:rPr lang="en-NZ" sz="2800" dirty="0" err="1"/>
              <a:t>compare_and_swap</a:t>
            </a:r>
            <a:r>
              <a:rPr lang="en-NZ" sz="2800" dirty="0"/>
              <a:t> (word, </a:t>
            </a:r>
            <a:r>
              <a:rPr lang="en-NZ" sz="2800" dirty="0" err="1"/>
              <a:t>test_val</a:t>
            </a:r>
            <a:r>
              <a:rPr lang="en-NZ" sz="2800" dirty="0"/>
              <a:t>, </a:t>
            </a:r>
            <a:r>
              <a:rPr lang="en-NZ" sz="2800" dirty="0" err="1"/>
              <a:t>new_val</a:t>
            </a:r>
            <a:r>
              <a:rPr lang="en-NZ" sz="2800" dirty="0"/>
              <a:t>)</a:t>
            </a:r>
            <a:br>
              <a:rPr lang="en-NZ" sz="2800" dirty="0"/>
            </a:br>
            <a:r>
              <a:rPr lang="en-NZ" sz="2800" dirty="0"/>
              <a:t>if (word ==</a:t>
            </a:r>
            <a:r>
              <a:rPr lang="en-NZ" sz="2800" dirty="0" err="1"/>
              <a:t>test_val</a:t>
            </a:r>
            <a:r>
              <a:rPr lang="en-NZ" sz="2800" dirty="0"/>
              <a:t>)</a:t>
            </a:r>
            <a:br>
              <a:rPr lang="en-NZ" sz="2800" dirty="0"/>
            </a:br>
            <a:r>
              <a:rPr lang="en-NZ" sz="2800" dirty="0"/>
              <a:t>    word = </a:t>
            </a:r>
            <a:r>
              <a:rPr lang="en-NZ" sz="2800" dirty="0" err="1"/>
              <a:t>new_val</a:t>
            </a:r>
            <a:r>
              <a:rPr lang="en-NZ" sz="2800" dirty="0"/>
              <a:t>;</a:t>
            </a:r>
            <a:br>
              <a:rPr lang="en-NZ" sz="2800" dirty="0"/>
            </a:br>
            <a:r>
              <a:rPr lang="en-NZ" sz="2800" dirty="0"/>
              <a:t>return </a:t>
            </a:r>
            <a:r>
              <a:rPr lang="en-NZ" sz="2800" dirty="0" err="1"/>
              <a:t>new_val</a:t>
            </a:r>
            <a:br>
              <a:rPr lang="en-NZ" sz="2800" dirty="0"/>
            </a:br>
            <a:r>
              <a:rPr lang="en-NZ" sz="2800" dirty="0"/>
              <a:t>    </a:t>
            </a:r>
          </a:p>
        </p:txBody>
      </p:sp>
    </p:spTree>
    <p:extLst>
      <p:ext uri="{BB962C8B-B14F-4D97-AF65-F5344CB8AC3E}">
        <p14:creationId xmlns:p14="http://schemas.microsoft.com/office/powerpoint/2010/main" val="261496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after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1000" fill="hold"/>
                                        <p:tgtEl>
                                          <p:spTgt spid="3">
                                            <p:txEl>
                                              <p:pRg st="2" end="2"/>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3">
                                            <p:txEl>
                                              <p:pRg st="2" end="2"/>
                                            </p:txEl>
                                          </p:spTgt>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
                                          </p:val>
                                        </p:tav>
                                        <p:tav tm="100000">
                                          <p:val>
                                            <p:strVal val="#ppt_y"/>
                                          </p:val>
                                        </p:tav>
                                      </p:tavLst>
                                    </p:anim>
                                    <p:animEffect transition="in" filter="fade">
                                      <p:cBhvr>
                                        <p:cTn id="10"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33400"/>
            <a:ext cx="9144000" cy="914400"/>
          </a:xfrm>
        </p:spPr>
        <p:txBody>
          <a:bodyPr/>
          <a:lstStyle/>
          <a:p>
            <a:pPr algn="ct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Compare and Swap Instruction</a:t>
            </a:r>
          </a:p>
        </p:txBody>
      </p:sp>
      <p:pic>
        <p:nvPicPr>
          <p:cNvPr id="309250" name="Picture 4"/>
          <p:cNvPicPr>
            <a:picLocks noChangeAspect="1" noChangeArrowheads="1"/>
          </p:cNvPicPr>
          <p:nvPr/>
        </p:nvPicPr>
        <p:blipFill rotWithShape="1">
          <a:blip r:embed="rId3"/>
          <a:srcRect b="10344"/>
          <a:stretch/>
        </p:blipFill>
        <p:spPr bwMode="auto">
          <a:xfrm>
            <a:off x="228600" y="1928537"/>
            <a:ext cx="5791200" cy="3962400"/>
          </a:xfrm>
          <a:prstGeom prst="rect">
            <a:avLst/>
          </a:prstGeom>
          <a:noFill/>
          <a:ln w="9525">
            <a:noFill/>
            <a:miter lim="800000"/>
            <a:headEnd/>
            <a:tailEnd/>
          </a:ln>
        </p:spPr>
      </p:pic>
      <p:sp>
        <p:nvSpPr>
          <p:cNvPr id="3" name="TextBox 2"/>
          <p:cNvSpPr txBox="1"/>
          <p:nvPr/>
        </p:nvSpPr>
        <p:spPr>
          <a:xfrm>
            <a:off x="6172200" y="1920619"/>
            <a:ext cx="2743199" cy="3970318"/>
          </a:xfrm>
          <a:prstGeom prst="rect">
            <a:avLst/>
          </a:prstGeom>
          <a:noFill/>
          <a:ln>
            <a:solidFill>
              <a:schemeClr val="accent1"/>
            </a:solidFill>
          </a:ln>
        </p:spPr>
        <p:txBody>
          <a:bodyPr wrap="square" rtlCol="0">
            <a:spAutoFit/>
          </a:bodyPr>
          <a:lstStyle/>
          <a:p>
            <a:r>
              <a:rPr lang="en-US" dirty="0"/>
              <a:t>word = bolt</a:t>
            </a:r>
          </a:p>
          <a:p>
            <a:r>
              <a:rPr lang="en-US" dirty="0" err="1"/>
              <a:t>test_val</a:t>
            </a:r>
            <a:r>
              <a:rPr lang="en-US" dirty="0"/>
              <a:t> = 0</a:t>
            </a:r>
          </a:p>
          <a:p>
            <a:r>
              <a:rPr lang="en-US" dirty="0" err="1"/>
              <a:t>new_val</a:t>
            </a:r>
            <a:r>
              <a:rPr lang="en-US" dirty="0"/>
              <a:t> = 1</a:t>
            </a:r>
          </a:p>
          <a:p>
            <a:endParaRPr lang="en-US" dirty="0"/>
          </a:p>
          <a:p>
            <a:r>
              <a:rPr lang="en-US" dirty="0"/>
              <a:t>If bolt is 0 when the C&amp;S is executed, the condition is false and P enters its critical section. (leaves bolt = 1)</a:t>
            </a:r>
          </a:p>
          <a:p>
            <a:r>
              <a:rPr lang="en-US" dirty="0"/>
              <a:t>If bolt = 1 when C&amp;S executes, P continues to execute the while loop.  It’s busy waiting ( or spinning)</a:t>
            </a:r>
          </a:p>
        </p:txBody>
      </p:sp>
    </p:spTree>
  </p:cSld>
  <p:clrMapOvr>
    <a:masterClrMapping/>
  </p:clrMapOvr>
  <p:transition spd="med">
    <p:check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14400" y="0"/>
            <a:ext cx="8229600" cy="1371600"/>
          </a:xfrm>
        </p:spPr>
        <p:txBody>
          <a:bodyPr/>
          <a:lstStyle/>
          <a:p>
            <a:pPr algn="ctr" eaLnBrk="1" fontAlgn="auto" hangingPunct="1">
              <a:spcAft>
                <a:spcPts val="0"/>
              </a:spcAft>
              <a:defRPr/>
            </a:pPr>
            <a:r>
              <a:rPr lang="en-NZ" b="1" dirty="0">
                <a:solidFill>
                  <a:schemeClr val="accent6">
                    <a:lumMod val="50000"/>
                  </a:schemeClr>
                </a:solidFill>
              </a:rPr>
              <a:t>Exchange Instruction</a:t>
            </a:r>
          </a:p>
        </p:txBody>
      </p:sp>
      <p:pic>
        <p:nvPicPr>
          <p:cNvPr id="311299" name="Picture 7"/>
          <p:cNvPicPr>
            <a:picLocks noChangeAspect="1" noChangeArrowheads="1"/>
          </p:cNvPicPr>
          <p:nvPr/>
        </p:nvPicPr>
        <p:blipFill rotWithShape="1">
          <a:blip r:embed="rId3"/>
          <a:srcRect r="-1204" b="8088"/>
          <a:stretch/>
        </p:blipFill>
        <p:spPr bwMode="auto">
          <a:xfrm>
            <a:off x="1676400" y="1447800"/>
            <a:ext cx="6400800" cy="4419600"/>
          </a:xfrm>
          <a:prstGeom prst="rect">
            <a:avLst/>
          </a:prstGeom>
          <a:noFill/>
          <a:ln w="9525">
            <a:noFill/>
            <a:miter lim="800000"/>
            <a:headEnd/>
            <a:tailEnd/>
          </a:ln>
        </p:spPr>
      </p:pic>
    </p:spTree>
  </p:cSld>
  <p:clrMapOvr>
    <a:masterClrMapping/>
  </p:clrMapOvr>
  <p:transition spd="med">
    <p:checke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950" y="472127"/>
            <a:ext cx="7824788" cy="1323041"/>
          </a:xfrm>
        </p:spPr>
        <p:txBody>
          <a:bodyPr>
            <a:normAutofit/>
          </a:bodyPr>
          <a:lstStyle/>
          <a:p>
            <a:pPr algn="ctr" eaLnBrk="1" fontAlgn="auto" hangingPunct="1">
              <a:spcAft>
                <a:spcPts val="0"/>
              </a:spcAft>
              <a:defRPr/>
            </a:pPr>
            <a: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t>Special Machine Instruction:</a:t>
            </a:r>
            <a:b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br>
            <a: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t>Advantages</a:t>
            </a:r>
          </a:p>
        </p:txBody>
      </p:sp>
      <p:sp>
        <p:nvSpPr>
          <p:cNvPr id="313346" name="Content Placeholder 2"/>
          <p:cNvSpPr>
            <a:spLocks noGrp="1"/>
          </p:cNvSpPr>
          <p:nvPr>
            <p:ph sz="half" idx="1"/>
          </p:nvPr>
        </p:nvSpPr>
        <p:spPr>
          <a:xfrm>
            <a:off x="304801" y="2286000"/>
            <a:ext cx="8534400" cy="3840163"/>
          </a:xfrm>
        </p:spPr>
        <p:txBody>
          <a:bodyPr/>
          <a:lstStyle/>
          <a:p>
            <a:pPr marL="514350" indent="-514350" algn="just">
              <a:lnSpc>
                <a:spcPct val="80000"/>
              </a:lnSpc>
              <a:buFont typeface="+mj-lt"/>
              <a:buAutoNum type="arabicPeriod"/>
            </a:pPr>
            <a:r>
              <a:rPr lang="en-US" sz="3200" dirty="0"/>
              <a:t>Applicable to any number of processes on     either a single processor or multiple   processors sharing main memory</a:t>
            </a:r>
          </a:p>
          <a:p>
            <a:pPr marL="514350" indent="-514350">
              <a:lnSpc>
                <a:spcPct val="80000"/>
              </a:lnSpc>
              <a:buFont typeface="+mj-lt"/>
              <a:buAutoNum type="arabicPeriod"/>
            </a:pPr>
            <a:r>
              <a:rPr lang="en-US" sz="3200" dirty="0"/>
              <a:t>Simple and easy to verify</a:t>
            </a:r>
          </a:p>
          <a:p>
            <a:pPr marL="514350" indent="-514350" algn="just">
              <a:lnSpc>
                <a:spcPct val="80000"/>
              </a:lnSpc>
              <a:buFont typeface="+mj-lt"/>
              <a:buAutoNum type="arabicPeriod"/>
            </a:pPr>
            <a:r>
              <a:rPr lang="en-US" sz="3200" dirty="0"/>
              <a:t>It can be used to support multiple critical sections; each critical section can be defined by its own variable</a:t>
            </a:r>
          </a:p>
          <a:p>
            <a:pPr marL="228600" indent="-228600">
              <a:lnSpc>
                <a:spcPct val="80000"/>
              </a:lnSpc>
              <a:buFont typeface="+mj-lt"/>
              <a:buAutoNum type="arabicPeriod"/>
            </a:pPr>
            <a:endParaRPr lang="en-US" sz="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eaLnBrk="1" fontAlgn="auto" hangingPunct="1">
              <a:spcAft>
                <a:spcPts val="0"/>
              </a:spcAft>
              <a:defRPr/>
            </a:pPr>
            <a:r>
              <a:rPr lang="en-US" sz="4400" b="1" dirty="0">
                <a:ln w="1905"/>
                <a:solidFill>
                  <a:schemeClr val="accent1">
                    <a:lumMod val="75000"/>
                  </a:schemeClr>
                </a:solidFill>
                <a:effectLst>
                  <a:innerShdw blurRad="69850" dist="43180" dir="5400000">
                    <a:srgbClr val="000000">
                      <a:alpha val="65000"/>
                    </a:srgbClr>
                  </a:innerShdw>
                </a:effectLst>
              </a:rPr>
              <a:t>Special Machine Instruction:</a:t>
            </a:r>
            <a:br>
              <a:rPr lang="en-US" sz="4400" b="1" dirty="0">
                <a:ln w="1905"/>
                <a:solidFill>
                  <a:schemeClr val="accent1">
                    <a:lumMod val="75000"/>
                  </a:schemeClr>
                </a:solidFill>
                <a:effectLst>
                  <a:innerShdw blurRad="69850" dist="43180" dir="5400000">
                    <a:srgbClr val="000000">
                      <a:alpha val="65000"/>
                    </a:srgbClr>
                  </a:innerShdw>
                </a:effectLst>
              </a:rPr>
            </a:br>
            <a:r>
              <a:rPr lang="en-US" sz="4400" b="1" dirty="0">
                <a:ln w="1905"/>
                <a:solidFill>
                  <a:schemeClr val="accent1">
                    <a:lumMod val="75000"/>
                  </a:schemeClr>
                </a:solidFill>
                <a:effectLst>
                  <a:innerShdw blurRad="69850" dist="43180" dir="5400000">
                    <a:srgbClr val="000000">
                      <a:alpha val="65000"/>
                    </a:srgbClr>
                  </a:innerShdw>
                </a:effectLst>
              </a:rPr>
              <a:t>Disadvantages</a:t>
            </a:r>
          </a:p>
        </p:txBody>
      </p:sp>
      <p:sp>
        <p:nvSpPr>
          <p:cNvPr id="315394" name="Content Placeholder 2"/>
          <p:cNvSpPr>
            <a:spLocks noGrp="1"/>
          </p:cNvSpPr>
          <p:nvPr>
            <p:ph sz="half" idx="1"/>
          </p:nvPr>
        </p:nvSpPr>
        <p:spPr>
          <a:xfrm>
            <a:off x="228600" y="2057400"/>
            <a:ext cx="8763000" cy="4495800"/>
          </a:xfrm>
        </p:spPr>
        <p:txBody>
          <a:bodyPr>
            <a:normAutofit/>
          </a:bodyPr>
          <a:lstStyle/>
          <a:p>
            <a:pPr marL="514350" indent="-514350" algn="just">
              <a:spcBef>
                <a:spcPts val="600"/>
              </a:spcBef>
              <a:buFont typeface="+mj-lt"/>
              <a:buAutoNum type="arabicPeriod"/>
            </a:pPr>
            <a:r>
              <a:rPr lang="en-US" sz="3200" dirty="0"/>
              <a:t>Busy-waiting is employed, thus while a process is waiting for access to a critical section it continues to consume processor time</a:t>
            </a:r>
          </a:p>
          <a:p>
            <a:pPr marL="514350" indent="-514350" algn="just">
              <a:spcBef>
                <a:spcPts val="600"/>
              </a:spcBef>
              <a:buFont typeface="+mj-lt"/>
              <a:buAutoNum type="arabicPeriod"/>
            </a:pPr>
            <a:r>
              <a:rPr lang="en-US" sz="3200" dirty="0"/>
              <a:t>Starvation is possible when a process leaves a critical section and more than one process is waiting: Selection is arbitrary</a:t>
            </a:r>
            <a:endParaRPr lang="en-NZ" sz="3200" dirty="0"/>
          </a:p>
          <a:p>
            <a:pPr marL="514350" indent="-514350" algn="just">
              <a:spcBef>
                <a:spcPts val="600"/>
              </a:spcBef>
              <a:buFont typeface="+mj-lt"/>
              <a:buAutoNum type="arabicPeriod"/>
            </a:pPr>
            <a:r>
              <a:rPr lang="en-US" sz="3200" dirty="0"/>
              <a:t>Deadlock is possible if priority-based scheduling is used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2133600" cy="5715000"/>
          </a:xfrm>
        </p:spPr>
        <p:txBody>
          <a:bodyPr vert="vert270" anchor="ctr" anchorCtr="1">
            <a:normAutofit/>
          </a:bodyPr>
          <a:lstStyle/>
          <a:p>
            <a:pPr eaLnBrk="1" fontAlgn="auto" hangingPunct="1">
              <a:spcAft>
                <a:spcPts val="0"/>
              </a:spcAft>
              <a:defRPr/>
            </a:pPr>
            <a:r>
              <a:rPr lang="en-US" sz="4800" b="1" spc="2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Common</a:t>
            </a:r>
            <a:r>
              <a:rPr lang="en-US" b="1" spc="2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en-US" sz="4800" b="1" spc="2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Concurrency Mechanisms</a:t>
            </a:r>
          </a:p>
        </p:txBody>
      </p:sp>
      <p:graphicFrame>
        <p:nvGraphicFramePr>
          <p:cNvPr id="184322" name="Object 2"/>
          <p:cNvGraphicFramePr>
            <a:graphicFrameLocks noChangeAspect="1"/>
          </p:cNvGraphicFramePr>
          <p:nvPr/>
        </p:nvGraphicFramePr>
        <p:xfrm>
          <a:off x="3124200" y="685800"/>
          <a:ext cx="5410200" cy="5727700"/>
        </p:xfrm>
        <a:graphic>
          <a:graphicData uri="http://schemas.openxmlformats.org/presentationml/2006/ole">
            <mc:AlternateContent xmlns:mc="http://schemas.openxmlformats.org/markup-compatibility/2006">
              <mc:Choice xmlns:v="urn:schemas-microsoft-com:vml" Requires="v">
                <p:oleObj name="Document" r:id="rId3" imgW="6083076" imgH="6298968" progId="">
                  <p:embed/>
                </p:oleObj>
              </mc:Choice>
              <mc:Fallback>
                <p:oleObj name="Document" r:id="rId3" imgW="6083076" imgH="6298968"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685800"/>
                        <a:ext cx="5410200" cy="572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84324" name="TextBox 3"/>
          <p:cNvSpPr txBox="1">
            <a:spLocks noChangeArrowheads="1"/>
          </p:cNvSpPr>
          <p:nvPr/>
        </p:nvSpPr>
        <p:spPr bwMode="auto">
          <a:xfrm>
            <a:off x="3124200" y="609600"/>
            <a:ext cx="5486400" cy="228600"/>
          </a:xfrm>
          <a:prstGeom prst="rect">
            <a:avLst/>
          </a:prstGeom>
          <a:blipFill dpi="0" rotWithShape="1">
            <a:blip r:embed="rId5"/>
            <a:srcRect/>
            <a:tile tx="0" ty="0" sx="100000" sy="100000" flip="none" algn="tl"/>
          </a:blipFill>
          <a:ln w="9525">
            <a:noFill/>
            <a:miter lim="800000"/>
            <a:headEnd/>
            <a:tailEnd/>
          </a:ln>
        </p:spPr>
        <p:txBody>
          <a:bodyPr>
            <a:spAutoFit/>
          </a:bodyPr>
          <a:lstStyle/>
          <a:p>
            <a:endParaRPr lang="en-US"/>
          </a:p>
        </p:txBody>
      </p:sp>
      <p:sp>
        <p:nvSpPr>
          <p:cNvPr id="184325" name="TextBox 4"/>
          <p:cNvSpPr txBox="1">
            <a:spLocks noChangeArrowheads="1"/>
          </p:cNvSpPr>
          <p:nvPr/>
        </p:nvSpPr>
        <p:spPr bwMode="auto">
          <a:xfrm>
            <a:off x="3124200" y="6248400"/>
            <a:ext cx="5486400" cy="228600"/>
          </a:xfrm>
          <a:prstGeom prst="rect">
            <a:avLst/>
          </a:prstGeom>
          <a:blipFill dpi="0" rotWithShape="1">
            <a:blip r:embed="rId5"/>
            <a:srcRect/>
            <a:tile tx="0" ty="0" sx="100000" sy="100000" flip="none" algn="tl"/>
          </a:blipFill>
          <a:ln w="9525">
            <a:noFill/>
            <a:miter lim="800000"/>
            <a:headEnd/>
            <a:tailEnd/>
          </a:ln>
        </p:spPr>
        <p:txBody>
          <a:bodyPr>
            <a:spAutoFit/>
          </a:bodyPr>
          <a:lstStyle/>
          <a:p>
            <a:endParaRPr lang="en-US"/>
          </a:p>
        </p:txBody>
      </p:sp>
    </p:spTree>
  </p:cSld>
  <p:clrMapOvr>
    <a:masterClrMapping/>
  </p:clrMapOvr>
  <p:transition spd="med">
    <p:checke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000"/>
            <a:ext cx="4648200" cy="1142999"/>
          </a:xfrm>
        </p:spPr>
        <p:txBody>
          <a:bodyPr/>
          <a:lstStyle/>
          <a:p>
            <a:pPr eaLnBrk="1" fontAlgn="auto" hangingPunct="1">
              <a:spcAft>
                <a:spcPts val="0"/>
              </a:spcAft>
              <a:defRPr/>
            </a:pPr>
            <a:r>
              <a:rPr lang="en-NZ" sz="5400" b="1" spc="200" dirty="0">
                <a:ln w="1905"/>
                <a:solidFill>
                  <a:schemeClr val="bg2">
                    <a:lumMod val="10000"/>
                  </a:schemeClr>
                </a:solidFill>
                <a:effectLst>
                  <a:innerShdw blurRad="69850" dist="43180" dir="5400000">
                    <a:srgbClr val="000000">
                      <a:alpha val="65000"/>
                    </a:srgbClr>
                  </a:innerShdw>
                </a:effectLst>
              </a:rPr>
              <a:t>Semaphore</a:t>
            </a:r>
          </a:p>
        </p:txBody>
      </p:sp>
      <p:graphicFrame>
        <p:nvGraphicFramePr>
          <p:cNvPr id="4" name="Content Placeholder 3"/>
          <p:cNvGraphicFramePr>
            <a:graphicFrameLocks noGrp="1"/>
          </p:cNvGraphicFramePr>
          <p:nvPr>
            <p:ph sz="half" idx="1"/>
          </p:nvPr>
        </p:nvGraphicFramePr>
        <p:xfrm>
          <a:off x="533400" y="2057400"/>
          <a:ext cx="8077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457200" y="4572000"/>
            <a:ext cx="8229600" cy="1831975"/>
          </a:xfrm>
          <a:prstGeom prst="rect">
            <a:avLst/>
          </a:prstGeom>
          <a:blipFill rotWithShape="1">
            <a:blip r:embed="rId8"/>
            <a:tile tx="0" ty="0" sx="100000" sy="100000" flip="none" algn="tl"/>
          </a:blipFill>
        </p:spPr>
        <p:txBody>
          <a:bodyPr>
            <a:spAutoFit/>
          </a:bodyPr>
          <a:lstStyle/>
          <a:p>
            <a:pPr marL="919163" indent="-457200">
              <a:spcBef>
                <a:spcPts val="1200"/>
              </a:spcBef>
              <a:buFont typeface="+mj-lt"/>
              <a:buAutoNum type="arabicParenR"/>
              <a:defRPr/>
            </a:pPr>
            <a:r>
              <a:rPr lang="en-US" sz="2500" b="1" dirty="0">
                <a:solidFill>
                  <a:schemeClr val="bg2">
                    <a:lumMod val="25000"/>
                  </a:schemeClr>
                </a:solidFill>
                <a:latin typeface="Cambria"/>
                <a:cs typeface="+mn-cs"/>
              </a:rPr>
              <a:t>May be initialized to a nonnegative integer value</a:t>
            </a:r>
          </a:p>
          <a:p>
            <a:pPr marL="919163" indent="-457200">
              <a:spcBef>
                <a:spcPts val="1200"/>
              </a:spcBef>
              <a:buFont typeface="+mj-lt"/>
              <a:buAutoNum type="arabicParenR"/>
              <a:defRPr/>
            </a:pPr>
            <a:r>
              <a:rPr lang="en-US" sz="2500" b="1" dirty="0">
                <a:solidFill>
                  <a:schemeClr val="bg2">
                    <a:lumMod val="25000"/>
                  </a:schemeClr>
                </a:solidFill>
                <a:latin typeface="Cambria"/>
                <a:cs typeface="+mn-cs"/>
              </a:rPr>
              <a:t>The </a:t>
            </a:r>
            <a:r>
              <a:rPr lang="en-US" sz="2500" b="1" dirty="0" err="1">
                <a:solidFill>
                  <a:schemeClr val="bg2">
                    <a:lumMod val="25000"/>
                  </a:schemeClr>
                </a:solidFill>
                <a:latin typeface="Cambria"/>
                <a:cs typeface="+mn-cs"/>
              </a:rPr>
              <a:t>semWait</a:t>
            </a:r>
            <a:r>
              <a:rPr lang="en-US" sz="2500" b="1" dirty="0">
                <a:solidFill>
                  <a:schemeClr val="bg2">
                    <a:lumMod val="25000"/>
                  </a:schemeClr>
                </a:solidFill>
                <a:latin typeface="Cambria"/>
                <a:cs typeface="+mn-cs"/>
              </a:rPr>
              <a:t> operation decrements the value</a:t>
            </a:r>
          </a:p>
          <a:p>
            <a:pPr marL="919163" indent="-457200">
              <a:spcBef>
                <a:spcPts val="1200"/>
              </a:spcBef>
              <a:buFont typeface="+mj-lt"/>
              <a:buAutoNum type="arabicParenR"/>
              <a:defRPr/>
            </a:pPr>
            <a:r>
              <a:rPr lang="en-US" sz="2500" b="1" dirty="0">
                <a:solidFill>
                  <a:schemeClr val="bg2">
                    <a:lumMod val="25000"/>
                  </a:schemeClr>
                </a:solidFill>
                <a:latin typeface="Cambria"/>
                <a:cs typeface="+mn-cs"/>
              </a:rPr>
              <a:t>The </a:t>
            </a:r>
            <a:r>
              <a:rPr lang="en-US" sz="2500" b="1" dirty="0" err="1">
                <a:solidFill>
                  <a:schemeClr val="bg2">
                    <a:lumMod val="25000"/>
                  </a:schemeClr>
                </a:solidFill>
                <a:latin typeface="Cambria"/>
                <a:cs typeface="+mn-cs"/>
              </a:rPr>
              <a:t>semSignal</a:t>
            </a:r>
            <a:r>
              <a:rPr lang="en-US" sz="2500" b="1" dirty="0">
                <a:solidFill>
                  <a:schemeClr val="bg2">
                    <a:lumMod val="25000"/>
                  </a:schemeClr>
                </a:solidFill>
                <a:latin typeface="Cambria"/>
                <a:cs typeface="+mn-cs"/>
              </a:rPr>
              <a:t> operation increments the value</a:t>
            </a:r>
          </a:p>
          <a:p>
            <a:pPr>
              <a:defRPr/>
            </a:pPr>
            <a:endParaRPr lang="en-US" dirty="0">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eaLnBrk="1" fontAlgn="auto" hangingPunct="1">
              <a:spcAft>
                <a:spcPts val="0"/>
              </a:spcAft>
              <a:defRPr/>
            </a:pPr>
            <a:r>
              <a:rPr lang="en-US" sz="5400" b="1" spc="200" dirty="0">
                <a:ln w="1905"/>
                <a:solidFill>
                  <a:schemeClr val="bg2">
                    <a:lumMod val="10000"/>
                  </a:schemeClr>
                </a:solidFill>
                <a:effectLst>
                  <a:innerShdw blurRad="69850" dist="43180" dir="5400000">
                    <a:srgbClr val="000000">
                      <a:alpha val="65000"/>
                    </a:srgbClr>
                  </a:innerShdw>
                </a:effectLst>
              </a:rPr>
              <a:t>Consequences</a:t>
            </a:r>
          </a:p>
        </p:txBody>
      </p:sp>
      <p:graphicFrame>
        <p:nvGraphicFramePr>
          <p:cNvPr id="8" name="Content Placeholder 7"/>
          <p:cNvGraphicFramePr>
            <a:graphicFrameLocks noGrp="1"/>
          </p:cNvGraphicFramePr>
          <p:nvPr>
            <p:ph sz="half" idx="1"/>
          </p:nvPr>
        </p:nvGraphicFramePr>
        <p:xfrm>
          <a:off x="658812" y="2286000"/>
          <a:ext cx="8104187" cy="3840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14400" y="0"/>
            <a:ext cx="8229600" cy="1371600"/>
          </a:xfrm>
        </p:spPr>
        <p:txBody>
          <a:bodyPr/>
          <a:lstStyle/>
          <a:p>
            <a:pPr algn="ctr" eaLnBrk="1" fontAlgn="auto" hangingPunct="1">
              <a:spcAft>
                <a:spcPts val="0"/>
              </a:spcAft>
              <a:defRPr/>
            </a:pPr>
            <a:r>
              <a:rPr lang="en-US" sz="4800" b="1" spc="100" dirty="0">
                <a:solidFill>
                  <a:schemeClr val="accent1">
                    <a:lumMod val="50000"/>
                  </a:schemeClr>
                </a:solidFill>
              </a:rPr>
              <a:t>Semaphore Primitives</a:t>
            </a:r>
          </a:p>
        </p:txBody>
      </p:sp>
      <p:pic>
        <p:nvPicPr>
          <p:cNvPr id="323586" name="Content Placeholder 3" descr="Fig05_03.gif"/>
          <p:cNvPicPr>
            <a:picLocks noGrp="1" noChangeAspect="1"/>
          </p:cNvPicPr>
          <p:nvPr/>
        </p:nvPicPr>
        <p:blipFill rotWithShape="1">
          <a:blip r:embed="rId3"/>
          <a:srcRect t="771" b="6371"/>
          <a:stretch/>
        </p:blipFill>
        <p:spPr bwMode="auto">
          <a:xfrm>
            <a:off x="1676400" y="1219200"/>
            <a:ext cx="6705600" cy="4754880"/>
          </a:xfrm>
          <a:prstGeom prst="rect">
            <a:avLst/>
          </a:prstGeom>
          <a:noFill/>
          <a:ln w="9525">
            <a:noFill/>
            <a:miter lim="800000"/>
            <a:headEnd/>
            <a:tailEnd/>
          </a:ln>
        </p:spPr>
      </p:pic>
    </p:spTree>
  </p:cSld>
  <p:clrMapOvr>
    <a:masterClrMapping/>
  </p:clrMapOvr>
  <p:transition spd="med">
    <p:checke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533400"/>
            <a:ext cx="9296400" cy="838200"/>
          </a:xfrm>
        </p:spPr>
        <p:txBody>
          <a:bodyPr/>
          <a:lstStyle/>
          <a:p>
            <a:pPr algn="ctr" eaLnBrk="1" fontAlgn="auto" hangingPunct="1">
              <a:spcAft>
                <a:spcPts val="0"/>
              </a:spcAft>
              <a:defRPr/>
            </a:pPr>
            <a:r>
              <a:rPr lang="en-US" sz="4800" b="1" dirty="0">
                <a:solidFill>
                  <a:schemeClr val="accent1">
                    <a:lumMod val="50000"/>
                  </a:schemeClr>
                </a:solidFill>
              </a:rPr>
              <a:t>Binary Semaphore Primitives</a:t>
            </a:r>
          </a:p>
        </p:txBody>
      </p:sp>
      <p:pic>
        <p:nvPicPr>
          <p:cNvPr id="325634" name="Content Placeholder 3" descr="Fig05_04.gif"/>
          <p:cNvPicPr>
            <a:picLocks noGrp="1" noChangeAspect="1"/>
          </p:cNvPicPr>
          <p:nvPr/>
        </p:nvPicPr>
        <p:blipFill rotWithShape="1">
          <a:blip r:embed="rId3"/>
          <a:srcRect t="-1" b="5968"/>
          <a:stretch/>
        </p:blipFill>
        <p:spPr bwMode="auto">
          <a:xfrm>
            <a:off x="1524000" y="1524000"/>
            <a:ext cx="6134100" cy="4663440"/>
          </a:xfrm>
          <a:prstGeom prst="rect">
            <a:avLst/>
          </a:prstGeom>
          <a:noFill/>
          <a:ln w="9525">
            <a:noFill/>
            <a:miter lim="800000"/>
            <a:headEnd/>
            <a:tailEnd/>
          </a:ln>
        </p:spPr>
      </p:pic>
    </p:spTree>
  </p:cSld>
  <p:clrMapOvr>
    <a:masterClrMapping/>
  </p:clrMapOvr>
  <p:transition spd="med">
    <p:checke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eaLnBrk="1" fontAlgn="auto" hangingPunct="1">
              <a:spcAft>
                <a:spcPts val="0"/>
              </a:spcAft>
              <a:defRPr/>
            </a:pPr>
            <a:r>
              <a:rPr lang="en-NZ" b="1" dirty="0">
                <a:ln w="10541" cmpd="sng">
                  <a:solidFill>
                    <a:schemeClr val="accent1">
                      <a:shade val="88000"/>
                      <a:satMod val="110000"/>
                    </a:schemeClr>
                  </a:solidFill>
                  <a:prstDash val="solid"/>
                </a:ln>
                <a:solidFill>
                  <a:schemeClr val="accent6">
                    <a:lumMod val="50000"/>
                  </a:schemeClr>
                </a:solidFill>
                <a:effectLst/>
              </a:rPr>
              <a:t>Strong/Weak Semaphores</a:t>
            </a:r>
          </a:p>
        </p:txBody>
      </p:sp>
      <p:sp>
        <p:nvSpPr>
          <p:cNvPr id="3" name="Content Placeholder 2"/>
          <p:cNvSpPr>
            <a:spLocks noGrp="1"/>
          </p:cNvSpPr>
          <p:nvPr>
            <p:ph sz="half" idx="1"/>
          </p:nvPr>
        </p:nvSpPr>
        <p:spPr>
          <a:xfrm>
            <a:off x="381000" y="2209800"/>
            <a:ext cx="8001000" cy="609600"/>
          </a:xfrm>
        </p:spPr>
        <p:txBody>
          <a:bodyPr rtlCol="0">
            <a:noAutofit/>
          </a:bodyPr>
          <a:lstStyle/>
          <a:p>
            <a:pPr marL="0" indent="0" eaLnBrk="1" fontAlgn="auto" hangingPunct="1">
              <a:spcAft>
                <a:spcPts val="0"/>
              </a:spcAft>
              <a:buClr>
                <a:schemeClr val="accent1">
                  <a:lumMod val="75000"/>
                </a:schemeClr>
              </a:buClr>
              <a:buSzPct val="92000"/>
              <a:buNone/>
              <a:defRPr/>
            </a:pPr>
            <a:r>
              <a:rPr lang="en-NZ" sz="2400" dirty="0">
                <a:solidFill>
                  <a:schemeClr val="tx1">
                    <a:lumMod val="85000"/>
                    <a:lumOff val="15000"/>
                  </a:schemeClr>
                </a:solidFill>
              </a:rPr>
              <a:t>A queue is used to hold processes waiting on the semaphore</a:t>
            </a:r>
          </a:p>
          <a:p>
            <a:pPr eaLnBrk="1" fontAlgn="auto" hangingPunct="1">
              <a:spcAft>
                <a:spcPts val="0"/>
              </a:spcAft>
              <a:defRPr/>
            </a:pPr>
            <a:endParaRPr lang="en-NZ" sz="2800" dirty="0">
              <a:solidFill>
                <a:schemeClr val="tx1">
                  <a:lumMod val="85000"/>
                  <a:lumOff val="15000"/>
                </a:schemeClr>
              </a:solidFill>
            </a:endParaRPr>
          </a:p>
        </p:txBody>
      </p:sp>
      <p:graphicFrame>
        <p:nvGraphicFramePr>
          <p:cNvPr id="4" name="Diagram 3"/>
          <p:cNvGraphicFramePr/>
          <p:nvPr/>
        </p:nvGraphicFramePr>
        <p:xfrm>
          <a:off x="457200" y="2895600"/>
          <a:ext cx="8229600" cy="353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85800"/>
            <a:ext cx="8382000" cy="1295400"/>
          </a:xfrm>
        </p:spPr>
        <p:txBody>
          <a:bodyPr>
            <a:normAutofit fontScale="90000"/>
          </a:bodyPr>
          <a:lstStyle/>
          <a:p>
            <a:pPr algn="ctr" eaLnBrk="1" fontAlgn="auto" hangingPunct="1">
              <a:spcAft>
                <a:spcPts val="0"/>
              </a:spcAft>
              <a:defRPr/>
            </a:pPr>
            <a:r>
              <a:rPr lang="en-US" b="1" dirty="0">
                <a:ln w="10541" cmpd="sng">
                  <a:solidFill>
                    <a:schemeClr val="accent1">
                      <a:shade val="88000"/>
                      <a:satMod val="110000"/>
                    </a:schemeClr>
                  </a:solidFill>
                  <a:prstDash val="solid"/>
                </a:ln>
                <a:solidFill>
                  <a:schemeClr val="accent6">
                    <a:lumMod val="50000"/>
                  </a:schemeClr>
                </a:solidFill>
                <a:effectLst/>
              </a:rPr>
              <a:t>Example of Semaphore Mechanism</a:t>
            </a:r>
          </a:p>
        </p:txBody>
      </p:sp>
      <p:pic>
        <p:nvPicPr>
          <p:cNvPr id="329730" name="Content Placeholder 3" descr="Fig05_05a.gif"/>
          <p:cNvPicPr>
            <a:picLocks noChangeAspect="1"/>
          </p:cNvPicPr>
          <p:nvPr/>
        </p:nvPicPr>
        <p:blipFill>
          <a:blip r:embed="rId3"/>
          <a:srcRect/>
          <a:stretch>
            <a:fillRect/>
          </a:stretch>
        </p:blipFill>
        <p:spPr bwMode="auto">
          <a:xfrm>
            <a:off x="384865" y="1981200"/>
            <a:ext cx="3822700" cy="4191000"/>
          </a:xfrm>
          <a:prstGeom prst="rect">
            <a:avLst/>
          </a:prstGeom>
          <a:noFill/>
          <a:ln w="9525">
            <a:noFill/>
            <a:miter lim="800000"/>
            <a:headEnd/>
            <a:tailEnd/>
          </a:ln>
        </p:spPr>
      </p:pic>
      <p:pic>
        <p:nvPicPr>
          <p:cNvPr id="329731" name="Content Placeholder 3" descr="Fig05_05b.gif"/>
          <p:cNvPicPr>
            <a:picLocks noChangeAspect="1"/>
          </p:cNvPicPr>
          <p:nvPr/>
        </p:nvPicPr>
        <p:blipFill rotWithShape="1">
          <a:blip r:embed="rId4"/>
          <a:srcRect b="8363"/>
          <a:stretch/>
        </p:blipFill>
        <p:spPr bwMode="auto">
          <a:xfrm>
            <a:off x="4562613" y="1970314"/>
            <a:ext cx="4217988" cy="3840480"/>
          </a:xfrm>
          <a:prstGeom prst="rect">
            <a:avLst/>
          </a:prstGeom>
          <a:noFill/>
          <a:ln w="9525">
            <a:noFill/>
            <a:miter lim="800000"/>
            <a:headEnd/>
            <a:tailEnd/>
          </a:ln>
        </p:spPr>
      </p:pic>
    </p:spTree>
  </p:cSld>
  <p:clrMapOvr>
    <a:masterClrMapping/>
  </p:clrMapOvr>
  <p:transition spd="med">
    <p:checke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777" name="Content Placeholder 3" descr="Fig05_06.gif"/>
          <p:cNvPicPr>
            <a:picLocks noGrp="1" noChangeAspect="1"/>
          </p:cNvPicPr>
          <p:nvPr>
            <p:ph idx="4294967295"/>
          </p:nvPr>
        </p:nvPicPr>
        <p:blipFill rotWithShape="1">
          <a:blip r:embed="rId3"/>
          <a:srcRect b="6866"/>
          <a:stretch/>
        </p:blipFill>
        <p:spPr>
          <a:xfrm>
            <a:off x="838200" y="1219200"/>
            <a:ext cx="7364412" cy="4754880"/>
          </a:xfrm>
        </p:spPr>
      </p:pic>
      <p:sp>
        <p:nvSpPr>
          <p:cNvPr id="3" name="TextBox 2"/>
          <p:cNvSpPr txBox="1"/>
          <p:nvPr/>
        </p:nvSpPr>
        <p:spPr>
          <a:xfrm>
            <a:off x="457200" y="457200"/>
            <a:ext cx="8229600" cy="892552"/>
          </a:xfrm>
          <a:prstGeom prst="rect">
            <a:avLst/>
          </a:prstGeom>
          <a:noFill/>
        </p:spPr>
        <p:txBody>
          <a:bodyPr>
            <a:spAutoFit/>
          </a:bodyPr>
          <a:lstStyle/>
          <a:p>
            <a:pPr algn="ctr">
              <a:defRPr/>
            </a:pPr>
            <a:r>
              <a:rPr lang="en-US" sz="5200" b="1" spc="3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ea typeface="+mj-ea"/>
                <a:cs typeface="+mj-cs"/>
              </a:rPr>
              <a:t>Mutual Exclusion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0"/>
            <a:ext cx="8991600" cy="1371600"/>
          </a:xfrm>
        </p:spPr>
        <p:txBody>
          <a:bodyPr/>
          <a:lstStyle/>
          <a:p>
            <a:pPr algn="ct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Shared Data Protected by a Semaphore</a:t>
            </a:r>
          </a:p>
        </p:txBody>
      </p:sp>
      <p:pic>
        <p:nvPicPr>
          <p:cNvPr id="333826" name="Picture 2"/>
          <p:cNvPicPr>
            <a:picLocks noChangeAspect="1" noChangeArrowheads="1"/>
          </p:cNvPicPr>
          <p:nvPr/>
        </p:nvPicPr>
        <p:blipFill rotWithShape="1">
          <a:blip r:embed="rId3"/>
          <a:srcRect b="4434"/>
          <a:stretch/>
        </p:blipFill>
        <p:spPr bwMode="auto">
          <a:xfrm>
            <a:off x="1446009" y="1272931"/>
            <a:ext cx="6707391" cy="4754880"/>
          </a:xfrm>
          <a:prstGeom prst="rect">
            <a:avLst/>
          </a:prstGeom>
          <a:noFill/>
          <a:ln w="9525">
            <a:noFill/>
            <a:miter lim="800000"/>
            <a:headEnd/>
            <a:tailEnd/>
          </a:ln>
        </p:spPr>
      </p:pic>
    </p:spTree>
  </p:cSld>
  <p:clrMapOvr>
    <a:masterClrMapping/>
  </p:clrMapOvr>
  <p:transition spd="med">
    <p:check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7824788" cy="685800"/>
          </a:xfrm>
        </p:spPr>
        <p:txBody>
          <a:bodyPr>
            <a:normAutofit/>
          </a:bodyPr>
          <a:lstStyle/>
          <a:p>
            <a:pPr algn="ctr" eaLnBrk="1" fontAlgn="auto" hangingPunct="1">
              <a:spcAft>
                <a:spcPts val="0"/>
              </a:spcAft>
              <a:defRPr/>
            </a:pPr>
            <a:r>
              <a:rPr lang="en-US" sz="4400" b="1" dirty="0">
                <a:solidFill>
                  <a:schemeClr val="accent6">
                    <a:lumMod val="50000"/>
                  </a:schemeClr>
                </a:solidFill>
              </a:rPr>
              <a:t>Producer/Consumer Problem</a:t>
            </a:r>
          </a:p>
        </p:txBody>
      </p:sp>
      <p:graphicFrame>
        <p:nvGraphicFramePr>
          <p:cNvPr id="5" name="Diagram 4"/>
          <p:cNvGraphicFramePr/>
          <p:nvPr>
            <p:extLst>
              <p:ext uri="{D42A27DB-BD31-4B8C-83A1-F6EECF244321}">
                <p14:modId xmlns:p14="http://schemas.microsoft.com/office/powerpoint/2010/main" val="1890995991"/>
              </p:ext>
            </p:extLst>
          </p:nvPr>
        </p:nvGraphicFramePr>
        <p:xfrm>
          <a:off x="762000" y="1981200"/>
          <a:ext cx="76200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19213" y="0"/>
            <a:ext cx="7824787" cy="1323975"/>
          </a:xfrm>
        </p:spPr>
        <p:txBody>
          <a:bodyPr/>
          <a:lstStyle/>
          <a:p>
            <a:pPr algn="ctr" eaLnBrk="1" fontAlgn="auto" hangingPunct="1">
              <a:spcAft>
                <a:spcPts val="0"/>
              </a:spcAft>
              <a:defRPr/>
            </a:pPr>
            <a:r>
              <a:rPr lang="en-US" sz="4800" b="1" dirty="0">
                <a:solidFill>
                  <a:schemeClr val="accent6">
                    <a:lumMod val="50000"/>
                  </a:schemeClr>
                </a:solidFill>
              </a:rPr>
              <a:t>Buffer Structure</a:t>
            </a:r>
          </a:p>
        </p:txBody>
      </p:sp>
      <p:pic>
        <p:nvPicPr>
          <p:cNvPr id="337922" name="Content Placeholder 3" descr="Fig05_08.gif"/>
          <p:cNvPicPr>
            <a:picLocks noGrp="1" noChangeAspect="1"/>
          </p:cNvPicPr>
          <p:nvPr>
            <p:ph idx="4294967295"/>
          </p:nvPr>
        </p:nvPicPr>
        <p:blipFill rotWithShape="1">
          <a:blip r:embed="rId3"/>
          <a:srcRect b="10043"/>
          <a:stretch/>
        </p:blipFill>
        <p:spPr>
          <a:xfrm>
            <a:off x="914400" y="1600200"/>
            <a:ext cx="7772400" cy="4114800"/>
          </a:xfrm>
        </p:spPr>
      </p:pic>
    </p:spTree>
  </p:cSld>
  <p:clrMapOvr>
    <a:masterClrMapping/>
  </p:clrMapOvr>
  <p:transition spd="med">
    <p:checke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9969" name="Content Placeholder 3" descr="Fig05_09.gif"/>
          <p:cNvPicPr>
            <a:picLocks noGrp="1" noChangeAspect="1"/>
          </p:cNvPicPr>
          <p:nvPr>
            <p:ph idx="4294967295"/>
          </p:nvPr>
        </p:nvPicPr>
        <p:blipFill>
          <a:blip r:embed="rId3"/>
          <a:srcRect/>
          <a:stretch>
            <a:fillRect/>
          </a:stretch>
        </p:blipFill>
        <p:spPr>
          <a:xfrm>
            <a:off x="2335917" y="457200"/>
            <a:ext cx="5638800" cy="5732463"/>
          </a:xfrm>
        </p:spPr>
      </p:pic>
      <p:sp>
        <p:nvSpPr>
          <p:cNvPr id="7" name="Rectangle 6"/>
          <p:cNvSpPr/>
          <p:nvPr/>
        </p:nvSpPr>
        <p:spPr>
          <a:xfrm>
            <a:off x="752418" y="381000"/>
            <a:ext cx="1588705" cy="5029200"/>
          </a:xfrm>
          <a:prstGeom prst="rect">
            <a:avLst/>
          </a:prstGeom>
        </p:spPr>
        <p:txBody>
          <a:bodyPr vert="wordArtVert" anchor="ctr" anchorCtr="1">
            <a:spAutoFit/>
          </a:bodyPr>
          <a:lstStyle/>
          <a:p>
            <a:pPr algn="ctr">
              <a:defRPr/>
            </a:pPr>
            <a:r>
              <a:rPr lang="en-US" sz="2800" b="1" spc="2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Incorrect                 </a:t>
            </a:r>
          </a:p>
          <a:p>
            <a:pPr algn="ctr">
              <a:defRPr/>
            </a:pPr>
            <a:r>
              <a:rPr lang="en-US" sz="2800" b="1" spc="2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   Solution</a:t>
            </a:r>
          </a:p>
        </p:txBody>
      </p:sp>
    </p:spTree>
  </p:cSld>
  <p:clrMapOvr>
    <a:masterClrMapping/>
  </p:clrMapOvr>
  <p:transition spd="med">
    <p:check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2017" name="Picture 2"/>
          <p:cNvPicPr>
            <a:picLocks noChangeAspect="1" noChangeArrowheads="1"/>
          </p:cNvPicPr>
          <p:nvPr/>
        </p:nvPicPr>
        <p:blipFill>
          <a:blip r:embed="rId3"/>
          <a:srcRect/>
          <a:stretch>
            <a:fillRect/>
          </a:stretch>
        </p:blipFill>
        <p:spPr bwMode="auto">
          <a:xfrm>
            <a:off x="2514600" y="304800"/>
            <a:ext cx="5943600" cy="5822950"/>
          </a:xfrm>
          <a:prstGeom prst="rect">
            <a:avLst/>
          </a:prstGeom>
          <a:noFill/>
          <a:ln w="9525">
            <a:noFill/>
            <a:miter lim="800000"/>
            <a:headEnd/>
            <a:tailEnd/>
          </a:ln>
        </p:spPr>
      </p:pic>
      <p:sp>
        <p:nvSpPr>
          <p:cNvPr id="5" name="TextBox 4"/>
          <p:cNvSpPr txBox="1"/>
          <p:nvPr/>
        </p:nvSpPr>
        <p:spPr>
          <a:xfrm>
            <a:off x="818696" y="609600"/>
            <a:ext cx="1120691" cy="4495800"/>
          </a:xfrm>
          <a:prstGeom prst="rect">
            <a:avLst/>
          </a:prstGeom>
          <a:noFill/>
        </p:spPr>
        <p:txBody>
          <a:bodyPr vert="wordArtVert" anchor="ctr" anchorCtr="1">
            <a:spAutoFit/>
          </a:bodyPr>
          <a:lstStyle/>
          <a:p>
            <a:pPr algn="ctr">
              <a:defRPr/>
            </a:pPr>
            <a:r>
              <a:rPr lang="en-US" sz="2800" b="1" spc="3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Possible</a:t>
            </a:r>
            <a:r>
              <a:rPr lang="en-US" sz="2800" b="1" spc="300" dirty="0">
                <a:solidFill>
                  <a:schemeClr val="accent2">
                    <a:lumMod val="50000"/>
                  </a:schemeClr>
                </a:solidFill>
                <a:cs typeface="+mn-cs"/>
              </a:rPr>
              <a:t> </a:t>
            </a:r>
            <a:r>
              <a:rPr lang="en-US" sz="2800" b="1" spc="3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Solution</a:t>
            </a:r>
          </a:p>
        </p:txBody>
      </p:sp>
    </p:spTree>
  </p:cSld>
  <p:clrMapOvr>
    <a:masterClrMapping/>
  </p:clrMapOvr>
  <p:transition spd="med">
    <p:checke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065" name="Content Placeholder 3" descr="Fig05_10.gif"/>
          <p:cNvPicPr>
            <a:picLocks noGrp="1" noChangeAspect="1"/>
          </p:cNvPicPr>
          <p:nvPr>
            <p:ph idx="4294967295"/>
          </p:nvPr>
        </p:nvPicPr>
        <p:blipFill>
          <a:blip r:embed="rId3"/>
          <a:srcRect/>
          <a:stretch>
            <a:fillRect/>
          </a:stretch>
        </p:blipFill>
        <p:spPr>
          <a:xfrm>
            <a:off x="2590800" y="228600"/>
            <a:ext cx="5638800" cy="5732463"/>
          </a:xfrm>
        </p:spPr>
      </p:pic>
      <p:sp>
        <p:nvSpPr>
          <p:cNvPr id="5" name="Rectangle 4"/>
          <p:cNvSpPr/>
          <p:nvPr/>
        </p:nvSpPr>
        <p:spPr>
          <a:xfrm>
            <a:off x="889637" y="-1066800"/>
            <a:ext cx="1254318" cy="7315200"/>
          </a:xfrm>
          <a:prstGeom prst="rect">
            <a:avLst/>
          </a:prstGeom>
        </p:spPr>
        <p:txBody>
          <a:bodyPr vert="wordArtVert" anchor="ctr" anchorCtr="1">
            <a:spAutoFit/>
          </a:bodyPr>
          <a:lstStyle/>
          <a:p>
            <a:pPr algn="ctr">
              <a:defRPr/>
            </a:pPr>
            <a:r>
              <a:rPr lang="en-US" sz="3200" b="1" spc="3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Correct</a:t>
            </a:r>
          </a:p>
          <a:p>
            <a:pPr algn="ctr">
              <a:defRPr/>
            </a:pPr>
            <a:r>
              <a:rPr lang="en-US" sz="3200" b="1" spc="300" dirty="0">
                <a:solidFill>
                  <a:schemeClr val="accent2">
                    <a:lumMod val="50000"/>
                  </a:schemeClr>
                </a:solidFill>
                <a:cs typeface="+mn-cs"/>
              </a:rPr>
              <a:t> </a:t>
            </a:r>
            <a:r>
              <a:rPr lang="en-US" sz="3200" b="1" spc="3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Solution</a:t>
            </a:r>
          </a:p>
        </p:txBody>
      </p:sp>
      <p:sp>
        <p:nvSpPr>
          <p:cNvPr id="344067" name="TextBox 6"/>
          <p:cNvSpPr txBox="1">
            <a:spLocks noChangeArrowheads="1"/>
          </p:cNvSpPr>
          <p:nvPr/>
        </p:nvSpPr>
        <p:spPr bwMode="auto">
          <a:xfrm>
            <a:off x="1295400" y="6581775"/>
            <a:ext cx="8001000" cy="276225"/>
          </a:xfrm>
          <a:prstGeom prst="rect">
            <a:avLst/>
          </a:prstGeom>
          <a:noFill/>
          <a:ln w="9525">
            <a:noFill/>
            <a:miter lim="800000"/>
            <a:headEnd/>
            <a:tailEnd/>
          </a:ln>
        </p:spPr>
        <p:txBody>
          <a:bodyPr>
            <a:spAutoFit/>
          </a:bodyPr>
          <a:lstStyle/>
          <a:p>
            <a:r>
              <a:rPr lang="en-US" sz="1200"/>
              <a:t>Figure 5.10  A Correct Solution to the Infinite-Buffer Producer/Consumer Problem Using Binary Semaphores</a:t>
            </a:r>
          </a:p>
        </p:txBody>
      </p:sp>
    </p:spTree>
  </p:cSld>
  <p:clrMapOvr>
    <a:masterClrMapping/>
  </p:clrMapOvr>
  <p:transition spd="med">
    <p:checke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609600"/>
            <a:ext cx="990600" cy="5943600"/>
          </a:xfrm>
        </p:spPr>
        <p:txBody>
          <a:bodyPr vert="wordArtVert" anchor="ctr" anchorCtr="1">
            <a:normAutofit/>
          </a:bodyPr>
          <a:lstStyle/>
          <a:p>
            <a:pPr eaLnBrk="1" fontAlgn="auto" hangingPunct="1">
              <a:spcAft>
                <a:spcPts val="0"/>
              </a:spcAft>
              <a:defRPr/>
            </a:pPr>
            <a:r>
              <a:rPr lang="en-US" sz="2400" b="1" spc="300" dirty="0">
                <a:solidFill>
                  <a:schemeClr val="accent2">
                    <a:lumMod val="50000"/>
                  </a:schemeClr>
                </a:solidFill>
              </a:rPr>
              <a:t>Using </a:t>
            </a:r>
          </a:p>
        </p:txBody>
      </p:sp>
      <p:pic>
        <p:nvPicPr>
          <p:cNvPr id="346114" name="Content Placeholder 3" descr="Fig05_11.gif"/>
          <p:cNvPicPr>
            <a:picLocks noGrp="1" noChangeAspect="1"/>
          </p:cNvPicPr>
          <p:nvPr>
            <p:ph idx="4294967295"/>
          </p:nvPr>
        </p:nvPicPr>
        <p:blipFill rotWithShape="1">
          <a:blip r:embed="rId3"/>
          <a:srcRect b="10001"/>
          <a:stretch/>
        </p:blipFill>
        <p:spPr>
          <a:xfrm>
            <a:off x="1676400" y="685800"/>
            <a:ext cx="6629400" cy="5212080"/>
          </a:xfrm>
        </p:spPr>
      </p:pic>
      <p:sp>
        <p:nvSpPr>
          <p:cNvPr id="12" name="TextBox 11"/>
          <p:cNvSpPr txBox="1"/>
          <p:nvPr/>
        </p:nvSpPr>
        <p:spPr>
          <a:xfrm>
            <a:off x="1143000" y="1143000"/>
            <a:ext cx="877163" cy="5029200"/>
          </a:xfrm>
          <a:prstGeom prst="rect">
            <a:avLst/>
          </a:prstGeom>
          <a:noFill/>
        </p:spPr>
        <p:txBody>
          <a:bodyPr vert="wordArtVert" wrap="square">
            <a:spAutoFit/>
          </a:bodyPr>
          <a:lstStyle/>
          <a:p>
            <a:pPr algn="r">
              <a:lnSpc>
                <a:spcPts val="5400"/>
              </a:lnSpc>
              <a:defRPr/>
            </a:pPr>
            <a:r>
              <a:rPr lang="en-US" sz="2400" b="1" spc="300" dirty="0">
                <a:solidFill>
                  <a:schemeClr val="accent2">
                    <a:lumMod val="50000"/>
                  </a:schemeClr>
                </a:solidFill>
                <a:effectLst>
                  <a:outerShdw blurRad="50800" dist="38100" dir="2700000" algn="tl" rotWithShape="0">
                    <a:prstClr val="black">
                      <a:alpha val="40000"/>
                    </a:prstClr>
                  </a:outerShdw>
                </a:effectLst>
                <a:latin typeface="+mj-lt"/>
                <a:ea typeface="+mj-ea"/>
                <a:cs typeface="+mj-cs"/>
              </a:rPr>
              <a:t>Semaphores</a:t>
            </a:r>
          </a:p>
        </p:txBody>
      </p:sp>
    </p:spTree>
  </p:cSld>
  <p:clrMapOvr>
    <a:masterClrMapping/>
  </p:clrMapOvr>
  <p:transition spd="med">
    <p:checke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61" name="Picture 2"/>
          <p:cNvPicPr>
            <a:picLocks noChangeAspect="1" noChangeArrowheads="1"/>
          </p:cNvPicPr>
          <p:nvPr/>
        </p:nvPicPr>
        <p:blipFill rotWithShape="1">
          <a:blip r:embed="rId3"/>
          <a:srcRect b="10810"/>
          <a:stretch/>
        </p:blipFill>
        <p:spPr bwMode="auto">
          <a:xfrm>
            <a:off x="1828800" y="685800"/>
            <a:ext cx="6837363" cy="5029200"/>
          </a:xfrm>
          <a:prstGeom prst="rect">
            <a:avLst/>
          </a:prstGeom>
          <a:noFill/>
          <a:ln w="9525">
            <a:noFill/>
            <a:miter lim="800000"/>
            <a:headEnd/>
            <a:tailEnd/>
          </a:ln>
        </p:spPr>
      </p:pic>
      <p:sp>
        <p:nvSpPr>
          <p:cNvPr id="10" name="TextBox 9"/>
          <p:cNvSpPr txBox="1"/>
          <p:nvPr/>
        </p:nvSpPr>
        <p:spPr>
          <a:xfrm>
            <a:off x="228600" y="2286000"/>
            <a:ext cx="1752600" cy="1523494"/>
          </a:xfrm>
          <a:prstGeom prst="rect">
            <a:avLst/>
          </a:prstGeom>
          <a:noFill/>
        </p:spPr>
        <p:txBody>
          <a:bodyPr>
            <a:spAutoFit/>
          </a:bodyPr>
          <a:lstStyle/>
          <a:p>
            <a:pPr>
              <a:defRPr/>
            </a:pPr>
            <a:r>
              <a:rPr lang="en-US" sz="31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cs typeface="+mn-cs"/>
              </a:rPr>
              <a:t>Finite Circular Buffer</a:t>
            </a:r>
            <a:endParaRPr lang="en-US" sz="3100" dirty="0">
              <a:cs typeface="+mn-cs"/>
            </a:endParaRPr>
          </a:p>
        </p:txBody>
      </p:sp>
    </p:spTree>
  </p:cSld>
  <p:clrMapOvr>
    <a:masterClrMapping/>
  </p:clrMapOvr>
  <p:transition spd="med">
    <p:checke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idx="4294967295"/>
          </p:nvPr>
        </p:nvSpPr>
        <p:spPr>
          <a:xfrm>
            <a:off x="609599" y="-304799"/>
            <a:ext cx="1588841" cy="6602758"/>
          </a:xfrm>
        </p:spPr>
        <p:txBody>
          <a:bodyPr vert="wordArtVert" anchor="ctr" anchorCtr="1">
            <a:normAutofit fontScale="90000"/>
          </a:bodyPr>
          <a:lstStyle/>
          <a:p>
            <a:pPr eaLnBrk="1" fontAlgn="auto" hangingPunct="1">
              <a:spcAft>
                <a:spcPts val="0"/>
              </a:spcAft>
              <a:defRPr/>
            </a:pPr>
            <a:r>
              <a:rPr lang="en-US" sz="3200" b="1" spc="300" dirty="0">
                <a:solidFill>
                  <a:schemeClr val="accent2">
                    <a:lumMod val="50000"/>
                  </a:schemeClr>
                </a:solidFill>
              </a:rPr>
              <a:t>         Using </a:t>
            </a:r>
            <a:br>
              <a:rPr lang="en-US" sz="3200" b="1" spc="300" dirty="0">
                <a:solidFill>
                  <a:schemeClr val="accent2">
                    <a:lumMod val="50000"/>
                  </a:schemeClr>
                </a:solidFill>
              </a:rPr>
            </a:br>
            <a:r>
              <a:rPr lang="en-US" sz="4000" b="1" spc="300" dirty="0">
                <a:solidFill>
                  <a:schemeClr val="accent2">
                    <a:lumMod val="50000"/>
                  </a:schemeClr>
                </a:solidFill>
              </a:rPr>
              <a:t>Semaphore</a:t>
            </a:r>
          </a:p>
        </p:txBody>
      </p:sp>
      <p:pic>
        <p:nvPicPr>
          <p:cNvPr id="350210" name="Content Placeholder 3" descr="Fig05_13.gif"/>
          <p:cNvPicPr>
            <a:picLocks noGrp="1" noChangeAspect="1"/>
          </p:cNvPicPr>
          <p:nvPr>
            <p:ph idx="4294967295"/>
          </p:nvPr>
        </p:nvPicPr>
        <p:blipFill>
          <a:blip r:embed="rId3"/>
          <a:srcRect/>
          <a:stretch>
            <a:fillRect/>
          </a:stretch>
        </p:blipFill>
        <p:spPr>
          <a:xfrm>
            <a:off x="2209800" y="228600"/>
            <a:ext cx="6080125" cy="5791200"/>
          </a:xfrm>
        </p:spPr>
      </p:pic>
      <p:sp>
        <p:nvSpPr>
          <p:cNvPr id="350211" name="TextBox 7"/>
          <p:cNvSpPr txBox="1">
            <a:spLocks noChangeArrowheads="1"/>
          </p:cNvSpPr>
          <p:nvPr/>
        </p:nvSpPr>
        <p:spPr bwMode="auto">
          <a:xfrm>
            <a:off x="1143000" y="6550025"/>
            <a:ext cx="8305800" cy="307975"/>
          </a:xfrm>
          <a:prstGeom prst="rect">
            <a:avLst/>
          </a:prstGeom>
          <a:noFill/>
          <a:ln w="9525">
            <a:noFill/>
            <a:miter lim="800000"/>
            <a:headEnd/>
            <a:tailEnd/>
          </a:ln>
        </p:spPr>
        <p:txBody>
          <a:bodyPr>
            <a:spAutoFit/>
          </a:bodyPr>
          <a:lstStyle/>
          <a:p>
            <a:r>
              <a:rPr lang="en-US" sz="1400"/>
              <a:t>Figure 5.13  A Solution to the Bounded-Buffer Producer/Consumer Problem Using Semaphores</a:t>
            </a:r>
          </a:p>
        </p:txBody>
      </p:sp>
    </p:spTree>
  </p:cSld>
  <p:clrMapOvr>
    <a:masterClrMapping/>
  </p:clrMapOvr>
  <p:transition spd="med">
    <p:check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eaLnBrk="1" fontAlgn="auto" hangingPunct="1">
              <a:spcAft>
                <a:spcPts val="0"/>
              </a:spcAft>
              <a:defRPr/>
            </a:pPr>
            <a:r>
              <a:rPr lang="en-US" sz="4800" b="1" dirty="0">
                <a:ln w="1905"/>
                <a:solidFill>
                  <a:schemeClr val="accent6">
                    <a:lumMod val="75000"/>
                  </a:schemeClr>
                </a:solidFill>
                <a:effectLst>
                  <a:innerShdw blurRad="69850" dist="43180" dir="5400000">
                    <a:srgbClr val="000000">
                      <a:alpha val="65000"/>
                    </a:srgbClr>
                  </a:innerShdw>
                </a:effectLst>
              </a:rPr>
              <a:t>Implementation of Semaphores</a:t>
            </a:r>
          </a:p>
        </p:txBody>
      </p:sp>
      <p:sp>
        <p:nvSpPr>
          <p:cNvPr id="3" name="Content Placeholder 2"/>
          <p:cNvSpPr>
            <a:spLocks noGrp="1"/>
          </p:cNvSpPr>
          <p:nvPr>
            <p:ph sz="half" idx="1"/>
          </p:nvPr>
        </p:nvSpPr>
        <p:spPr>
          <a:xfrm>
            <a:off x="457200" y="2133600"/>
            <a:ext cx="8153400" cy="4267200"/>
          </a:xfrm>
        </p:spPr>
        <p:txBody>
          <a:bodyPr rtlCol="0">
            <a:normAutofit/>
          </a:bodyPr>
          <a:lstStyle/>
          <a:p>
            <a:pPr eaLnBrk="1" fontAlgn="auto" hangingPunct="1">
              <a:spcAft>
                <a:spcPts val="0"/>
              </a:spcAft>
              <a:defRPr/>
            </a:pPr>
            <a:r>
              <a:rPr lang="en-US" sz="3100" dirty="0">
                <a:solidFill>
                  <a:schemeClr val="tx1">
                    <a:lumMod val="85000"/>
                    <a:lumOff val="15000"/>
                  </a:schemeClr>
                </a:solidFill>
              </a:rPr>
              <a:t>Imperative that the </a:t>
            </a:r>
            <a:r>
              <a:rPr lang="en-US" sz="3100" dirty="0" err="1">
                <a:solidFill>
                  <a:schemeClr val="tx1">
                    <a:lumMod val="85000"/>
                    <a:lumOff val="15000"/>
                  </a:schemeClr>
                </a:solidFill>
                <a:latin typeface="Courier New"/>
              </a:rPr>
              <a:t>semWait</a:t>
            </a:r>
            <a:r>
              <a:rPr lang="en-US" sz="3100" dirty="0">
                <a:solidFill>
                  <a:schemeClr val="tx1">
                    <a:lumMod val="85000"/>
                    <a:lumOff val="15000"/>
                  </a:schemeClr>
                </a:solidFill>
              </a:rPr>
              <a:t> and </a:t>
            </a:r>
            <a:r>
              <a:rPr lang="en-US" sz="3100" dirty="0" err="1">
                <a:solidFill>
                  <a:schemeClr val="tx1">
                    <a:lumMod val="85000"/>
                    <a:lumOff val="15000"/>
                  </a:schemeClr>
                </a:solidFill>
                <a:latin typeface="Courier New"/>
              </a:rPr>
              <a:t>semSignal</a:t>
            </a:r>
            <a:r>
              <a:rPr lang="en-US" sz="3100" dirty="0">
                <a:solidFill>
                  <a:schemeClr val="tx1">
                    <a:lumMod val="85000"/>
                    <a:lumOff val="15000"/>
                  </a:schemeClr>
                </a:solidFill>
              </a:rPr>
              <a:t> operations be implemented as atomic primitives</a:t>
            </a:r>
          </a:p>
          <a:p>
            <a:pPr eaLnBrk="1" fontAlgn="auto" hangingPunct="1">
              <a:spcAft>
                <a:spcPts val="0"/>
              </a:spcAft>
              <a:defRPr/>
            </a:pPr>
            <a:r>
              <a:rPr lang="en-US" sz="3100" dirty="0">
                <a:solidFill>
                  <a:schemeClr val="tx1">
                    <a:lumMod val="85000"/>
                    <a:lumOff val="15000"/>
                  </a:schemeClr>
                </a:solidFill>
              </a:rPr>
              <a:t>Can be implemented in hardware or firmware</a:t>
            </a:r>
          </a:p>
          <a:p>
            <a:pPr eaLnBrk="1" fontAlgn="auto" hangingPunct="1">
              <a:spcAft>
                <a:spcPts val="0"/>
              </a:spcAft>
              <a:defRPr/>
            </a:pPr>
            <a:r>
              <a:rPr lang="en-US" sz="3100" dirty="0">
                <a:solidFill>
                  <a:schemeClr val="tx1">
                    <a:lumMod val="85000"/>
                    <a:lumOff val="15000"/>
                  </a:schemeClr>
                </a:solidFill>
              </a:rPr>
              <a:t>Software schemes such as Dekker’s or Peterson’s algorithms can be used</a:t>
            </a:r>
          </a:p>
          <a:p>
            <a:pPr eaLnBrk="1" fontAlgn="auto" hangingPunct="1">
              <a:spcAft>
                <a:spcPts val="0"/>
              </a:spcAft>
              <a:defRPr/>
            </a:pPr>
            <a:r>
              <a:rPr lang="en-US" sz="3100" dirty="0">
                <a:solidFill>
                  <a:schemeClr val="tx1">
                    <a:lumMod val="85000"/>
                    <a:lumOff val="15000"/>
                  </a:schemeClr>
                </a:solidFill>
              </a:rPr>
              <a:t>Use one of the hardware-supported     schemes for mutual exclusion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C00000"/>
                </a:solidFill>
              </a:rPr>
              <a:t>Review</a:t>
            </a:r>
          </a:p>
        </p:txBody>
      </p:sp>
      <p:sp>
        <p:nvSpPr>
          <p:cNvPr id="3" name="Content Placeholder 2"/>
          <p:cNvSpPr>
            <a:spLocks noGrp="1"/>
          </p:cNvSpPr>
          <p:nvPr>
            <p:ph sz="half" idx="1"/>
          </p:nvPr>
        </p:nvSpPr>
        <p:spPr/>
        <p:txBody>
          <a:bodyPr>
            <a:normAutofit/>
          </a:bodyPr>
          <a:lstStyle/>
          <a:p>
            <a:r>
              <a:rPr lang="en-US" sz="2400" dirty="0"/>
              <a:t>Concurrent processes, threads</a:t>
            </a:r>
          </a:p>
          <a:p>
            <a:r>
              <a:rPr lang="en-US" sz="2400" dirty="0"/>
              <a:t>Access to shared data/resources</a:t>
            </a:r>
          </a:p>
          <a:p>
            <a:r>
              <a:rPr lang="en-US" sz="2400" dirty="0"/>
              <a:t>Need to enforce mutual exclusion</a:t>
            </a:r>
          </a:p>
          <a:p>
            <a:r>
              <a:rPr lang="en-US" sz="2400" dirty="0"/>
              <a:t>Hardware mechanisms have limited usefulness</a:t>
            </a:r>
          </a:p>
          <a:p>
            <a:endParaRPr lang="en-US" dirty="0">
              <a:solidFill>
                <a:srgbClr val="C00000"/>
              </a:solidFill>
            </a:endParaRPr>
          </a:p>
        </p:txBody>
      </p:sp>
      <p:sp>
        <p:nvSpPr>
          <p:cNvPr id="4" name="Content Placeholder 3"/>
          <p:cNvSpPr>
            <a:spLocks noGrp="1"/>
          </p:cNvSpPr>
          <p:nvPr>
            <p:ph sz="half" idx="2"/>
          </p:nvPr>
        </p:nvSpPr>
        <p:spPr/>
        <p:txBody>
          <a:bodyPr>
            <a:normAutofit/>
          </a:bodyPr>
          <a:lstStyle/>
          <a:p>
            <a:r>
              <a:rPr lang="en-US" sz="2400" dirty="0"/>
              <a:t>Semaphores: OS mechanism for mutual exclusion &amp; other synchronization issues</a:t>
            </a:r>
          </a:p>
          <a:p>
            <a:r>
              <a:rPr lang="en-US" sz="2400" dirty="0"/>
              <a:t>Standard semaphore/counting</a:t>
            </a:r>
          </a:p>
          <a:p>
            <a:r>
              <a:rPr lang="en-US" sz="2400" dirty="0"/>
              <a:t>Binary semaphore</a:t>
            </a:r>
          </a:p>
          <a:p>
            <a:r>
              <a:rPr lang="en-US" sz="2400" dirty="0"/>
              <a:t>Producer/consumer problem</a:t>
            </a:r>
          </a:p>
          <a:p>
            <a:endParaRPr lang="en-US" sz="2400" dirty="0"/>
          </a:p>
        </p:txBody>
      </p:sp>
    </p:spTree>
    <p:extLst>
      <p:ext uri="{BB962C8B-B14F-4D97-AF65-F5344CB8AC3E}">
        <p14:creationId xmlns:p14="http://schemas.microsoft.com/office/powerpoint/2010/main" val="2752330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7848600" cy="1067748"/>
          </a:xfrm>
        </p:spPr>
        <p:txBody>
          <a:bodyPr/>
          <a:lstStyle/>
          <a:p>
            <a:pPr eaLnBrk="1" fontAlgn="auto" hangingPunct="1">
              <a:spcAft>
                <a:spcPts val="0"/>
              </a:spcAft>
              <a:defRPr/>
            </a:pPr>
            <a:r>
              <a:rPr lang="en-US" b="1" dirty="0">
                <a:ln w="1905"/>
                <a:solidFill>
                  <a:schemeClr val="accent6">
                    <a:lumMod val="75000"/>
                  </a:schemeClr>
                </a:solidFill>
                <a:effectLst>
                  <a:innerShdw blurRad="69850" dist="43180" dir="5400000">
                    <a:srgbClr val="000000">
                      <a:alpha val="65000"/>
                    </a:srgbClr>
                  </a:innerShdw>
                </a:effectLst>
              </a:rPr>
              <a:t>Readers/Writers Problem</a:t>
            </a:r>
          </a:p>
        </p:txBody>
      </p:sp>
      <p:sp>
        <p:nvSpPr>
          <p:cNvPr id="3" name="Content Placeholder 2"/>
          <p:cNvSpPr>
            <a:spLocks noGrp="1"/>
          </p:cNvSpPr>
          <p:nvPr>
            <p:ph idx="4294967295"/>
          </p:nvPr>
        </p:nvSpPr>
        <p:spPr>
          <a:xfrm>
            <a:off x="762000" y="1981200"/>
            <a:ext cx="8382000" cy="4572000"/>
          </a:xfrm>
        </p:spPr>
        <p:txBody>
          <a:bodyPr rtlCol="0">
            <a:normAutofit/>
          </a:bodyPr>
          <a:lstStyle/>
          <a:p>
            <a:pPr eaLnBrk="1" fontAlgn="auto" hangingPunct="1">
              <a:spcAft>
                <a:spcPts val="0"/>
              </a:spcAft>
              <a:defRPr/>
            </a:pPr>
            <a:r>
              <a:rPr lang="en-US" sz="2800" dirty="0">
                <a:solidFill>
                  <a:schemeClr val="tx1">
                    <a:lumMod val="85000"/>
                    <a:lumOff val="15000"/>
                  </a:schemeClr>
                </a:solidFill>
              </a:rPr>
              <a:t>A data area is shared among many processes</a:t>
            </a:r>
          </a:p>
          <a:p>
            <a:pPr lvl="2" eaLnBrk="1" fontAlgn="auto" hangingPunct="1">
              <a:spcAft>
                <a:spcPts val="0"/>
              </a:spcAft>
              <a:defRPr/>
            </a:pPr>
            <a:r>
              <a:rPr lang="en-US" sz="2600" dirty="0">
                <a:solidFill>
                  <a:schemeClr val="tx1">
                    <a:lumMod val="85000"/>
                    <a:lumOff val="15000"/>
                  </a:schemeClr>
                </a:solidFill>
              </a:rPr>
              <a:t>some processes only read the data area, (readers) and some only write to the data area (writers)</a:t>
            </a:r>
          </a:p>
          <a:p>
            <a:pPr eaLnBrk="1" fontAlgn="auto" hangingPunct="1">
              <a:spcAft>
                <a:spcPts val="0"/>
              </a:spcAft>
              <a:defRPr/>
            </a:pPr>
            <a:r>
              <a:rPr lang="en-US" sz="2800" dirty="0">
                <a:solidFill>
                  <a:schemeClr val="tx1">
                    <a:lumMod val="85000"/>
                    <a:lumOff val="15000"/>
                  </a:schemeClr>
                </a:solidFill>
              </a:rPr>
              <a:t>Conditions that must be satisfied:</a:t>
            </a:r>
          </a:p>
          <a:p>
            <a:pPr marL="1371600" lvl="2" indent="-514350" eaLnBrk="1" fontAlgn="auto" hangingPunct="1">
              <a:spcAft>
                <a:spcPts val="0"/>
              </a:spcAft>
              <a:buSzPct val="100000"/>
              <a:buFont typeface="+mj-lt"/>
              <a:buAutoNum type="arabicPeriod"/>
              <a:defRPr/>
            </a:pPr>
            <a:r>
              <a:rPr lang="en-NZ" sz="2800" dirty="0">
                <a:solidFill>
                  <a:schemeClr val="tx1">
                    <a:lumMod val="85000"/>
                    <a:lumOff val="15000"/>
                  </a:schemeClr>
                </a:solidFill>
              </a:rPr>
              <a:t>any number of readers may simultaneously read the file</a:t>
            </a:r>
          </a:p>
          <a:p>
            <a:pPr marL="1371600" lvl="2" indent="-514350" eaLnBrk="1" fontAlgn="auto" hangingPunct="1">
              <a:spcAft>
                <a:spcPts val="0"/>
              </a:spcAft>
              <a:buSzPct val="100000"/>
              <a:buFont typeface="+mj-lt"/>
              <a:buAutoNum type="arabicPeriod"/>
              <a:defRPr/>
            </a:pPr>
            <a:r>
              <a:rPr lang="en-NZ" sz="2800" dirty="0">
                <a:solidFill>
                  <a:schemeClr val="tx1">
                    <a:lumMod val="85000"/>
                    <a:lumOff val="15000"/>
                  </a:schemeClr>
                </a:solidFill>
              </a:rPr>
              <a:t>only one writer at a time may write to the file</a:t>
            </a:r>
          </a:p>
          <a:p>
            <a:pPr marL="1371600" lvl="2" indent="-514350" eaLnBrk="1" fontAlgn="auto" hangingPunct="1">
              <a:spcAft>
                <a:spcPts val="0"/>
              </a:spcAft>
              <a:buSzPct val="100000"/>
              <a:buFont typeface="+mj-lt"/>
              <a:buAutoNum type="arabicPeriod"/>
              <a:defRPr/>
            </a:pPr>
            <a:r>
              <a:rPr lang="en-NZ" sz="2800" dirty="0">
                <a:solidFill>
                  <a:schemeClr val="tx1">
                    <a:lumMod val="85000"/>
                    <a:lumOff val="15000"/>
                  </a:schemeClr>
                </a:solidFill>
              </a:rPr>
              <a:t>if a writer is writing to the file, no reader may  read it</a:t>
            </a:r>
            <a:endParaRPr lang="en-US" sz="2800" dirty="0">
              <a:solidFill>
                <a:schemeClr val="tx1">
                  <a:lumMod val="85000"/>
                  <a:lumOff val="15000"/>
                </a:schemeClr>
              </a:solidFill>
            </a:endParaRPr>
          </a:p>
          <a:p>
            <a:pPr eaLnBrk="1" fontAlgn="auto" hangingPunct="1">
              <a:spcAft>
                <a:spcPts val="0"/>
              </a:spcAft>
              <a:defRPr/>
            </a:pPr>
            <a:endParaRPr lang="en-US" dirty="0">
              <a:solidFill>
                <a:schemeClr val="tx1">
                  <a:lumMod val="85000"/>
                  <a:lumOff val="15000"/>
                </a:schemeClr>
              </a:solidFill>
            </a:endParaRPr>
          </a:p>
        </p:txBody>
      </p:sp>
    </p:spTree>
    <p:extLst>
      <p:ext uri="{BB962C8B-B14F-4D97-AF65-F5344CB8AC3E}">
        <p14:creationId xmlns:p14="http://schemas.microsoft.com/office/powerpoint/2010/main" val="1573051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50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3" end="3"/>
                                            </p:txEl>
                                          </p:spTgt>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1000"/>
                                        <p:tgtEl>
                                          <p:spTgt spid="3">
                                            <p:txEl>
                                              <p:pRg st="4" end="4"/>
                                            </p:txEl>
                                          </p:spTgt>
                                        </p:tgtEl>
                                      </p:cBhvr>
                                    </p:animEffect>
                                    <p:anim calcmode="lin" valueType="num">
                                      <p:cBhvr>
                                        <p:cTn id="1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3">
                                            <p:txEl>
                                              <p:pRg st="4" end="4"/>
                                            </p:txEl>
                                          </p:spTgt>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900" decel="100000" fill="hold"/>
                                        <p:tgtEl>
                                          <p:spTgt spid="3">
                                            <p:txEl>
                                              <p:pRg st="5" end="5"/>
                                            </p:txEl>
                                          </p:spTgt>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3">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533400"/>
            <a:ext cx="8763000" cy="762000"/>
          </a:xfrm>
        </p:spPr>
        <p:txBody>
          <a:bodyPr>
            <a:normAutofit fontScale="90000"/>
          </a:bodyPr>
          <a:lstStyle/>
          <a:p>
            <a:pPr algn="ctr" eaLnBrk="1" fontAlgn="auto" hangingPunct="1">
              <a:spcAft>
                <a:spcPts val="0"/>
              </a:spcAft>
              <a:defRPr/>
            </a:pPr>
            <a:br>
              <a:rPr lang="en-US" sz="4800" b="1" dirty="0">
                <a:solidFill>
                  <a:schemeClr val="accent6">
                    <a:lumMod val="50000"/>
                  </a:schemeClr>
                </a:solidFill>
              </a:rPr>
            </a:br>
            <a:r>
              <a:rPr lang="en-US" sz="4800" b="1" dirty="0">
                <a:solidFill>
                  <a:schemeClr val="accent6">
                    <a:lumMod val="50000"/>
                  </a:schemeClr>
                </a:solidFill>
              </a:rPr>
              <a:t>Readers Have Priority</a:t>
            </a:r>
          </a:p>
        </p:txBody>
      </p:sp>
      <p:pic>
        <p:nvPicPr>
          <p:cNvPr id="393218" name="Content Placeholder 3" descr="Fig05_22.gif"/>
          <p:cNvPicPr>
            <a:picLocks noGrp="1" noChangeAspect="1"/>
          </p:cNvPicPr>
          <p:nvPr>
            <p:ph idx="4294967295"/>
          </p:nvPr>
        </p:nvPicPr>
        <p:blipFill>
          <a:blip r:embed="rId3"/>
          <a:srcRect/>
          <a:stretch>
            <a:fillRect/>
          </a:stretch>
        </p:blipFill>
        <p:spPr>
          <a:xfrm>
            <a:off x="2057400" y="1375223"/>
            <a:ext cx="4953000" cy="4883695"/>
          </a:xfrm>
        </p:spPr>
      </p:pic>
    </p:spTree>
    <p:extLst>
      <p:ext uri="{BB962C8B-B14F-4D97-AF65-F5344CB8AC3E}">
        <p14:creationId xmlns:p14="http://schemas.microsoft.com/office/powerpoint/2010/main" val="1749458834"/>
      </p:ext>
    </p:extLst>
  </p:cSld>
  <p:clrMapOvr>
    <a:masterClrMapping/>
  </p:clrMapOvr>
  <p:transition spd="med">
    <p:checke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6200" y="304800"/>
            <a:ext cx="8229600" cy="914400"/>
          </a:xfrm>
        </p:spPr>
        <p:txBody>
          <a:bodyPr>
            <a:normAutofit/>
          </a:bodyPr>
          <a:lstStyle/>
          <a:p>
            <a:pPr algn="l" eaLnBrk="1" fontAlgn="auto" hangingPunct="1">
              <a:spcAft>
                <a:spcPts val="0"/>
              </a:spcAft>
              <a:defRPr/>
            </a:pPr>
            <a:r>
              <a:rPr lang="en-US" b="1" dirty="0">
                <a:ln w="1905"/>
                <a:solidFill>
                  <a:schemeClr val="accent6">
                    <a:lumMod val="75000"/>
                  </a:schemeClr>
                </a:solidFill>
                <a:effectLst>
                  <a:innerShdw blurRad="69850" dist="43180" dir="5400000">
                    <a:srgbClr val="000000">
                      <a:alpha val="65000"/>
                    </a:srgbClr>
                  </a:innerShdw>
                </a:effectLst>
              </a:rPr>
              <a:t>Writers Have Priority</a:t>
            </a:r>
          </a:p>
        </p:txBody>
      </p:sp>
      <p:pic>
        <p:nvPicPr>
          <p:cNvPr id="395266" name="Content Placeholder 3" descr="Fig05_23a.gif"/>
          <p:cNvPicPr>
            <a:picLocks noGrp="1" noChangeAspect="1"/>
          </p:cNvPicPr>
          <p:nvPr>
            <p:ph idx="4294967295"/>
          </p:nvPr>
        </p:nvPicPr>
        <p:blipFill>
          <a:blip r:embed="rId3"/>
          <a:srcRect/>
          <a:stretch>
            <a:fillRect/>
          </a:stretch>
        </p:blipFill>
        <p:spPr>
          <a:xfrm>
            <a:off x="0" y="1584649"/>
            <a:ext cx="4495800" cy="4587551"/>
          </a:xfrm>
        </p:spPr>
      </p:pic>
      <p:pic>
        <p:nvPicPr>
          <p:cNvPr id="395268" name="Content Placeholder 3" descr="Fig05_23b.gif"/>
          <p:cNvPicPr>
            <a:picLocks noChangeAspect="1"/>
          </p:cNvPicPr>
          <p:nvPr/>
        </p:nvPicPr>
        <p:blipFill>
          <a:blip r:embed="rId4"/>
          <a:srcRect/>
          <a:stretch>
            <a:fillRect/>
          </a:stretch>
        </p:blipFill>
        <p:spPr bwMode="auto">
          <a:xfrm>
            <a:off x="4648200" y="1628775"/>
            <a:ext cx="4461955" cy="4619625"/>
          </a:xfrm>
          <a:prstGeom prst="rect">
            <a:avLst/>
          </a:prstGeom>
          <a:noFill/>
          <a:ln w="9525">
            <a:noFill/>
            <a:miter lim="800000"/>
            <a:headEnd/>
            <a:tailEnd/>
          </a:ln>
        </p:spPr>
      </p:pic>
    </p:spTree>
    <p:extLst>
      <p:ext uri="{BB962C8B-B14F-4D97-AF65-F5344CB8AC3E}">
        <p14:creationId xmlns:p14="http://schemas.microsoft.com/office/powerpoint/2010/main" val="1014623135"/>
      </p:ext>
    </p:extLst>
  </p:cSld>
  <p:clrMapOvr>
    <a:masterClrMapping/>
  </p:clrMapOvr>
  <p:transition spd="med">
    <p:checke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016000" y="147638"/>
            <a:ext cx="7670800" cy="576262"/>
          </a:xfrm>
        </p:spPr>
        <p:txBody>
          <a:bodyPr>
            <a:normAutofit fontScale="90000"/>
          </a:bodyPr>
          <a:lstStyle/>
          <a:p>
            <a:pPr eaLnBrk="1" hangingPunct="1"/>
            <a:r>
              <a:rPr lang="en-US" altLang="en-US"/>
              <a:t>Dining-Philosophers Problem</a:t>
            </a:r>
          </a:p>
        </p:txBody>
      </p:sp>
      <p:sp>
        <p:nvSpPr>
          <p:cNvPr id="40963" name="Rectangle 3"/>
          <p:cNvSpPr>
            <a:spLocks noGrp="1" noChangeArrowheads="1"/>
          </p:cNvSpPr>
          <p:nvPr>
            <p:ph idx="1"/>
          </p:nvPr>
        </p:nvSpPr>
        <p:spPr>
          <a:xfrm>
            <a:off x="928688" y="3403600"/>
            <a:ext cx="6908800" cy="2765425"/>
          </a:xfrm>
        </p:spPr>
        <p:txBody>
          <a:bodyPr/>
          <a:lstStyle/>
          <a:p>
            <a:pPr>
              <a:tabLst>
                <a:tab pos="1365250" algn="l"/>
                <a:tab pos="1538288" algn="l"/>
              </a:tabLst>
            </a:pPr>
            <a:r>
              <a:rPr lang="en-US" altLang="en-US" sz="1600"/>
              <a:t>Philosophers spend their lives alternating thinking and eating</a:t>
            </a:r>
          </a:p>
          <a:p>
            <a:pPr>
              <a:tabLst>
                <a:tab pos="1365250" algn="l"/>
                <a:tab pos="1538288" algn="l"/>
              </a:tabLst>
            </a:pPr>
            <a:r>
              <a:rPr lang="en-US" altLang="en-US" sz="1600"/>
              <a:t>Don’</a:t>
            </a:r>
            <a:r>
              <a:rPr lang="en-US" altLang="ja-JP" sz="1600"/>
              <a:t>t interact with their neighbors, occasionally try to pick up 2 chopsticks (one at a time) to eat from bowl</a:t>
            </a:r>
          </a:p>
          <a:p>
            <a:pPr lvl="1">
              <a:tabLst>
                <a:tab pos="1365250" algn="l"/>
                <a:tab pos="1538288" algn="l"/>
              </a:tabLst>
            </a:pPr>
            <a:r>
              <a:rPr lang="en-US" altLang="en-US" sz="1600"/>
              <a:t>Need both to eat, then release both when done</a:t>
            </a:r>
          </a:p>
          <a:p>
            <a:pPr>
              <a:tabLst>
                <a:tab pos="1365250" algn="l"/>
                <a:tab pos="1538288" algn="l"/>
              </a:tabLst>
            </a:pPr>
            <a:r>
              <a:rPr lang="en-US" altLang="en-US" sz="1600"/>
              <a:t>In the case of 5 philosophers</a:t>
            </a:r>
          </a:p>
          <a:p>
            <a:pPr lvl="1">
              <a:tabLst>
                <a:tab pos="1365250" algn="l"/>
                <a:tab pos="1538288" algn="l"/>
              </a:tabLst>
            </a:pPr>
            <a:r>
              <a:rPr lang="en-US" altLang="en-US" sz="1600"/>
              <a:t>Shared data </a:t>
            </a:r>
          </a:p>
          <a:p>
            <a:pPr lvl="2">
              <a:tabLst>
                <a:tab pos="1365250" algn="l"/>
                <a:tab pos="1538288" algn="l"/>
              </a:tabLst>
            </a:pPr>
            <a:r>
              <a:rPr lang="en-US" altLang="en-US" sz="1600"/>
              <a:t>Bowl of rice (data set)</a:t>
            </a:r>
          </a:p>
          <a:p>
            <a:pPr lvl="2">
              <a:tabLst>
                <a:tab pos="1365250" algn="l"/>
                <a:tab pos="1538288" algn="l"/>
              </a:tabLst>
            </a:pPr>
            <a:r>
              <a:rPr lang="en-US" altLang="en-US" sz="1600"/>
              <a:t>Semaphore </a:t>
            </a:r>
            <a:r>
              <a:rPr lang="en-US" altLang="en-US" sz="1600">
                <a:solidFill>
                  <a:srgbClr val="FF0000"/>
                </a:solidFill>
              </a:rPr>
              <a:t>chopstick [5]</a:t>
            </a:r>
            <a:r>
              <a:rPr lang="en-US" altLang="en-US" sz="1600"/>
              <a:t> initialized to 1</a:t>
            </a:r>
          </a:p>
        </p:txBody>
      </p:sp>
      <p:pic>
        <p:nvPicPr>
          <p:cNvPr id="40964" name="Picture 5"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663" y="1079500"/>
            <a:ext cx="2208212"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79720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38225" y="161925"/>
            <a:ext cx="7866063" cy="576263"/>
          </a:xfrm>
        </p:spPr>
        <p:txBody>
          <a:bodyPr/>
          <a:lstStyle/>
          <a:p>
            <a:pPr eaLnBrk="1" hangingPunct="1"/>
            <a:r>
              <a:rPr lang="en-US" altLang="en-US" sz="3000"/>
              <a:t>  Dining-Philosophers Problem Algorithm</a:t>
            </a:r>
          </a:p>
        </p:txBody>
      </p:sp>
      <p:sp>
        <p:nvSpPr>
          <p:cNvPr id="41987" name="Rectangle 3"/>
          <p:cNvSpPr>
            <a:spLocks noGrp="1" noChangeArrowheads="1"/>
          </p:cNvSpPr>
          <p:nvPr>
            <p:ph idx="1"/>
          </p:nvPr>
        </p:nvSpPr>
        <p:spPr>
          <a:xfrm>
            <a:off x="827088" y="1119188"/>
            <a:ext cx="7107237" cy="4784725"/>
          </a:xfrm>
        </p:spPr>
        <p:txBody>
          <a:bodyPr/>
          <a:lstStyle/>
          <a:p>
            <a:pPr marL="376238" indent="-376238">
              <a:lnSpc>
                <a:spcPct val="90000"/>
              </a:lnSpc>
              <a:tabLst>
                <a:tab pos="1709738" algn="l"/>
                <a:tab pos="2001838" algn="l"/>
                <a:tab pos="2227263" algn="l"/>
                <a:tab pos="2454275" algn="l"/>
              </a:tabLst>
            </a:pPr>
            <a:r>
              <a:rPr lang="en-US" altLang="en-US" dirty="0"/>
              <a:t>The structure of Philosopher</a:t>
            </a:r>
            <a:r>
              <a:rPr lang="en-US" altLang="en-US" i="1" dirty="0">
                <a:solidFill>
                  <a:srgbClr val="0000FF"/>
                </a:solidFill>
              </a:rPr>
              <a:t> i</a:t>
            </a:r>
            <a:r>
              <a:rPr lang="en-US" altLang="en-US" dirty="0"/>
              <a:t>:</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do {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wait (chopstick[</a:t>
            </a:r>
            <a:r>
              <a:rPr lang="en-US" altLang="en-US" sz="1600" b="1" dirty="0" err="1">
                <a:solidFill>
                  <a:srgbClr val="000000"/>
                </a:solidFill>
                <a:latin typeface="Courier New" panose="02070309020205020404" pitchFamily="49" charset="0"/>
              </a:rPr>
              <a:t>i</a:t>
            </a:r>
            <a:r>
              <a:rPr lang="en-US" altLang="en-US" sz="1600" b="1" dirty="0">
                <a:solidFill>
                  <a:srgbClr val="000000"/>
                </a:solidFill>
                <a:latin typeface="Courier New" panose="02070309020205020404" pitchFamily="49" charset="0"/>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wait (</a:t>
            </a:r>
            <a:r>
              <a:rPr lang="en-US" altLang="en-US" sz="1600" b="1" dirty="0" err="1">
                <a:solidFill>
                  <a:srgbClr val="000000"/>
                </a:solidFill>
                <a:latin typeface="Courier New" panose="02070309020205020404" pitchFamily="49" charset="0"/>
              </a:rPr>
              <a:t>chopStick</a:t>
            </a: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i</a:t>
            </a:r>
            <a:r>
              <a:rPr lang="en-US" altLang="en-US" sz="1600" b="1" dirty="0">
                <a:solidFill>
                  <a:srgbClr val="000000"/>
                </a:solidFill>
                <a:latin typeface="Courier New" panose="02070309020205020404" pitchFamily="49" charset="0"/>
              </a:rPr>
              <a:t> + 1) % 5]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  eat</a:t>
            </a: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sz="1600" b="1" dirty="0">
              <a:solidFill>
                <a:srgbClr val="000000"/>
              </a:solidFill>
              <a:latin typeface="Courier New" panose="02070309020205020404" pitchFamily="49" charset="0"/>
            </a:endParaRP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signal (chopstick[</a:t>
            </a:r>
            <a:r>
              <a:rPr lang="en-US" altLang="en-US" sz="1600" b="1" dirty="0" err="1">
                <a:solidFill>
                  <a:srgbClr val="000000"/>
                </a:solidFill>
                <a:latin typeface="Courier New" panose="02070309020205020404" pitchFamily="49" charset="0"/>
              </a:rPr>
              <a:t>i</a:t>
            </a:r>
            <a:r>
              <a:rPr lang="en-US" altLang="en-US" sz="1600" b="1" dirty="0">
                <a:solidFill>
                  <a:srgbClr val="000000"/>
                </a:solidFill>
                <a:latin typeface="Courier New" panose="02070309020205020404" pitchFamily="49" charset="0"/>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signal (chopstick[ (</a:t>
            </a:r>
            <a:r>
              <a:rPr lang="en-US" altLang="en-US" sz="1600" b="1" dirty="0" err="1">
                <a:solidFill>
                  <a:srgbClr val="000000"/>
                </a:solidFill>
                <a:latin typeface="Courier New" panose="02070309020205020404" pitchFamily="49" charset="0"/>
              </a:rPr>
              <a:t>i</a:t>
            </a:r>
            <a:r>
              <a:rPr lang="en-US" altLang="en-US" sz="1600" b="1" dirty="0">
                <a:solidFill>
                  <a:srgbClr val="000000"/>
                </a:solidFill>
                <a:latin typeface="Courier New" panose="02070309020205020404" pitchFamily="49" charset="0"/>
              </a:rPr>
              <a:t> + 1) % 5]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  think</a:t>
            </a: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b="1" dirty="0">
              <a:solidFill>
                <a:srgbClr val="000000"/>
              </a:solidFill>
              <a:latin typeface="Courier New" panose="02070309020205020404" pitchFamily="49" charset="0"/>
            </a:endParaRP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dirty="0">
                <a:solidFill>
                  <a:srgbClr val="000000"/>
                </a:solidFill>
                <a:latin typeface="Courier New" panose="02070309020205020404" pitchFamily="49" charset="0"/>
              </a:rPr>
              <a:t>} while (TRUE);</a:t>
            </a:r>
            <a:endParaRPr lang="en-US" altLang="en-US" sz="1600" dirty="0">
              <a:solidFill>
                <a:srgbClr val="0000FF"/>
              </a:solidFill>
            </a:endParaRPr>
          </a:p>
          <a:p>
            <a:pPr marL="376238" indent="-376238">
              <a:lnSpc>
                <a:spcPct val="90000"/>
              </a:lnSpc>
              <a:tabLst>
                <a:tab pos="1709738" algn="l"/>
                <a:tab pos="2001838" algn="l"/>
                <a:tab pos="2227263" algn="l"/>
                <a:tab pos="2454275" algn="l"/>
              </a:tabLst>
            </a:pPr>
            <a:r>
              <a:rPr lang="en-US" altLang="en-US" dirty="0"/>
              <a:t>  What is the problem with this algorithm?</a:t>
            </a: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dirty="0">
              <a:solidFill>
                <a:srgbClr val="0000FF"/>
              </a:solidFill>
            </a:endParaRPr>
          </a:p>
        </p:txBody>
      </p:sp>
    </p:spTree>
    <p:extLst>
      <p:ext uri="{BB962C8B-B14F-4D97-AF65-F5344CB8AC3E}">
        <p14:creationId xmlns:p14="http://schemas.microsoft.com/office/powerpoint/2010/main" val="5894336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025525" y="142875"/>
            <a:ext cx="8002588" cy="576263"/>
          </a:xfrm>
        </p:spPr>
        <p:txBody>
          <a:bodyPr/>
          <a:lstStyle/>
          <a:p>
            <a:pPr eaLnBrk="1" hangingPunct="1"/>
            <a:r>
              <a:rPr lang="en-US" altLang="en-US" sz="2400"/>
              <a:t>Dining-Philosophers Problem Algorithm (Cont.)</a:t>
            </a:r>
          </a:p>
        </p:txBody>
      </p:sp>
      <p:sp>
        <p:nvSpPr>
          <p:cNvPr id="43011" name="Rectangle 3"/>
          <p:cNvSpPr>
            <a:spLocks noGrp="1" noChangeArrowheads="1"/>
          </p:cNvSpPr>
          <p:nvPr>
            <p:ph idx="1"/>
          </p:nvPr>
        </p:nvSpPr>
        <p:spPr>
          <a:xfrm>
            <a:off x="885825" y="1223963"/>
            <a:ext cx="6442075" cy="4860925"/>
          </a:xfrm>
        </p:spPr>
        <p:txBody>
          <a:bodyPr/>
          <a:lstStyle/>
          <a:p>
            <a:r>
              <a:rPr lang="en-US" altLang="en-US"/>
              <a:t>Deadlock handling</a:t>
            </a:r>
          </a:p>
          <a:p>
            <a:pPr lvl="1"/>
            <a:r>
              <a:rPr lang="en-US" altLang="en-US"/>
              <a:t> Allow at most 4 philosophers to be sitting simultaneously at  the table.</a:t>
            </a:r>
          </a:p>
          <a:p>
            <a:pPr lvl="1"/>
            <a:r>
              <a:rPr lang="en-US" altLang="en-US"/>
              <a:t> Allow a philosopher to pick up  the forks only if both are available (picking must be done in a critical section.</a:t>
            </a:r>
          </a:p>
          <a:p>
            <a:pPr lvl="1"/>
            <a:r>
              <a:rPr lang="en-US" altLang="en-US"/>
              <a:t> Use an asymmetric solution  -- an odd-numbered  philosopher picks  up first the left chopstick and then the right chopstick. Even-numbered  philosopher picks  up first the right chopstick and then the left chopstick. </a:t>
            </a:r>
          </a:p>
          <a:p>
            <a:pPr lvl="1"/>
            <a:endParaRPr lang="en-US" altLang="en-US"/>
          </a:p>
          <a:p>
            <a:pPr>
              <a:buFont typeface="Monotype Sorts" pitchFamily="-84" charset="2"/>
              <a:buNone/>
            </a:pPr>
            <a:endParaRPr lang="en-US" altLang="en-US"/>
          </a:p>
          <a:p>
            <a:endParaRPr lang="en-US" altLang="en-US"/>
          </a:p>
          <a:p>
            <a:endParaRPr lang="en-US" altLang="en-US"/>
          </a:p>
        </p:txBody>
      </p:sp>
    </p:spTree>
    <p:extLst>
      <p:ext uri="{BB962C8B-B14F-4D97-AF65-F5344CB8AC3E}">
        <p14:creationId xmlns:p14="http://schemas.microsoft.com/office/powerpoint/2010/main" val="22958131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923925" y="190500"/>
            <a:ext cx="7762875" cy="576263"/>
          </a:xfrm>
        </p:spPr>
        <p:txBody>
          <a:bodyPr>
            <a:normAutofit fontScale="90000"/>
          </a:bodyPr>
          <a:lstStyle/>
          <a:p>
            <a:pPr eaLnBrk="1" hangingPunct="1"/>
            <a:r>
              <a:rPr lang="en-US" altLang="en-US"/>
              <a:t>Problems with Semaphores</a:t>
            </a:r>
          </a:p>
        </p:txBody>
      </p:sp>
      <p:sp>
        <p:nvSpPr>
          <p:cNvPr id="44035" name="Rectangle 3"/>
          <p:cNvSpPr>
            <a:spLocks noGrp="1" noChangeArrowheads="1"/>
          </p:cNvSpPr>
          <p:nvPr>
            <p:ph idx="1"/>
          </p:nvPr>
        </p:nvSpPr>
        <p:spPr>
          <a:xfrm>
            <a:off x="827088" y="1282700"/>
            <a:ext cx="6959600" cy="4860925"/>
          </a:xfrm>
        </p:spPr>
        <p:txBody>
          <a:bodyPr/>
          <a:lstStyle/>
          <a:p>
            <a:r>
              <a:rPr lang="en-US" altLang="en-US"/>
              <a:t> Incorrect use of semaphore operations:</a:t>
            </a:r>
            <a:br>
              <a:rPr lang="en-US" altLang="en-US"/>
            </a:br>
            <a:endParaRPr lang="en-US" altLang="en-US"/>
          </a:p>
          <a:p>
            <a:pPr lvl="1"/>
            <a:r>
              <a:rPr lang="en-US" altLang="en-US"/>
              <a:t> signal (mutex)  ….  wait (mutex)</a:t>
            </a:r>
            <a:br>
              <a:rPr lang="en-US" altLang="en-US"/>
            </a:br>
            <a:endParaRPr lang="en-US" altLang="en-US"/>
          </a:p>
          <a:p>
            <a:pPr lvl="1"/>
            <a:r>
              <a:rPr lang="en-US" altLang="en-US"/>
              <a:t> wait (mutex)  …  wait (mutex)</a:t>
            </a:r>
          </a:p>
          <a:p>
            <a:pPr lvl="1"/>
            <a:endParaRPr lang="en-US" altLang="en-US"/>
          </a:p>
          <a:p>
            <a:pPr lvl="1"/>
            <a:r>
              <a:rPr lang="en-US" altLang="en-US"/>
              <a:t> Omitting  of wait (mutex) or signal (mutex) (or both)</a:t>
            </a:r>
          </a:p>
          <a:p>
            <a:pPr lvl="1"/>
            <a:endParaRPr lang="en-US" altLang="en-US"/>
          </a:p>
          <a:p>
            <a:r>
              <a:rPr lang="en-US" altLang="en-US"/>
              <a:t>Deadlock and starvation are possible.</a:t>
            </a:r>
          </a:p>
          <a:p>
            <a:endParaRPr lang="en-US" altLang="en-US"/>
          </a:p>
          <a:p>
            <a:endParaRPr lang="en-US" altLang="en-US"/>
          </a:p>
          <a:p>
            <a:endParaRPr lang="en-US" altLang="en-US"/>
          </a:p>
        </p:txBody>
      </p:sp>
    </p:spTree>
    <p:extLst>
      <p:ext uri="{BB962C8B-B14F-4D97-AF65-F5344CB8AC3E}">
        <p14:creationId xmlns:p14="http://schemas.microsoft.com/office/powerpoint/2010/main" val="34944414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457200"/>
            <a:ext cx="7824788" cy="1067748"/>
          </a:xfrm>
        </p:spPr>
        <p:txBody>
          <a:bodyPr/>
          <a:lstStyle/>
          <a:p>
            <a:pPr algn="l" eaLnBrk="1" fontAlgn="auto" hangingPunct="1">
              <a:spcAft>
                <a:spcPts val="0"/>
              </a:spcAft>
              <a:defRPr/>
            </a:pPr>
            <a:r>
              <a:rPr lang="en-US" b="1" dirty="0">
                <a:ln w="1905"/>
                <a:solidFill>
                  <a:schemeClr val="accent6">
                    <a:lumMod val="75000"/>
                  </a:schemeClr>
                </a:solidFill>
                <a:effectLst>
                  <a:innerShdw blurRad="69850" dist="43180" dir="5400000">
                    <a:srgbClr val="000000">
                      <a:alpha val="65000"/>
                    </a:srgbClr>
                  </a:innerShdw>
                </a:effectLst>
              </a:rPr>
              <a:t>Monitors</a:t>
            </a:r>
          </a:p>
        </p:txBody>
      </p:sp>
      <p:sp>
        <p:nvSpPr>
          <p:cNvPr id="5" name="Content Placeholder 4"/>
          <p:cNvSpPr>
            <a:spLocks noGrp="1"/>
          </p:cNvSpPr>
          <p:nvPr>
            <p:ph sz="half" idx="1"/>
          </p:nvPr>
        </p:nvSpPr>
        <p:spPr>
          <a:xfrm>
            <a:off x="381000" y="2057400"/>
            <a:ext cx="8382000" cy="4800600"/>
          </a:xfrm>
        </p:spPr>
        <p:txBody>
          <a:bodyPr rtlCol="0">
            <a:normAutofit/>
          </a:bodyPr>
          <a:lstStyle/>
          <a:p>
            <a:pPr algn="just" eaLnBrk="1" fontAlgn="auto" hangingPunct="1">
              <a:spcBef>
                <a:spcPts val="600"/>
              </a:spcBef>
              <a:spcAft>
                <a:spcPts val="0"/>
              </a:spcAft>
              <a:defRPr/>
            </a:pPr>
            <a:r>
              <a:rPr lang="en-US" sz="2800" dirty="0">
                <a:solidFill>
                  <a:schemeClr val="tx1">
                    <a:lumMod val="85000"/>
                    <a:lumOff val="15000"/>
                  </a:schemeClr>
                </a:solidFill>
              </a:rPr>
              <a:t>Programming language construct that provides equivalent functionality to that of semaphores and is easier to control</a:t>
            </a:r>
          </a:p>
          <a:p>
            <a:pPr algn="just" eaLnBrk="1" fontAlgn="auto" hangingPunct="1">
              <a:spcBef>
                <a:spcPts val="600"/>
              </a:spcBef>
              <a:spcAft>
                <a:spcPts val="0"/>
              </a:spcAft>
              <a:defRPr/>
            </a:pPr>
            <a:r>
              <a:rPr lang="en-US" sz="2800" dirty="0">
                <a:solidFill>
                  <a:schemeClr val="tx1">
                    <a:lumMod val="85000"/>
                    <a:lumOff val="15000"/>
                  </a:schemeClr>
                </a:solidFill>
              </a:rPr>
              <a:t>Implemented in a number of programming languages</a:t>
            </a:r>
            <a:endParaRPr lang="en-US" dirty="0">
              <a:solidFill>
                <a:schemeClr val="tx1">
                  <a:lumMod val="85000"/>
                  <a:lumOff val="15000"/>
                </a:schemeClr>
              </a:solidFill>
            </a:endParaRPr>
          </a:p>
          <a:p>
            <a:pPr lvl="2" algn="just" eaLnBrk="1" fontAlgn="auto" hangingPunct="1">
              <a:spcAft>
                <a:spcPts val="0"/>
              </a:spcAft>
              <a:defRPr/>
            </a:pPr>
            <a:r>
              <a:rPr lang="en-US" sz="2400" dirty="0">
                <a:solidFill>
                  <a:schemeClr val="tx1">
                    <a:lumMod val="85000"/>
                    <a:lumOff val="15000"/>
                  </a:schemeClr>
                </a:solidFill>
              </a:rPr>
              <a:t>including Concurrent Pascal, Pascal-Plus, Modula-2, Modula-3, and Java</a:t>
            </a:r>
          </a:p>
          <a:p>
            <a:pPr marL="342900" lvl="2" indent="-342900" algn="just" eaLnBrk="1" fontAlgn="auto" hangingPunct="1">
              <a:spcAft>
                <a:spcPts val="0"/>
              </a:spcAft>
              <a:defRPr/>
            </a:pPr>
            <a:r>
              <a:rPr lang="en-US" sz="2800" dirty="0">
                <a:solidFill>
                  <a:schemeClr val="tx1">
                    <a:lumMod val="85000"/>
                    <a:lumOff val="15000"/>
                  </a:schemeClr>
                </a:solidFill>
              </a:rPr>
              <a:t>Has also been implemented as a program library</a:t>
            </a:r>
          </a:p>
          <a:p>
            <a:pPr marL="342900" lvl="2" indent="-342900" algn="just" eaLnBrk="1" fontAlgn="auto" hangingPunct="1">
              <a:spcAft>
                <a:spcPts val="0"/>
              </a:spcAft>
              <a:defRPr/>
            </a:pPr>
            <a:r>
              <a:rPr lang="en-US" sz="2800" dirty="0">
                <a:solidFill>
                  <a:schemeClr val="tx1">
                    <a:lumMod val="85000"/>
                    <a:lumOff val="15000"/>
                  </a:schemeClr>
                </a:solidFill>
              </a:rPr>
              <a:t>Software module consisting of one or more procedures, an initialization sequence, and local data</a:t>
            </a:r>
          </a:p>
        </p:txBody>
      </p:sp>
    </p:spTree>
    <p:extLst>
      <p:ext uri="{BB962C8B-B14F-4D97-AF65-F5344CB8AC3E}">
        <p14:creationId xmlns:p14="http://schemas.microsoft.com/office/powerpoint/2010/main" val="325233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
                                            <p:txEl>
                                              <p:pRg st="0" end="0"/>
                                            </p:txEl>
                                          </p:spTgt>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p:cTn id="11"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2" dur="1000" fill="hold"/>
                                        <p:tgtEl>
                                          <p:spTgt spid="5">
                                            <p:txEl>
                                              <p:pRg st="1" end="1"/>
                                            </p:txEl>
                                          </p:spTgt>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p:cTn id="15"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16" dur="1000" fill="hold"/>
                                        <p:tgtEl>
                                          <p:spTgt spid="5">
                                            <p:txEl>
                                              <p:pRg st="2" end="2"/>
                                            </p:txEl>
                                          </p:spTgt>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p:cTn id="19" dur="1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0" dur="1000" fill="hold"/>
                                        <p:tgtEl>
                                          <p:spTgt spid="5">
                                            <p:txEl>
                                              <p:pRg st="3" end="3"/>
                                            </p:txEl>
                                          </p:spTgt>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p:cTn id="23" dur="1000" fill="hold"/>
                                        <p:tgtEl>
                                          <p:spTgt spid="5">
                                            <p:txEl>
                                              <p:pRg st="4" end="4"/>
                                            </p:txEl>
                                          </p:spTgt>
                                        </p:tgtEl>
                                        <p:attrNameLst>
                                          <p:attrName>ppt_w</p:attrName>
                                        </p:attrNameLst>
                                      </p:cBhvr>
                                      <p:tavLst>
                                        <p:tav tm="0">
                                          <p:val>
                                            <p:fltVal val="0"/>
                                          </p:val>
                                        </p:tav>
                                        <p:tav tm="100000">
                                          <p:val>
                                            <p:strVal val="#ppt_w"/>
                                          </p:val>
                                        </p:tav>
                                      </p:tavLst>
                                    </p:anim>
                                    <p:anim calcmode="lin" valueType="num">
                                      <p:cBhvr>
                                        <p:cTn id="24" dur="1000" fill="hold"/>
                                        <p:tgtEl>
                                          <p:spTgt spid="5">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077200" cy="1219200"/>
          </a:xfrm>
        </p:spPr>
        <p:txBody>
          <a:bodyPr/>
          <a:lstStyle/>
          <a:p>
            <a:pPr eaLnBrk="1" fontAlgn="auto" hangingPunct="1">
              <a:spcAft>
                <a:spcPts val="0"/>
              </a:spcAft>
              <a:defRPr/>
            </a:pPr>
            <a:r>
              <a:rPr lang="en-US" b="1" dirty="0">
                <a:solidFill>
                  <a:schemeClr val="tx2">
                    <a:lumMod val="50000"/>
                  </a:schemeClr>
                </a:solidFill>
              </a:rPr>
              <a:t>Monitor Characteristics</a:t>
            </a:r>
            <a:endParaRPr lang="en-NZ" b="1" dirty="0">
              <a:solidFill>
                <a:schemeClr val="tx2">
                  <a:lumMod val="50000"/>
                </a:schemeClr>
              </a:solidFill>
            </a:endParaRPr>
          </a:p>
        </p:txBody>
      </p:sp>
      <p:graphicFrame>
        <p:nvGraphicFramePr>
          <p:cNvPr id="4" name="Content Placeholder 3"/>
          <p:cNvGraphicFramePr>
            <a:graphicFrameLocks noGrp="1"/>
          </p:cNvGraphicFramePr>
          <p:nvPr>
            <p:ph idx="4294967295"/>
          </p:nvPr>
        </p:nvGraphicFramePr>
        <p:xfrm>
          <a:off x="0" y="1905000"/>
          <a:ext cx="82296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43371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96347"/>
          </a:xfrm>
        </p:spPr>
        <p:txBody>
          <a:bodyPr/>
          <a:lstStyle/>
          <a:p>
            <a:pPr eaLnBrk="1" fontAlgn="auto" hangingPunct="1">
              <a:spcAft>
                <a:spcPts val="0"/>
              </a:spcAft>
              <a:defRPr/>
            </a:pPr>
            <a:r>
              <a:rPr lang="en-NZ" b="1" dirty="0">
                <a:ln w="1905"/>
                <a:solidFill>
                  <a:schemeClr val="accent6">
                    <a:lumMod val="75000"/>
                  </a:schemeClr>
                </a:solidFill>
                <a:effectLst>
                  <a:innerShdw blurRad="69850" dist="43180" dir="5400000">
                    <a:srgbClr val="000000">
                      <a:alpha val="65000"/>
                    </a:srgbClr>
                  </a:innerShdw>
                </a:effectLst>
              </a:rPr>
              <a:t>Synchronization</a:t>
            </a:r>
          </a:p>
        </p:txBody>
      </p:sp>
      <p:sp>
        <p:nvSpPr>
          <p:cNvPr id="358402" name="Content Placeholder 2"/>
          <p:cNvSpPr>
            <a:spLocks noGrp="1"/>
          </p:cNvSpPr>
          <p:nvPr>
            <p:ph sz="half" idx="1"/>
          </p:nvPr>
        </p:nvSpPr>
        <p:spPr>
          <a:xfrm>
            <a:off x="381000" y="2209800"/>
            <a:ext cx="8305800" cy="4191000"/>
          </a:xfrm>
        </p:spPr>
        <p:txBody>
          <a:bodyPr/>
          <a:lstStyle/>
          <a:p>
            <a:pPr eaLnBrk="1" hangingPunct="1"/>
            <a:r>
              <a:rPr lang="en-NZ" sz="2800"/>
              <a:t>Achieved by the use of </a:t>
            </a:r>
            <a:r>
              <a:rPr lang="en-NZ" sz="2800" b="1"/>
              <a:t>condition variables </a:t>
            </a:r>
            <a:r>
              <a:rPr lang="en-NZ" sz="2800"/>
              <a:t>that are contained within the monitor and accessible only within the monitor</a:t>
            </a:r>
          </a:p>
          <a:p>
            <a:pPr lvl="2" eaLnBrk="1" hangingPunct="1"/>
            <a:r>
              <a:rPr lang="en-NZ" sz="2600"/>
              <a:t>Condition variables are operated on by two functions:</a:t>
            </a:r>
          </a:p>
          <a:p>
            <a:pPr marL="1662113" lvl="4" indent="-284163" eaLnBrk="1" hangingPunct="1"/>
            <a:r>
              <a:rPr lang="en-NZ" sz="2200"/>
              <a:t>cwait(c): suspend execution of the calling process on condition c</a:t>
            </a:r>
          </a:p>
          <a:p>
            <a:pPr marL="1662113" lvl="4" indent="-284163" eaLnBrk="1" hangingPunct="1"/>
            <a:r>
              <a:rPr lang="en-NZ" sz="2200"/>
              <a:t>csignal(c): resume execution of some process blocked after a cwait on the same condition</a:t>
            </a:r>
          </a:p>
          <a:p>
            <a:pPr eaLnBrk="1" hangingPunct="1"/>
            <a:endParaRPr lang="en-NZ"/>
          </a:p>
        </p:txBody>
      </p:sp>
    </p:spTree>
    <p:extLst>
      <p:ext uri="{BB962C8B-B14F-4D97-AF65-F5344CB8AC3E}">
        <p14:creationId xmlns:p14="http://schemas.microsoft.com/office/powerpoint/2010/main" val="2222610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3400" y="304800"/>
            <a:ext cx="8610600" cy="1143000"/>
          </a:xfrm>
        </p:spPr>
        <p:txBody>
          <a:bodyPr/>
          <a:lstStyle/>
          <a:p>
            <a:pPr algn="l"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Structure of a Monitor</a:t>
            </a:r>
          </a:p>
        </p:txBody>
      </p:sp>
      <p:pic>
        <p:nvPicPr>
          <p:cNvPr id="360450" name="Content Placeholder 3" descr="Fig05_15.gif"/>
          <p:cNvPicPr>
            <a:picLocks noGrp="1" noChangeAspect="1"/>
          </p:cNvPicPr>
          <p:nvPr>
            <p:ph idx="4294967295"/>
          </p:nvPr>
        </p:nvPicPr>
        <p:blipFill>
          <a:blip r:embed="rId3"/>
          <a:srcRect/>
          <a:stretch>
            <a:fillRect/>
          </a:stretch>
        </p:blipFill>
        <p:spPr>
          <a:xfrm>
            <a:off x="1676400" y="1219200"/>
            <a:ext cx="4343400" cy="5035550"/>
          </a:xfrm>
        </p:spPr>
      </p:pic>
    </p:spTree>
    <p:extLst>
      <p:ext uri="{BB962C8B-B14F-4D97-AF65-F5344CB8AC3E}">
        <p14:creationId xmlns:p14="http://schemas.microsoft.com/office/powerpoint/2010/main" val="4015712679"/>
      </p:ext>
    </p:extLst>
  </p:cSld>
  <p:clrMapOvr>
    <a:masterClrMapping/>
  </p:clrMapOvr>
  <p:transition spd="med">
    <p:checke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176213"/>
            <a:ext cx="8229600" cy="576262"/>
          </a:xfrm>
        </p:spPr>
        <p:txBody>
          <a:bodyPr>
            <a:normAutofit fontScale="90000"/>
          </a:bodyPr>
          <a:lstStyle/>
          <a:p>
            <a:pPr eaLnBrk="1" hangingPunct="1"/>
            <a:r>
              <a:rPr lang="en-US" altLang="en-US"/>
              <a:t>Monitors</a:t>
            </a:r>
          </a:p>
        </p:txBody>
      </p:sp>
      <p:sp>
        <p:nvSpPr>
          <p:cNvPr id="45059" name="Rectangle 3"/>
          <p:cNvSpPr>
            <a:spLocks noGrp="1" noChangeArrowheads="1"/>
          </p:cNvSpPr>
          <p:nvPr>
            <p:ph idx="1"/>
          </p:nvPr>
        </p:nvSpPr>
        <p:spPr>
          <a:xfrm>
            <a:off x="855663" y="1209675"/>
            <a:ext cx="7243762" cy="4860925"/>
          </a:xfrm>
        </p:spPr>
        <p:txBody>
          <a:bodyPr/>
          <a:lstStyle/>
          <a:p>
            <a:pPr>
              <a:lnSpc>
                <a:spcPct val="80000"/>
              </a:lnSpc>
            </a:pPr>
            <a:r>
              <a:rPr lang="en-US" altLang="en-US" sz="1600"/>
              <a:t>A high-level abstraction that provides a convenient and effective mechanism for process synchronization</a:t>
            </a:r>
          </a:p>
          <a:p>
            <a:pPr>
              <a:lnSpc>
                <a:spcPct val="80000"/>
              </a:lnSpc>
            </a:pPr>
            <a:r>
              <a:rPr lang="en-US" altLang="en-US" sz="1600" i="1"/>
              <a:t>Abstract data type</a:t>
            </a:r>
            <a:r>
              <a:rPr lang="en-US" altLang="en-US" sz="1600"/>
              <a:t>, internal variables only accessible by code within the procedure</a:t>
            </a:r>
          </a:p>
          <a:p>
            <a:pPr>
              <a:lnSpc>
                <a:spcPct val="80000"/>
              </a:lnSpc>
            </a:pPr>
            <a:r>
              <a:rPr lang="en-US" altLang="en-US" sz="1600"/>
              <a:t>Only one process may be active within the monitor at a time</a:t>
            </a:r>
          </a:p>
          <a:p>
            <a:pPr>
              <a:lnSpc>
                <a:spcPct val="80000"/>
              </a:lnSpc>
            </a:pPr>
            <a:r>
              <a:rPr lang="en-US" altLang="en-US" sz="1600"/>
              <a:t>But not powerful enough to model some synchronization schemes</a:t>
            </a:r>
          </a:p>
          <a:p>
            <a:pPr lvl="2">
              <a:lnSpc>
                <a:spcPct val="80000"/>
              </a:lnSpc>
              <a:buFont typeface="Webdings" panose="05030102010509060703" pitchFamily="18" charset="2"/>
              <a:buNone/>
            </a:pPr>
            <a:endParaRPr lang="en-US" altLang="en-US" sz="1400">
              <a:solidFill>
                <a:srgbClr val="0000FF"/>
              </a:solidFill>
            </a:endParaRP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procedure Pn (…) {……}</a:t>
            </a:r>
          </a:p>
          <a:p>
            <a:pPr lvl="2">
              <a:lnSpc>
                <a:spcPct val="80000"/>
              </a:lnSpc>
              <a:buFont typeface="Webdings" panose="05030102010509060703" pitchFamily="18" charset="2"/>
              <a:buNone/>
            </a:pPr>
            <a:endParaRPr lang="en-US" altLang="en-US" sz="1600" b="1">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a:t>
            </a:r>
          </a:p>
        </p:txBody>
      </p:sp>
    </p:spTree>
    <p:extLst>
      <p:ext uri="{BB962C8B-B14F-4D97-AF65-F5344CB8AC3E}">
        <p14:creationId xmlns:p14="http://schemas.microsoft.com/office/powerpoint/2010/main" val="30664602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222375" y="176213"/>
            <a:ext cx="7464425" cy="576262"/>
          </a:xfrm>
        </p:spPr>
        <p:txBody>
          <a:bodyPr>
            <a:normAutofit fontScale="90000"/>
          </a:bodyPr>
          <a:lstStyle/>
          <a:p>
            <a:pPr eaLnBrk="1" hangingPunct="1"/>
            <a:r>
              <a:rPr lang="en-US" altLang="en-US"/>
              <a:t>Schematic view of a Monitor</a:t>
            </a:r>
          </a:p>
        </p:txBody>
      </p:sp>
      <p:pic>
        <p:nvPicPr>
          <p:cNvPr id="46083" name="Picture 4"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5" y="1185863"/>
            <a:ext cx="4926013"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65343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882650" y="176213"/>
            <a:ext cx="7847013" cy="576262"/>
          </a:xfrm>
        </p:spPr>
        <p:txBody>
          <a:bodyPr>
            <a:normAutofit fontScale="90000"/>
          </a:bodyPr>
          <a:lstStyle/>
          <a:p>
            <a:pPr eaLnBrk="1" hangingPunct="1"/>
            <a:r>
              <a:rPr lang="en-US" altLang="en-US"/>
              <a:t> Monitor with Condition Variables</a:t>
            </a:r>
          </a:p>
        </p:txBody>
      </p:sp>
      <p:pic>
        <p:nvPicPr>
          <p:cNvPr id="48131" name="Picture 4"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4175" y="1323975"/>
            <a:ext cx="6291263"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97877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85800"/>
            <a:ext cx="8839200" cy="1323975"/>
          </a:xfrm>
        </p:spPr>
        <p:txBody>
          <a:bodyPr>
            <a:normAutofit fontScale="90000"/>
          </a:bodyPr>
          <a:lstStyle/>
          <a:p>
            <a:pP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Problem Solution </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Using a Monitor</a:t>
            </a:r>
          </a:p>
        </p:txBody>
      </p:sp>
      <p:pic>
        <p:nvPicPr>
          <p:cNvPr id="362498" name="Content Placeholder 3" descr="Fig05_16a.gif"/>
          <p:cNvPicPr>
            <a:picLocks noGrp="1" noChangeAspect="1"/>
          </p:cNvPicPr>
          <p:nvPr>
            <p:ph idx="4294967295"/>
          </p:nvPr>
        </p:nvPicPr>
        <p:blipFill>
          <a:blip r:embed="rId3"/>
          <a:srcRect/>
          <a:stretch>
            <a:fillRect/>
          </a:stretch>
        </p:blipFill>
        <p:spPr>
          <a:xfrm>
            <a:off x="0" y="2209800"/>
            <a:ext cx="4267200" cy="4059238"/>
          </a:xfrm>
        </p:spPr>
      </p:pic>
      <p:pic>
        <p:nvPicPr>
          <p:cNvPr id="362500" name="Content Placeholder 3" descr="Fig05_16b.gif"/>
          <p:cNvPicPr>
            <a:picLocks noGrp="1" noChangeAspect="1"/>
          </p:cNvPicPr>
          <p:nvPr/>
        </p:nvPicPr>
        <p:blipFill>
          <a:blip r:embed="rId4"/>
          <a:srcRect/>
          <a:stretch>
            <a:fillRect/>
          </a:stretch>
        </p:blipFill>
        <p:spPr bwMode="auto">
          <a:xfrm>
            <a:off x="4800600" y="2209800"/>
            <a:ext cx="3810000" cy="4078288"/>
          </a:xfrm>
          <a:prstGeom prst="rect">
            <a:avLst/>
          </a:prstGeom>
          <a:noFill/>
          <a:ln w="9525">
            <a:noFill/>
            <a:miter lim="800000"/>
            <a:headEnd/>
            <a:tailEnd/>
          </a:ln>
        </p:spPr>
      </p:pic>
    </p:spTree>
  </p:cSld>
  <p:clrMapOvr>
    <a:masterClrMapping/>
  </p:clrMapOvr>
  <p:transition spd="med">
    <p:checke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944563" y="90488"/>
            <a:ext cx="8077200" cy="609600"/>
          </a:xfrm>
        </p:spPr>
        <p:txBody>
          <a:bodyPr/>
          <a:lstStyle/>
          <a:p>
            <a:pPr eaLnBrk="1" hangingPunct="1"/>
            <a:r>
              <a:rPr lang="en-US" altLang="en-US" sz="2800"/>
              <a:t>Monitor Solution to Dining Philosophers</a:t>
            </a:r>
          </a:p>
        </p:txBody>
      </p:sp>
      <p:sp>
        <p:nvSpPr>
          <p:cNvPr id="50179" name="Rectangle 3"/>
          <p:cNvSpPr>
            <a:spLocks noGrp="1" noChangeArrowheads="1"/>
          </p:cNvSpPr>
          <p:nvPr>
            <p:ph idx="1"/>
          </p:nvPr>
        </p:nvSpPr>
        <p:spPr>
          <a:xfrm>
            <a:off x="1146175" y="979488"/>
            <a:ext cx="7345363" cy="5384800"/>
          </a:xfrm>
        </p:spPr>
        <p:txBody>
          <a:bodyPr>
            <a:normAutofit fontScale="77500" lnSpcReduction="20000"/>
          </a:bodyPr>
          <a:lstStyle/>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monitor DiningPhilosophers</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enum { THINKING; HUNGRY, EATING) state [5]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condition self [5];</a:t>
            </a:r>
          </a:p>
          <a:p>
            <a:pPr>
              <a:lnSpc>
                <a:spcPct val="80000"/>
              </a:lnSpc>
              <a:buFont typeface="Monotype Sorts" pitchFamily="-84" charset="2"/>
              <a:buNone/>
            </a:pPr>
            <a:endParaRPr lang="en-US" altLang="en-US" sz="160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void pickup (int i)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HUNGRY;</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test(i);</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if (state[i] != EATING) self[i].wait;</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void putdown (int i)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THINKING;</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 test left and right neighbors</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test((i + 4) % 5);</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test((i + 1) % 5);</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r>
              <a:rPr lang="en-US" altLang="en-US" sz="1600">
                <a:solidFill>
                  <a:srgbClr val="0000FF"/>
                </a:solidFill>
              </a:rPr>
              <a:t>	</a:t>
            </a:r>
          </a:p>
        </p:txBody>
      </p:sp>
    </p:spTree>
    <p:extLst>
      <p:ext uri="{BB962C8B-B14F-4D97-AF65-F5344CB8AC3E}">
        <p14:creationId xmlns:p14="http://schemas.microsoft.com/office/powerpoint/2010/main" val="22993300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33400" y="625475"/>
            <a:ext cx="7916862" cy="638175"/>
          </a:xfrm>
        </p:spPr>
        <p:txBody>
          <a:bodyPr>
            <a:normAutofit fontScale="90000"/>
          </a:bodyPr>
          <a:lstStyle/>
          <a:p>
            <a:pPr eaLnBrk="1" hangingPunct="1"/>
            <a:r>
              <a:rPr lang="en-US" altLang="en-US" dirty="0"/>
              <a:t>Solution to Dining Philosophers (Cont.)</a:t>
            </a:r>
          </a:p>
        </p:txBody>
      </p:sp>
      <p:sp>
        <p:nvSpPr>
          <p:cNvPr id="51203" name="Rectangle 3"/>
          <p:cNvSpPr>
            <a:spLocks noGrp="1" noChangeArrowheads="1"/>
          </p:cNvSpPr>
          <p:nvPr>
            <p:ph idx="1"/>
          </p:nvPr>
        </p:nvSpPr>
        <p:spPr>
          <a:xfrm>
            <a:off x="1160463" y="944563"/>
            <a:ext cx="6908800" cy="5268912"/>
          </a:xfrm>
        </p:spPr>
        <p:txBody>
          <a:bodyPr>
            <a:normAutofit lnSpcReduction="10000"/>
          </a:bodyPr>
          <a:lstStyle/>
          <a:p>
            <a:pPr>
              <a:lnSpc>
                <a:spcPct val="80000"/>
              </a:lnSpc>
              <a:buFont typeface="Monotype Sorts" pitchFamily="-84" charset="2"/>
              <a:buNone/>
            </a:pPr>
            <a:endParaRPr lang="en-US" altLang="en-US" sz="160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void test (int i)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if ((state[(i + 4) % 5] != EATING) &amp;&amp;</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HUNGRY) &amp;&amp;</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+ 1) % 5] != EATING) )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EATING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self[i].signal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endParaRPr lang="en-US" altLang="en-US" sz="160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initialization_code()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for (int i = 0; i &lt; 5; i++)</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THINKING;</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281456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eaLnBrk="1" fontAlgn="auto" hangingPunct="1">
              <a:spcAft>
                <a:spcPts val="0"/>
              </a:spcAft>
              <a:defRPr/>
            </a:pP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Message Passing</a:t>
            </a:r>
          </a:p>
        </p:txBody>
      </p:sp>
      <p:sp>
        <p:nvSpPr>
          <p:cNvPr id="364546" name="Content Placeholder 2"/>
          <p:cNvSpPr>
            <a:spLocks noGrp="1"/>
          </p:cNvSpPr>
          <p:nvPr>
            <p:ph idx="4294967295"/>
          </p:nvPr>
        </p:nvSpPr>
        <p:spPr>
          <a:xfrm>
            <a:off x="914400" y="1981200"/>
            <a:ext cx="8229600" cy="5181600"/>
          </a:xfrm>
        </p:spPr>
        <p:txBody>
          <a:bodyPr/>
          <a:lstStyle/>
          <a:p>
            <a:pPr eaLnBrk="1" hangingPunct="1"/>
            <a:r>
              <a:rPr lang="en-NZ" sz="2800"/>
              <a:t>When processes interact with one another two fundamental requirements must be satisfied: </a:t>
            </a:r>
          </a:p>
          <a:p>
            <a:pPr eaLnBrk="1" hangingPunct="1"/>
            <a:endParaRPr lang="en-NZ" sz="2900"/>
          </a:p>
          <a:p>
            <a:pPr eaLnBrk="1" hangingPunct="1"/>
            <a:endParaRPr lang="en-NZ" sz="2900"/>
          </a:p>
          <a:p>
            <a:pPr eaLnBrk="1" hangingPunct="1"/>
            <a:endParaRPr lang="en-NZ" sz="2900"/>
          </a:p>
          <a:p>
            <a:pPr eaLnBrk="1" hangingPunct="1">
              <a:spcBef>
                <a:spcPts val="1000"/>
              </a:spcBef>
            </a:pPr>
            <a:r>
              <a:rPr lang="en-NZ" sz="2800"/>
              <a:t>Message Passing is one approach to providing both of these functions</a:t>
            </a:r>
          </a:p>
          <a:p>
            <a:pPr lvl="2" eaLnBrk="1" hangingPunct="1">
              <a:spcBef>
                <a:spcPts val="1000"/>
              </a:spcBef>
            </a:pPr>
            <a:r>
              <a:rPr lang="en-NZ"/>
              <a:t>works with distributed systems </a:t>
            </a:r>
            <a:r>
              <a:rPr lang="en-NZ" i="1"/>
              <a:t>and</a:t>
            </a:r>
            <a:r>
              <a:rPr lang="en-NZ"/>
              <a:t> shared memory multiprocessor and uniprocessor systems</a:t>
            </a:r>
          </a:p>
        </p:txBody>
      </p:sp>
      <p:graphicFrame>
        <p:nvGraphicFramePr>
          <p:cNvPr id="4" name="Diagram 3"/>
          <p:cNvGraphicFramePr/>
          <p:nvPr>
            <p:extLst>
              <p:ext uri="{D42A27DB-BD31-4B8C-83A1-F6EECF244321}">
                <p14:modId xmlns:p14="http://schemas.microsoft.com/office/powerpoint/2010/main" val="2568226612"/>
              </p:ext>
            </p:extLst>
          </p:nvPr>
        </p:nvGraphicFramePr>
        <p:xfrm>
          <a:off x="1524000" y="2895600"/>
          <a:ext cx="6019800" cy="152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5613"/>
            <a:ext cx="7824787" cy="1068387"/>
          </a:xfrm>
        </p:spPr>
        <p:txBody>
          <a:bodyPr/>
          <a:lstStyle/>
          <a:p>
            <a:pPr algn="l" eaLnBrk="1" fontAlgn="auto" hangingPunct="1">
              <a:spcAft>
                <a:spcPts val="0"/>
              </a:spcAft>
              <a:defRPr/>
            </a:pPr>
            <a:r>
              <a:rPr lang="en-US" b="1" dirty="0">
                <a:solidFill>
                  <a:schemeClr val="accent6"/>
                </a:solidFill>
              </a:rPr>
              <a:t>Message Passing</a:t>
            </a:r>
          </a:p>
        </p:txBody>
      </p:sp>
      <p:sp>
        <p:nvSpPr>
          <p:cNvPr id="3" name="Content Placeholder 2"/>
          <p:cNvSpPr>
            <a:spLocks noGrp="1"/>
          </p:cNvSpPr>
          <p:nvPr>
            <p:ph idx="4294967295"/>
          </p:nvPr>
        </p:nvSpPr>
        <p:spPr>
          <a:xfrm>
            <a:off x="0" y="2057400"/>
            <a:ext cx="8534400" cy="5867400"/>
          </a:xfrm>
        </p:spPr>
        <p:txBody>
          <a:bodyPr rtlCol="0">
            <a:normAutofit/>
          </a:bodyPr>
          <a:lstStyle/>
          <a:p>
            <a:pPr eaLnBrk="1" fontAlgn="auto" hangingPunct="1">
              <a:spcAft>
                <a:spcPts val="0"/>
              </a:spcAft>
              <a:defRPr/>
            </a:pPr>
            <a:r>
              <a:rPr lang="en-NZ" sz="2800" dirty="0">
                <a:solidFill>
                  <a:schemeClr val="tx1">
                    <a:lumMod val="85000"/>
                    <a:lumOff val="15000"/>
                  </a:schemeClr>
                </a:solidFill>
              </a:rPr>
              <a:t>The actual function is normally provided in the form of a pair of primitives:</a:t>
            </a:r>
            <a:endParaRPr lang="en-US" sz="2800" dirty="0">
              <a:solidFill>
                <a:schemeClr val="tx1">
                  <a:lumMod val="85000"/>
                  <a:lumOff val="15000"/>
                </a:schemeClr>
              </a:solidFill>
            </a:endParaRPr>
          </a:p>
          <a:p>
            <a:pPr lvl="4" eaLnBrk="1" fontAlgn="auto" hangingPunct="1">
              <a:spcAft>
                <a:spcPts val="0"/>
              </a:spcAft>
              <a:buFont typeface="Wingdings" pitchFamily="2" charset="2"/>
              <a:buNone/>
              <a:defRPr/>
            </a:pPr>
            <a:r>
              <a:rPr lang="en-US" sz="2800" dirty="0">
                <a:solidFill>
                  <a:schemeClr val="tx1">
                    <a:lumMod val="85000"/>
                    <a:lumOff val="15000"/>
                  </a:schemeClr>
                </a:solidFill>
              </a:rPr>
              <a:t>send (destination, message)</a:t>
            </a:r>
          </a:p>
          <a:p>
            <a:pPr lvl="4" eaLnBrk="1" fontAlgn="auto" hangingPunct="1">
              <a:spcAft>
                <a:spcPts val="0"/>
              </a:spcAft>
              <a:buFont typeface="Wingdings" pitchFamily="2" charset="2"/>
              <a:buNone/>
              <a:defRPr/>
            </a:pPr>
            <a:r>
              <a:rPr lang="en-US" sz="2800" dirty="0">
                <a:solidFill>
                  <a:schemeClr val="tx1">
                    <a:lumMod val="85000"/>
                    <a:lumOff val="15000"/>
                  </a:schemeClr>
                </a:solidFill>
              </a:rPr>
              <a:t>receive (source, message)</a:t>
            </a:r>
          </a:p>
          <a:p>
            <a:pPr marL="374904" lvl="4" eaLnBrk="1" fontAlgn="auto" hangingPunct="1">
              <a:spcBef>
                <a:spcPts val="1200"/>
              </a:spcBef>
              <a:spcAft>
                <a:spcPts val="0"/>
              </a:spcAft>
              <a:defRPr/>
            </a:pPr>
            <a:r>
              <a:rPr lang="en-US" sz="2800" dirty="0">
                <a:solidFill>
                  <a:schemeClr val="tx1">
                    <a:lumMod val="85000"/>
                    <a:lumOff val="15000"/>
                  </a:schemeClr>
                </a:solidFill>
              </a:rPr>
              <a:t>A process sends information in the form of a </a:t>
            </a:r>
            <a:r>
              <a:rPr lang="en-US" sz="2800" i="1" dirty="0">
                <a:solidFill>
                  <a:schemeClr val="tx1">
                    <a:lumMod val="85000"/>
                    <a:lumOff val="15000"/>
                  </a:schemeClr>
                </a:solidFill>
              </a:rPr>
              <a:t>message</a:t>
            </a:r>
            <a:r>
              <a:rPr lang="en-US" sz="2800" dirty="0">
                <a:solidFill>
                  <a:schemeClr val="tx1">
                    <a:lumMod val="85000"/>
                    <a:lumOff val="15000"/>
                  </a:schemeClr>
                </a:solidFill>
              </a:rPr>
              <a:t> to another process designated by a </a:t>
            </a:r>
            <a:r>
              <a:rPr lang="en-US" sz="2800" i="1" dirty="0">
                <a:solidFill>
                  <a:schemeClr val="tx1">
                    <a:lumMod val="85000"/>
                    <a:lumOff val="15000"/>
                  </a:schemeClr>
                </a:solidFill>
              </a:rPr>
              <a:t>destination</a:t>
            </a:r>
          </a:p>
          <a:p>
            <a:pPr marL="374904" lvl="4" eaLnBrk="1" fontAlgn="auto" hangingPunct="1">
              <a:spcBef>
                <a:spcPts val="1200"/>
              </a:spcBef>
              <a:spcAft>
                <a:spcPts val="0"/>
              </a:spcAft>
              <a:defRPr/>
            </a:pPr>
            <a:r>
              <a:rPr lang="en-US" sz="2800" dirty="0">
                <a:solidFill>
                  <a:schemeClr val="tx1">
                    <a:lumMod val="85000"/>
                    <a:lumOff val="15000"/>
                  </a:schemeClr>
                </a:solidFill>
              </a:rPr>
              <a:t>A process receives information by executing the </a:t>
            </a:r>
            <a:r>
              <a:rPr lang="en-US" sz="2800" b="1" dirty="0">
                <a:solidFill>
                  <a:schemeClr val="tx1">
                    <a:lumMod val="85000"/>
                    <a:lumOff val="15000"/>
                  </a:schemeClr>
                </a:solidFill>
                <a:latin typeface="Courier New"/>
              </a:rPr>
              <a:t>receive</a:t>
            </a:r>
            <a:r>
              <a:rPr lang="en-US" sz="2800" dirty="0">
                <a:solidFill>
                  <a:schemeClr val="tx1">
                    <a:lumMod val="85000"/>
                    <a:lumOff val="15000"/>
                  </a:schemeClr>
                </a:solidFill>
              </a:rPr>
              <a:t> primitive, indicating the </a:t>
            </a:r>
            <a:r>
              <a:rPr lang="en-US" sz="2800" i="1" dirty="0">
                <a:solidFill>
                  <a:schemeClr val="tx1">
                    <a:lumMod val="85000"/>
                    <a:lumOff val="15000"/>
                  </a:schemeClr>
                </a:solidFill>
              </a:rPr>
              <a:t>source</a:t>
            </a:r>
            <a:r>
              <a:rPr lang="en-US" sz="2800" dirty="0">
                <a:solidFill>
                  <a:schemeClr val="tx1">
                    <a:lumMod val="85000"/>
                    <a:lumOff val="15000"/>
                  </a:schemeClr>
                </a:solidFill>
              </a:rPr>
              <a:t> and the </a:t>
            </a:r>
            <a:r>
              <a:rPr lang="en-US" sz="2800" i="1" dirty="0">
                <a:solidFill>
                  <a:schemeClr val="tx1">
                    <a:lumMod val="85000"/>
                    <a:lumOff val="15000"/>
                  </a:schemeClr>
                </a:solidFill>
              </a:rPr>
              <a:t>message</a:t>
            </a:r>
            <a:r>
              <a:rPr lang="en-US" sz="2800" dirty="0">
                <a:solidFill>
                  <a:schemeClr val="tx1">
                    <a:lumMod val="85000"/>
                    <a:lumOff val="15000"/>
                  </a:schemeClr>
                </a:solidFill>
              </a:rPr>
              <a:t> </a:t>
            </a:r>
          </a:p>
          <a:p>
            <a:pPr eaLnBrk="1" fontAlgn="auto" hangingPunct="1">
              <a:spcAft>
                <a:spcPts val="0"/>
              </a:spcAft>
              <a:defRPr/>
            </a:pPr>
            <a:endParaRPr lang="en-US" dirty="0">
              <a:solidFill>
                <a:schemeClr val="tx1">
                  <a:lumMod val="85000"/>
                  <a:lumOff val="1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ntr" presetSubtype="0" fill="hold" grpId="0" nodeType="afterEffect">
                                  <p:stCondLst>
                                    <p:cond delay="500"/>
                                  </p:stCondLst>
                                  <p:childTnLst>
                                    <p:set>
                                      <p:cBhvr>
                                        <p:cTn id="6" dur="1" fill="hold">
                                          <p:stCondLst>
                                            <p:cond delay="0"/>
                                          </p:stCondLst>
                                        </p:cTn>
                                        <p:tgtEl>
                                          <p:spTgt spid="3">
                                            <p:txEl>
                                              <p:pRg st="1" end="1"/>
                                            </p:txEl>
                                          </p:spTgt>
                                        </p:tgtEl>
                                        <p:attrNameLst>
                                          <p:attrName>style.visibility</p:attrName>
                                        </p:attrNameLst>
                                      </p:cBhvr>
                                      <p:to>
                                        <p:strVal val="visible"/>
                                      </p:to>
                                    </p:set>
                                    <p:anim from="(-#ppt_w/2)" to="(#ppt_x)" calcmode="lin" valueType="num">
                                      <p:cBhvr>
                                        <p:cTn id="7" dur="600" fill="hold">
                                          <p:stCondLst>
                                            <p:cond delay="0"/>
                                          </p:stCondLst>
                                        </p:cTn>
                                        <p:tgtEl>
                                          <p:spTgt spid="3">
                                            <p:txEl>
                                              <p:pRg st="1" end="1"/>
                                            </p:txEl>
                                          </p:spTgt>
                                        </p:tgtEl>
                                        <p:attrNameLst>
                                          <p:attrName>ppt_x</p:attrName>
                                        </p:attrNameLst>
                                      </p:cBhvr>
                                    </p:anim>
                                    <p:anim from="0" to="-1.0" calcmode="lin" valueType="num">
                                      <p:cBhvr>
                                        <p:cTn id="8" dur="200" decel="50000" autoRev="1" fill="hold">
                                          <p:stCondLst>
                                            <p:cond delay="600"/>
                                          </p:stCondLst>
                                        </p:cTn>
                                        <p:tgtEl>
                                          <p:spTgt spid="3">
                                            <p:txEl>
                                              <p:pRg st="1" end="1"/>
                                            </p:txEl>
                                          </p:spTgt>
                                        </p:tgtEl>
                                        <p:attrNameLst>
                                          <p:attrName>xshear</p:attrName>
                                        </p:attrNameLst>
                                      </p:cBhvr>
                                    </p:anim>
                                    <p:animScale>
                                      <p:cBhvr>
                                        <p:cTn id="9" dur="200" decel="100000" autoRev="1" fill="hold">
                                          <p:stCondLst>
                                            <p:cond delay="600"/>
                                          </p:stCondLst>
                                        </p:cTn>
                                        <p:tgtEl>
                                          <p:spTgt spid="3">
                                            <p:txEl>
                                              <p:pRg st="1" end="1"/>
                                            </p:txEl>
                                          </p:spTgt>
                                        </p:tgtEl>
                                      </p:cBhvr>
                                      <p:from x="100000" y="100000"/>
                                      <p:to x="80000" y="100000"/>
                                    </p:animScale>
                                    <p:anim by="(#ppt_h/3+#ppt_w*0.1)" calcmode="lin" valueType="num">
                                      <p:cBhvr additive="sum">
                                        <p:cTn id="10" dur="200" decel="100000" autoRev="1" fill="hold">
                                          <p:stCondLst>
                                            <p:cond delay="600"/>
                                          </p:stCondLst>
                                        </p:cTn>
                                        <p:tgtEl>
                                          <p:spTgt spid="3">
                                            <p:txEl>
                                              <p:pRg st="1" end="1"/>
                                            </p:txEl>
                                          </p:spTgt>
                                        </p:tgtEl>
                                        <p:attrNameLst>
                                          <p:attrName>ppt_x</p:attrName>
                                        </p:attrNameLst>
                                      </p:cBhvr>
                                    </p:anim>
                                  </p:childTnLst>
                                </p:cTn>
                              </p:par>
                            </p:childTnLst>
                          </p:cTn>
                        </p:par>
                        <p:par>
                          <p:cTn id="11" fill="hold">
                            <p:stCondLst>
                              <p:cond delay="1500"/>
                            </p:stCondLst>
                            <p:childTnLst>
                              <p:par>
                                <p:cTn id="12" presetID="34" presetClass="entr" presetSubtype="0" fill="hold" grpId="0" nodeType="afterEffect">
                                  <p:stCondLst>
                                    <p:cond delay="500"/>
                                  </p:stCondLst>
                                  <p:childTnLst>
                                    <p:set>
                                      <p:cBhvr>
                                        <p:cTn id="13" dur="1" fill="hold">
                                          <p:stCondLst>
                                            <p:cond delay="0"/>
                                          </p:stCondLst>
                                        </p:cTn>
                                        <p:tgtEl>
                                          <p:spTgt spid="3">
                                            <p:txEl>
                                              <p:pRg st="2" end="2"/>
                                            </p:txEl>
                                          </p:spTgt>
                                        </p:tgtEl>
                                        <p:attrNameLst>
                                          <p:attrName>style.visibility</p:attrName>
                                        </p:attrNameLst>
                                      </p:cBhvr>
                                      <p:to>
                                        <p:strVal val="visible"/>
                                      </p:to>
                                    </p:set>
                                    <p:anim from="(-#ppt_w/2)" to="(#ppt_x)" calcmode="lin" valueType="num">
                                      <p:cBhvr>
                                        <p:cTn id="14" dur="600" fill="hold">
                                          <p:stCondLst>
                                            <p:cond delay="0"/>
                                          </p:stCondLst>
                                        </p:cTn>
                                        <p:tgtEl>
                                          <p:spTgt spid="3">
                                            <p:txEl>
                                              <p:pRg st="2" end="2"/>
                                            </p:txEl>
                                          </p:spTgt>
                                        </p:tgtEl>
                                        <p:attrNameLst>
                                          <p:attrName>ppt_x</p:attrName>
                                        </p:attrNameLst>
                                      </p:cBhvr>
                                    </p:anim>
                                    <p:anim from="0" to="-1.0" calcmode="lin" valueType="num">
                                      <p:cBhvr>
                                        <p:cTn id="15" dur="200" decel="50000" autoRev="1" fill="hold">
                                          <p:stCondLst>
                                            <p:cond delay="600"/>
                                          </p:stCondLst>
                                        </p:cTn>
                                        <p:tgtEl>
                                          <p:spTgt spid="3">
                                            <p:txEl>
                                              <p:pRg st="2" end="2"/>
                                            </p:txEl>
                                          </p:spTgt>
                                        </p:tgtEl>
                                        <p:attrNameLst>
                                          <p:attrName>xshear</p:attrName>
                                        </p:attrNameLst>
                                      </p:cBhvr>
                                    </p:anim>
                                    <p:animScale>
                                      <p:cBhvr>
                                        <p:cTn id="16" dur="200" decel="100000" autoRev="1" fill="hold">
                                          <p:stCondLst>
                                            <p:cond delay="600"/>
                                          </p:stCondLst>
                                        </p:cTn>
                                        <p:tgtEl>
                                          <p:spTgt spid="3">
                                            <p:txEl>
                                              <p:pRg st="2" end="2"/>
                                            </p:txEl>
                                          </p:spTgt>
                                        </p:tgtEl>
                                      </p:cBhvr>
                                      <p:from x="100000" y="100000"/>
                                      <p:to x="80000" y="100000"/>
                                    </p:animScale>
                                    <p:anim by="(#ppt_h/3+#ppt_w*0.1)" calcmode="lin" valueType="num">
                                      <p:cBhvr additive="sum">
                                        <p:cTn id="17" dur="200" decel="100000" autoRev="1" fill="hold">
                                          <p:stCondLst>
                                            <p:cond delay="600"/>
                                          </p:stCondLst>
                                        </p:cTn>
                                        <p:tgtEl>
                                          <p:spTgt spid="3">
                                            <p:txEl>
                                              <p:pRg st="2" end="2"/>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19213" y="0"/>
            <a:ext cx="7824787" cy="1323975"/>
          </a:xfrm>
        </p:spPr>
        <p:txBody>
          <a:bodyPr/>
          <a:lstStyle/>
          <a:p>
            <a:pPr algn="ctr" eaLnBrk="1" fontAlgn="auto" hangingPunct="1">
              <a:spcAft>
                <a:spcPts val="0"/>
              </a:spcAft>
              <a:defRPr/>
            </a:pPr>
            <a:r>
              <a:rPr lang="en-US" b="1" dirty="0">
                <a:solidFill>
                  <a:schemeClr val="accent6"/>
                </a:solidFill>
              </a:rPr>
              <a:t>Message Passing</a:t>
            </a:r>
          </a:p>
        </p:txBody>
      </p:sp>
      <p:graphicFrame>
        <p:nvGraphicFramePr>
          <p:cNvPr id="190466" name="Object 2"/>
          <p:cNvGraphicFramePr>
            <a:graphicFrameLocks noChangeAspect="1"/>
          </p:cNvGraphicFramePr>
          <p:nvPr/>
        </p:nvGraphicFramePr>
        <p:xfrm>
          <a:off x="762000" y="1524000"/>
          <a:ext cx="7685088" cy="4533900"/>
        </p:xfrm>
        <a:graphic>
          <a:graphicData uri="http://schemas.openxmlformats.org/presentationml/2006/ole">
            <mc:AlternateContent xmlns:mc="http://schemas.openxmlformats.org/markup-compatibility/2006">
              <mc:Choice xmlns:v="urn:schemas-microsoft-com:vml" Requires="v">
                <p:oleObj name="Document" r:id="rId3" imgW="6070377" imgH="3581268" progId="">
                  <p:embed/>
                </p:oleObj>
              </mc:Choice>
              <mc:Fallback>
                <p:oleObj name="Document" r:id="rId3" imgW="6070377" imgH="3581268"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524000"/>
                        <a:ext cx="7685088" cy="453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90469" name="TextBox 4"/>
          <p:cNvSpPr txBox="1">
            <a:spLocks noChangeArrowheads="1"/>
          </p:cNvSpPr>
          <p:nvPr/>
        </p:nvSpPr>
        <p:spPr bwMode="auto">
          <a:xfrm>
            <a:off x="609600" y="1524000"/>
            <a:ext cx="152400" cy="4572000"/>
          </a:xfrm>
          <a:prstGeom prst="rect">
            <a:avLst/>
          </a:prstGeom>
          <a:solidFill>
            <a:schemeClr val="bg1"/>
          </a:solidFill>
          <a:ln w="9525">
            <a:noFill/>
            <a:miter lim="800000"/>
            <a:headEnd/>
            <a:tailEnd/>
          </a:ln>
        </p:spPr>
        <p:txBody>
          <a:bodyPr>
            <a:spAutoFit/>
          </a:bodyPr>
          <a:lstStyle/>
          <a:p>
            <a:endParaRPr lang="en-US"/>
          </a:p>
        </p:txBody>
      </p:sp>
    </p:spTree>
  </p:cSld>
  <p:clrMapOvr>
    <a:masterClrMapping/>
  </p:clrMapOvr>
  <p:transition spd="med">
    <p:checke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7824788" cy="990600"/>
          </a:xfrm>
        </p:spPr>
        <p:txBody>
          <a:bodyPr/>
          <a:lstStyle/>
          <a:p>
            <a:pPr algn="ct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Synchronization</a:t>
            </a:r>
          </a:p>
        </p:txBody>
      </p:sp>
      <p:graphicFrame>
        <p:nvGraphicFramePr>
          <p:cNvPr id="4" name="Content Placeholder 3"/>
          <p:cNvGraphicFramePr>
            <a:graphicFrameLocks noGrp="1"/>
          </p:cNvGraphicFramePr>
          <p:nvPr>
            <p:ph idx="4294967295"/>
          </p:nvPr>
        </p:nvGraphicFramePr>
        <p:xfrm>
          <a:off x="0" y="1600200"/>
          <a:ext cx="84582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86605"/>
            <a:ext cx="8915400" cy="780196"/>
          </a:xfrm>
        </p:spPr>
        <p:txBody>
          <a:bodyPr/>
          <a:lstStyle/>
          <a:p>
            <a:pPr algn="ct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Blocking Send, Blocking Receive</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72738" name="Content Placeholder 2"/>
          <p:cNvSpPr>
            <a:spLocks noGrp="1"/>
          </p:cNvSpPr>
          <p:nvPr>
            <p:ph idx="4294967295"/>
          </p:nvPr>
        </p:nvSpPr>
        <p:spPr>
          <a:xfrm>
            <a:off x="914400" y="2209800"/>
            <a:ext cx="8229600" cy="5562600"/>
          </a:xfrm>
        </p:spPr>
        <p:txBody>
          <a:bodyPr/>
          <a:lstStyle/>
          <a:p>
            <a:pPr algn="just" eaLnBrk="1" hangingPunct="1"/>
            <a:r>
              <a:rPr lang="en-US" sz="3200" dirty="0"/>
              <a:t>Both sender and receiver are blocked until the message is delivered</a:t>
            </a:r>
          </a:p>
          <a:p>
            <a:pPr algn="just" eaLnBrk="1" hangingPunct="1"/>
            <a:r>
              <a:rPr lang="en-US" sz="3200" dirty="0"/>
              <a:t>Sometimes referred to as a </a:t>
            </a:r>
            <a:r>
              <a:rPr lang="en-US" sz="3200" i="1" dirty="0"/>
              <a:t>rendezvous</a:t>
            </a:r>
          </a:p>
          <a:p>
            <a:pPr algn="just" eaLnBrk="1" hangingPunct="1"/>
            <a:r>
              <a:rPr lang="en-NZ" sz="3200" dirty="0"/>
              <a:t>Allows for tight synchronization between processes</a:t>
            </a:r>
            <a:endParaRPr lang="en-US" sz="3200" dirty="0"/>
          </a:p>
          <a:p>
            <a:pPr algn="just" eaLnBrk="1" hangingPunct="1"/>
            <a:endParaRPr lang="en-NZ"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eaLnBrk="1" fontAlgn="auto" hangingPunct="1">
              <a:spcAft>
                <a:spcPts val="0"/>
              </a:spcAft>
              <a:defRPr/>
            </a:pPr>
            <a:r>
              <a:rPr lang="en-US" b="1" dirty="0">
                <a:ln w="1905"/>
                <a:solidFill>
                  <a:schemeClr val="accent6">
                    <a:lumMod val="50000"/>
                  </a:schemeClr>
                </a:solidFill>
                <a:effectLst>
                  <a:innerShdw blurRad="69850" dist="43180" dir="5400000">
                    <a:srgbClr val="000000">
                      <a:alpha val="65000"/>
                    </a:srgbClr>
                  </a:innerShdw>
                </a:effectLst>
              </a:rPr>
              <a:t>Non-blocking Send</a:t>
            </a:r>
          </a:p>
        </p:txBody>
      </p:sp>
      <p:graphicFrame>
        <p:nvGraphicFramePr>
          <p:cNvPr id="4" name="Content Placeholder 3"/>
          <p:cNvGraphicFramePr>
            <a:graphicFrameLocks noGrp="1"/>
          </p:cNvGraphicFramePr>
          <p:nvPr>
            <p:ph idx="4294967295"/>
          </p:nvPr>
        </p:nvGraphicFramePr>
        <p:xfrm>
          <a:off x="0" y="2057400"/>
          <a:ext cx="8077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eaLnBrk="1" fontAlgn="auto" hangingPunct="1">
              <a:spcAft>
                <a:spcPts val="0"/>
              </a:spcAft>
              <a:defRPr/>
            </a:pPr>
            <a:r>
              <a:rPr lang="en-US" sz="5400" b="1" dirty="0">
                <a:ln>
                  <a:solidFill>
                    <a:schemeClr val="tx1"/>
                  </a:solidFill>
                </a:ln>
                <a:solidFill>
                  <a:schemeClr val="accent1">
                    <a:lumMod val="50000"/>
                  </a:schemeClr>
                </a:solidFill>
              </a:rPr>
              <a:t>    Addressing</a:t>
            </a:r>
          </a:p>
        </p:txBody>
      </p:sp>
      <p:sp>
        <p:nvSpPr>
          <p:cNvPr id="3" name="Content Placeholder 2"/>
          <p:cNvSpPr>
            <a:spLocks noGrp="1"/>
          </p:cNvSpPr>
          <p:nvPr>
            <p:ph idx="4294967295"/>
          </p:nvPr>
        </p:nvSpPr>
        <p:spPr>
          <a:xfrm>
            <a:off x="381000" y="2286000"/>
            <a:ext cx="8763000" cy="1828800"/>
          </a:xfrm>
        </p:spPr>
        <p:txBody>
          <a:bodyPr rtlCol="0">
            <a:normAutofit/>
          </a:bodyPr>
          <a:lstStyle/>
          <a:p>
            <a:pPr lvl="1" eaLnBrk="1" fontAlgn="auto" hangingPunct="1">
              <a:spcAft>
                <a:spcPts val="0"/>
              </a:spcAft>
              <a:buClr>
                <a:schemeClr val="accent6">
                  <a:lumMod val="75000"/>
                </a:schemeClr>
              </a:buClr>
              <a:buSzPct val="85000"/>
              <a:buFont typeface="Wingdings" charset="2"/>
              <a:buChar char=""/>
              <a:defRPr/>
            </a:pPr>
            <a:r>
              <a:rPr lang="en-US" sz="3400" dirty="0">
                <a:solidFill>
                  <a:schemeClr val="tx1">
                    <a:lumMod val="85000"/>
                    <a:lumOff val="15000"/>
                  </a:schemeClr>
                </a:solidFill>
              </a:rPr>
              <a:t> Schemes for specifying processes in </a:t>
            </a:r>
            <a:r>
              <a:rPr lang="en-US" sz="3400" dirty="0">
                <a:solidFill>
                  <a:schemeClr val="tx1">
                    <a:lumMod val="85000"/>
                    <a:lumOff val="15000"/>
                  </a:schemeClr>
                </a:solidFill>
                <a:latin typeface="Courier New"/>
              </a:rPr>
              <a:t>send</a:t>
            </a:r>
            <a:r>
              <a:rPr lang="en-US" sz="3400" dirty="0">
                <a:solidFill>
                  <a:schemeClr val="tx1">
                    <a:lumMod val="85000"/>
                    <a:lumOff val="15000"/>
                  </a:schemeClr>
                </a:solidFill>
              </a:rPr>
              <a:t>       and </a:t>
            </a:r>
            <a:r>
              <a:rPr lang="en-US" sz="3400" dirty="0">
                <a:solidFill>
                  <a:schemeClr val="tx1">
                    <a:lumMod val="85000"/>
                    <a:lumOff val="15000"/>
                  </a:schemeClr>
                </a:solidFill>
                <a:latin typeface="Courier New"/>
              </a:rPr>
              <a:t>receive</a:t>
            </a:r>
            <a:r>
              <a:rPr lang="en-US" sz="3400" dirty="0">
                <a:solidFill>
                  <a:schemeClr val="tx1">
                    <a:lumMod val="85000"/>
                    <a:lumOff val="15000"/>
                  </a:schemeClr>
                </a:solidFill>
              </a:rPr>
              <a:t> primitives fall into two categories:</a:t>
            </a:r>
          </a:p>
        </p:txBody>
      </p:sp>
      <p:graphicFrame>
        <p:nvGraphicFramePr>
          <p:cNvPr id="6" name="Diagram 5"/>
          <p:cNvGraphicFramePr/>
          <p:nvPr/>
        </p:nvGraphicFramePr>
        <p:xfrm>
          <a:off x="457200" y="4267200"/>
          <a:ext cx="8077200" cy="175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32596"/>
          </a:xfrm>
        </p:spPr>
        <p:txBody>
          <a:bodyPr/>
          <a:lstStyle/>
          <a:p>
            <a:pPr eaLnBrk="1" fontAlgn="auto" hangingPunct="1">
              <a:spcAft>
                <a:spcPts val="0"/>
              </a:spcAft>
              <a:defRPr/>
            </a:pPr>
            <a:r>
              <a:rPr lang="en-NZ" b="1" dirty="0">
                <a:ln w="1905"/>
                <a:solidFill>
                  <a:schemeClr val="accent6">
                    <a:lumMod val="75000"/>
                  </a:schemeClr>
                </a:solidFill>
                <a:effectLst>
                  <a:innerShdw blurRad="69850" dist="43180" dir="5400000">
                    <a:srgbClr val="000000">
                      <a:alpha val="65000"/>
                    </a:srgbClr>
                  </a:innerShdw>
                </a:effectLst>
              </a:rPr>
              <a:t>Direct Addressing</a:t>
            </a:r>
          </a:p>
        </p:txBody>
      </p:sp>
      <p:sp>
        <p:nvSpPr>
          <p:cNvPr id="3" name="Content Placeholder 2"/>
          <p:cNvSpPr>
            <a:spLocks noGrp="1"/>
          </p:cNvSpPr>
          <p:nvPr>
            <p:ph idx="4294967295"/>
          </p:nvPr>
        </p:nvSpPr>
        <p:spPr>
          <a:xfrm>
            <a:off x="381000" y="1371600"/>
            <a:ext cx="8382000" cy="4876800"/>
          </a:xfrm>
        </p:spPr>
        <p:txBody>
          <a:bodyPr rtlCol="0">
            <a:normAutofit/>
          </a:bodyPr>
          <a:lstStyle/>
          <a:p>
            <a:pPr marL="627063" lvl="2" indent="-454025" eaLnBrk="1" fontAlgn="auto" hangingPunct="1">
              <a:spcBef>
                <a:spcPts val="400"/>
              </a:spcBef>
              <a:spcAft>
                <a:spcPts val="0"/>
              </a:spcAft>
              <a:defRPr/>
            </a:pPr>
            <a:r>
              <a:rPr lang="en-US" sz="3200" dirty="0">
                <a:solidFill>
                  <a:schemeClr val="tx1">
                    <a:lumMod val="85000"/>
                    <a:lumOff val="15000"/>
                  </a:schemeClr>
                </a:solidFill>
              </a:rPr>
              <a:t>Send primitive includes a specific identifier of the destination process</a:t>
            </a:r>
          </a:p>
          <a:p>
            <a:pPr marL="627063" lvl="2" indent="-454025" eaLnBrk="1" fontAlgn="auto" hangingPunct="1">
              <a:spcBef>
                <a:spcPts val="400"/>
              </a:spcBef>
              <a:spcAft>
                <a:spcPts val="0"/>
              </a:spcAft>
              <a:defRPr/>
            </a:pPr>
            <a:r>
              <a:rPr lang="en-US" sz="3200" dirty="0">
                <a:solidFill>
                  <a:schemeClr val="tx1">
                    <a:lumMod val="85000"/>
                    <a:lumOff val="15000"/>
                  </a:schemeClr>
                </a:solidFill>
              </a:rPr>
              <a:t>Receive primitive can be handled in one of two ways:</a:t>
            </a:r>
          </a:p>
          <a:p>
            <a:pPr lvl="3" eaLnBrk="1" fontAlgn="auto" hangingPunct="1">
              <a:spcBef>
                <a:spcPts val="400"/>
              </a:spcBef>
              <a:spcAft>
                <a:spcPts val="0"/>
              </a:spcAft>
              <a:defRPr/>
            </a:pPr>
            <a:r>
              <a:rPr lang="en-US" sz="3200" dirty="0">
                <a:solidFill>
                  <a:schemeClr val="tx1">
                    <a:lumMod val="85000"/>
                    <a:lumOff val="15000"/>
                  </a:schemeClr>
                </a:solidFill>
              </a:rPr>
              <a:t>require that the process explicitly designate a sending process</a:t>
            </a:r>
          </a:p>
          <a:p>
            <a:pPr marL="1835150" lvl="3" indent="-236538" eaLnBrk="1" fontAlgn="auto" hangingPunct="1">
              <a:spcBef>
                <a:spcPts val="400"/>
              </a:spcBef>
              <a:spcAft>
                <a:spcPts val="0"/>
              </a:spcAft>
              <a:defRPr/>
            </a:pPr>
            <a:r>
              <a:rPr lang="en-US" sz="2162" dirty="0">
                <a:solidFill>
                  <a:schemeClr val="tx1">
                    <a:lumMod val="85000"/>
                    <a:lumOff val="15000"/>
                  </a:schemeClr>
                </a:solidFill>
              </a:rPr>
              <a:t>effective for cooperating concurrent processes</a:t>
            </a:r>
          </a:p>
          <a:p>
            <a:pPr lvl="3" eaLnBrk="1" fontAlgn="auto" hangingPunct="1">
              <a:spcBef>
                <a:spcPts val="400"/>
              </a:spcBef>
              <a:spcAft>
                <a:spcPts val="0"/>
              </a:spcAft>
              <a:defRPr/>
            </a:pPr>
            <a:r>
              <a:rPr lang="en-US" sz="3200" dirty="0">
                <a:solidFill>
                  <a:schemeClr val="tx1">
                    <a:lumMod val="85000"/>
                    <a:lumOff val="15000"/>
                  </a:schemeClr>
                </a:solidFill>
              </a:rPr>
              <a:t>implicit addressing</a:t>
            </a:r>
          </a:p>
          <a:p>
            <a:pPr marL="1835150" lvl="3" indent="-236538" eaLnBrk="1" fontAlgn="auto" hangingPunct="1">
              <a:spcBef>
                <a:spcPts val="400"/>
              </a:spcBef>
              <a:spcAft>
                <a:spcPts val="0"/>
              </a:spcAft>
              <a:defRPr/>
            </a:pPr>
            <a:r>
              <a:rPr lang="en-US" sz="2162" dirty="0">
                <a:solidFill>
                  <a:schemeClr val="tx1">
                    <a:lumMod val="85000"/>
                    <a:lumOff val="15000"/>
                  </a:schemeClr>
                </a:solidFill>
              </a:rPr>
              <a:t>source parameter of the receive primitive possesses a value returned when the receive operation has been performed</a:t>
            </a:r>
          </a:p>
          <a:p>
            <a:pPr lvl="2" eaLnBrk="1" fontAlgn="auto" hangingPunct="1">
              <a:spcAft>
                <a:spcPts val="0"/>
              </a:spcAft>
              <a:defRPr/>
            </a:pPr>
            <a:endParaRPr lang="en-US" sz="3200" dirty="0">
              <a:solidFill>
                <a:schemeClr val="tx1">
                  <a:lumMod val="85000"/>
                  <a:lumOff val="15000"/>
                </a:schemeClr>
              </a:solidFill>
            </a:endParaRPr>
          </a:p>
          <a:p>
            <a:pPr lvl="2" eaLnBrk="1" fontAlgn="auto" hangingPunct="1">
              <a:spcAft>
                <a:spcPts val="0"/>
              </a:spcAft>
              <a:defRPr/>
            </a:pPr>
            <a:endParaRPr lang="en-US" sz="3000" dirty="0">
              <a:solidFill>
                <a:schemeClr val="tx1">
                  <a:lumMod val="85000"/>
                  <a:lumOff val="15000"/>
                </a:schemeClr>
              </a:solidFill>
            </a:endParaRPr>
          </a:p>
          <a:p>
            <a:pPr eaLnBrk="1" fontAlgn="auto" hangingPunct="1">
              <a:spcAft>
                <a:spcPts val="0"/>
              </a:spcAft>
              <a:defRPr/>
            </a:pPr>
            <a:endParaRPr lang="en-US" sz="3000" dirty="0">
              <a:solidFill>
                <a:schemeClr val="tx1">
                  <a:lumMod val="85000"/>
                  <a:lumOff val="1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accel="50000" decel="50000"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8" accel="50000" decel="50000"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3000"/>
                            </p:stCondLst>
                            <p:childTnLst>
                              <p:par>
                                <p:cTn id="20" presetID="2" presetClass="entr" presetSubtype="8" accel="50000" decel="50000"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3"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4000"/>
                            </p:stCondLst>
                            <p:childTnLst>
                              <p:par>
                                <p:cTn id="25" presetID="2" presetClass="entr" presetSubtype="8" accel="50000" decel="50000"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5000"/>
                            </p:stCondLst>
                            <p:childTnLst>
                              <p:par>
                                <p:cTn id="30" presetID="2" presetClass="entr" presetSubtype="8" accel="50000" decel="50000"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3"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81000"/>
            <a:ext cx="7824788" cy="1067748"/>
          </a:xfrm>
        </p:spPr>
        <p:txBody>
          <a:bodyPr/>
          <a:lstStyle/>
          <a:p>
            <a:pPr algn="ctr" eaLnBrk="1" fontAlgn="auto" hangingPunct="1">
              <a:spcAft>
                <a:spcPts val="0"/>
              </a:spcAft>
              <a:defRPr/>
            </a:pPr>
            <a:r>
              <a:rPr lang="en-US" b="1" dirty="0">
                <a:ln w="1905"/>
                <a:solidFill>
                  <a:schemeClr val="accent6">
                    <a:lumMod val="75000"/>
                  </a:schemeClr>
                </a:solidFill>
                <a:effectLst>
                  <a:innerShdw blurRad="69850" dist="43180" dir="5400000">
                    <a:srgbClr val="000000">
                      <a:alpha val="65000"/>
                    </a:srgbClr>
                  </a:innerShdw>
                </a:effectLst>
              </a:rPr>
              <a:t>Indirect Addressing</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449597696"/>
              </p:ext>
            </p:extLst>
          </p:nvPr>
        </p:nvGraphicFramePr>
        <p:xfrm>
          <a:off x="1524000" y="1981200"/>
          <a:ext cx="6781800"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09600"/>
            <a:ext cx="9144000" cy="533400"/>
          </a:xfrm>
        </p:spPr>
        <p:txBody>
          <a:bodyPr anchor="ctr">
            <a:normAutofit fontScale="90000"/>
          </a:bodyPr>
          <a:lstStyle/>
          <a:p>
            <a:pPr algn="ctr" eaLnBrk="1" fontAlgn="auto" hangingPunct="1">
              <a:spcAft>
                <a:spcPts val="0"/>
              </a:spcAft>
              <a:defRPr/>
            </a:pPr>
            <a:r>
              <a:rPr lang="en-US" sz="4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Indirect Process Communication</a:t>
            </a:r>
          </a:p>
        </p:txBody>
      </p:sp>
      <p:pic>
        <p:nvPicPr>
          <p:cNvPr id="382978" name="Picture 2"/>
          <p:cNvPicPr>
            <a:picLocks noChangeAspect="1" noChangeArrowheads="1"/>
          </p:cNvPicPr>
          <p:nvPr/>
        </p:nvPicPr>
        <p:blipFill>
          <a:blip r:embed="rId3"/>
          <a:srcRect/>
          <a:stretch>
            <a:fillRect/>
          </a:stretch>
        </p:blipFill>
        <p:spPr bwMode="auto">
          <a:xfrm>
            <a:off x="533400" y="1295400"/>
            <a:ext cx="3505200" cy="2339975"/>
          </a:xfrm>
          <a:prstGeom prst="rect">
            <a:avLst/>
          </a:prstGeom>
          <a:noFill/>
          <a:ln w="9525">
            <a:noFill/>
            <a:miter lim="800000"/>
            <a:headEnd/>
            <a:tailEnd/>
          </a:ln>
        </p:spPr>
      </p:pic>
      <p:pic>
        <p:nvPicPr>
          <p:cNvPr id="382979" name="Picture 3"/>
          <p:cNvPicPr>
            <a:picLocks noChangeAspect="1" noChangeArrowheads="1"/>
          </p:cNvPicPr>
          <p:nvPr/>
        </p:nvPicPr>
        <p:blipFill>
          <a:blip r:embed="rId4"/>
          <a:srcRect/>
          <a:stretch>
            <a:fillRect/>
          </a:stretch>
        </p:blipFill>
        <p:spPr bwMode="auto">
          <a:xfrm>
            <a:off x="5105400" y="1295400"/>
            <a:ext cx="3505200" cy="2330450"/>
          </a:xfrm>
          <a:prstGeom prst="rect">
            <a:avLst/>
          </a:prstGeom>
          <a:noFill/>
          <a:ln w="9525">
            <a:noFill/>
            <a:miter lim="800000"/>
            <a:headEnd/>
            <a:tailEnd/>
          </a:ln>
        </p:spPr>
      </p:pic>
      <p:pic>
        <p:nvPicPr>
          <p:cNvPr id="382980" name="Picture 4"/>
          <p:cNvPicPr>
            <a:picLocks noChangeAspect="1" noChangeArrowheads="1"/>
          </p:cNvPicPr>
          <p:nvPr/>
        </p:nvPicPr>
        <p:blipFill>
          <a:blip r:embed="rId5"/>
          <a:srcRect/>
          <a:stretch>
            <a:fillRect/>
          </a:stretch>
        </p:blipFill>
        <p:spPr bwMode="auto">
          <a:xfrm>
            <a:off x="533400" y="3733800"/>
            <a:ext cx="3505200" cy="2667000"/>
          </a:xfrm>
          <a:prstGeom prst="rect">
            <a:avLst/>
          </a:prstGeom>
          <a:noFill/>
          <a:ln w="9525">
            <a:noFill/>
            <a:miter lim="800000"/>
            <a:headEnd/>
            <a:tailEnd/>
          </a:ln>
        </p:spPr>
      </p:pic>
      <p:pic>
        <p:nvPicPr>
          <p:cNvPr id="382981" name="Picture 5"/>
          <p:cNvPicPr>
            <a:picLocks noChangeAspect="1" noChangeArrowheads="1"/>
          </p:cNvPicPr>
          <p:nvPr/>
        </p:nvPicPr>
        <p:blipFill>
          <a:blip r:embed="rId6"/>
          <a:srcRect/>
          <a:stretch>
            <a:fillRect/>
          </a:stretch>
        </p:blipFill>
        <p:spPr bwMode="auto">
          <a:xfrm>
            <a:off x="5105400" y="3810000"/>
            <a:ext cx="3533775" cy="2549525"/>
          </a:xfrm>
          <a:prstGeom prst="rect">
            <a:avLst/>
          </a:prstGeom>
          <a:noFill/>
          <a:ln w="9525">
            <a:noFill/>
            <a:miter lim="800000"/>
            <a:headEnd/>
            <a:tailEnd/>
          </a:ln>
        </p:spPr>
      </p:pic>
    </p:spTree>
  </p:cSld>
  <p:clrMapOvr>
    <a:masterClrMapping/>
  </p:clrMapOvr>
  <p:transition spd="med">
    <p:checke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8686800" cy="1066800"/>
          </a:xfrm>
        </p:spPr>
        <p:txBody>
          <a:bodyPr/>
          <a:lstStyle/>
          <a:p>
            <a:pPr eaLnBrk="1" fontAlgn="auto" hangingPunct="1">
              <a:spcAft>
                <a:spcPts val="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General Message Format</a:t>
            </a:r>
          </a:p>
        </p:txBody>
      </p:sp>
      <p:pic>
        <p:nvPicPr>
          <p:cNvPr id="385026" name="Content Placeholder 3" descr="Fig05_19.gif"/>
          <p:cNvPicPr>
            <a:picLocks noGrp="1" noChangeAspect="1"/>
          </p:cNvPicPr>
          <p:nvPr>
            <p:ph idx="4294967295"/>
          </p:nvPr>
        </p:nvPicPr>
        <p:blipFill rotWithShape="1">
          <a:blip r:embed="rId3"/>
          <a:srcRect t="1" b="8099"/>
          <a:stretch/>
        </p:blipFill>
        <p:spPr>
          <a:xfrm>
            <a:off x="2209800" y="1371600"/>
            <a:ext cx="4343400" cy="4480560"/>
          </a:xfrm>
        </p:spPr>
      </p:pic>
    </p:spTree>
  </p:cSld>
  <p:clrMapOvr>
    <a:masterClrMapping/>
  </p:clrMapOvr>
  <p:transition spd="med">
    <p:checke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676400"/>
            <a:ext cx="8686800" cy="457200"/>
          </a:xfrm>
        </p:spPr>
        <p:txBody>
          <a:bodyPr>
            <a:normAutofit fontScale="90000"/>
          </a:bodyPr>
          <a:lstStyle/>
          <a:p>
            <a:pPr algn="ctr" eaLnBrk="1" fontAlgn="auto" hangingPunct="1">
              <a:spcAft>
                <a:spcPts val="0"/>
              </a:spcAft>
              <a:defRPr/>
            </a:pPr>
            <a:r>
              <a:rPr lang="en-US" b="1" dirty="0">
                <a:ln w="1905"/>
                <a:solidFill>
                  <a:schemeClr val="accent1">
                    <a:lumMod val="75000"/>
                  </a:schemeClr>
                </a:solidFill>
                <a:effectLst>
                  <a:innerShdw blurRad="69850" dist="43180" dir="5400000">
                    <a:srgbClr val="000000">
                      <a:alpha val="65000"/>
                    </a:srgbClr>
                  </a:innerShdw>
                </a:effectLst>
              </a:rPr>
              <a:t>   Mutual Exclusion </a:t>
            </a:r>
            <a:br>
              <a:rPr lang="en-US" b="1" dirty="0">
                <a:solidFill>
                  <a:schemeClr val="accent2">
                    <a:lumMod val="50000"/>
                  </a:schemeClr>
                </a:solidFill>
              </a:rPr>
            </a:br>
            <a:endParaRPr lang="en-US" b="1" dirty="0">
              <a:solidFill>
                <a:schemeClr val="accent2">
                  <a:lumMod val="50000"/>
                </a:schemeClr>
              </a:solidFill>
            </a:endParaRPr>
          </a:p>
        </p:txBody>
      </p:sp>
      <p:pic>
        <p:nvPicPr>
          <p:cNvPr id="387074" name="Content Placeholder 3" descr="Fig05_20.gif"/>
          <p:cNvPicPr>
            <a:picLocks noGrp="1" noChangeAspect="1"/>
          </p:cNvPicPr>
          <p:nvPr>
            <p:ph idx="4294967295"/>
          </p:nvPr>
        </p:nvPicPr>
        <p:blipFill rotWithShape="1">
          <a:blip r:embed="rId3"/>
          <a:srcRect b="6896"/>
          <a:stretch/>
        </p:blipFill>
        <p:spPr>
          <a:xfrm>
            <a:off x="304800" y="1905000"/>
            <a:ext cx="7466013" cy="4114800"/>
          </a:xfrm>
        </p:spPr>
      </p:pic>
    </p:spTree>
  </p:cSld>
  <p:clrMapOvr>
    <a:masterClrMapping/>
  </p:clrMapOvr>
  <p:transition spd="med">
    <p:checke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915400" cy="1219200"/>
          </a:xfrm>
        </p:spPr>
        <p:txBody>
          <a:bodyPr/>
          <a:lstStyle/>
          <a:p>
            <a:pPr algn="ctr" eaLnBrk="1" fontAlgn="auto" hangingPunct="1">
              <a:spcAft>
                <a:spcPts val="0"/>
              </a:spcAft>
              <a:defRPr/>
            </a:pPr>
            <a:r>
              <a:rPr lang="en-US" sz="4000" b="1" dirty="0">
                <a:solidFill>
                  <a:schemeClr val="accent1">
                    <a:lumMod val="75000"/>
                  </a:schemeClr>
                </a:solidFill>
              </a:rPr>
              <a:t>        </a:t>
            </a:r>
            <a:r>
              <a:rPr lang="en-US" sz="4000" b="1" dirty="0">
                <a:solidFill>
                  <a:schemeClr val="accent1">
                    <a:lumMod val="50000"/>
                  </a:schemeClr>
                </a:solidFill>
              </a:rPr>
              <a:t>Message Passing Example</a:t>
            </a:r>
          </a:p>
        </p:txBody>
      </p:sp>
      <p:pic>
        <p:nvPicPr>
          <p:cNvPr id="389122" name="Content Placeholder 3" descr="Fig05_21.gif"/>
          <p:cNvPicPr>
            <a:picLocks noGrp="1" noChangeAspect="1"/>
          </p:cNvPicPr>
          <p:nvPr>
            <p:ph idx="4294967295"/>
          </p:nvPr>
        </p:nvPicPr>
        <p:blipFill>
          <a:blip r:embed="rId3"/>
          <a:srcRect/>
          <a:stretch>
            <a:fillRect/>
          </a:stretch>
        </p:blipFill>
        <p:spPr>
          <a:xfrm>
            <a:off x="1447800" y="1397029"/>
            <a:ext cx="6221413" cy="4997450"/>
          </a:xfrm>
        </p:spPr>
      </p:pic>
    </p:spTree>
  </p:cSld>
  <p:clrMapOvr>
    <a:masterClrMapping/>
  </p:clrMapOvr>
  <p:transition spd="med">
    <p:checke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7543800" cy="856396"/>
          </a:xfrm>
        </p:spPr>
        <p:txBody>
          <a:bodyPr/>
          <a:lstStyle/>
          <a:p>
            <a:r>
              <a:rPr lang="en-US" dirty="0"/>
              <a:t>Summary</a:t>
            </a:r>
          </a:p>
        </p:txBody>
      </p:sp>
      <p:sp>
        <p:nvSpPr>
          <p:cNvPr id="3" name="Content Placeholder 2"/>
          <p:cNvSpPr>
            <a:spLocks noGrp="1"/>
          </p:cNvSpPr>
          <p:nvPr>
            <p:ph idx="1"/>
          </p:nvPr>
        </p:nvSpPr>
        <p:spPr>
          <a:xfrm>
            <a:off x="228600" y="1066800"/>
            <a:ext cx="8839199" cy="5257800"/>
          </a:xfrm>
        </p:spPr>
        <p:txBody>
          <a:bodyPr>
            <a:noAutofit/>
          </a:bodyPr>
          <a:lstStyle/>
          <a:p>
            <a:pPr algn="just">
              <a:buFont typeface="Arial" panose="020B0604020202020204" pitchFamily="34" charset="0"/>
              <a:buChar char="•"/>
            </a:pPr>
            <a:r>
              <a:rPr lang="en-US" sz="2400" dirty="0"/>
              <a:t>  Messages</a:t>
            </a:r>
          </a:p>
          <a:p>
            <a:pPr lvl="1" algn="just">
              <a:buFont typeface="Arial" panose="020B0604020202020204" pitchFamily="34" charset="0"/>
              <a:buChar char="•"/>
            </a:pPr>
            <a:r>
              <a:rPr lang="en-US" sz="2200" dirty="0"/>
              <a:t>Useful for the enforcement of mutual exclusion discipline</a:t>
            </a:r>
          </a:p>
          <a:p>
            <a:pPr algn="just">
              <a:buFont typeface="Arial" panose="020B0604020202020204" pitchFamily="34" charset="0"/>
              <a:buChar char="•"/>
            </a:pPr>
            <a:r>
              <a:rPr lang="en-US" sz="2400" dirty="0"/>
              <a:t>  Operating System Themes</a:t>
            </a:r>
          </a:p>
          <a:p>
            <a:pPr lvl="1" algn="just">
              <a:buFont typeface="Arial" panose="020B0604020202020204" pitchFamily="34" charset="0"/>
              <a:buChar char="•"/>
            </a:pPr>
            <a:r>
              <a:rPr lang="en-NZ" sz="2200" dirty="0"/>
              <a:t>Multiprogramming, multiprocessing, distributed processing</a:t>
            </a:r>
          </a:p>
          <a:p>
            <a:pPr lvl="1" algn="just">
              <a:buFont typeface="Arial" panose="020B0604020202020204" pitchFamily="34" charset="0"/>
              <a:buChar char="•"/>
            </a:pPr>
            <a:r>
              <a:rPr lang="en-NZ" sz="2400" dirty="0"/>
              <a:t>Fundamental to these themes is concurrency</a:t>
            </a:r>
          </a:p>
          <a:p>
            <a:pPr lvl="1" algn="just">
              <a:buFont typeface="Arial" panose="020B0604020202020204" pitchFamily="34" charset="0"/>
              <a:buChar char="•"/>
            </a:pPr>
            <a:r>
              <a:rPr lang="en-NZ" sz="2400" dirty="0"/>
              <a:t>issues of conflict resolution and cooperation arise</a:t>
            </a:r>
            <a:endParaRPr lang="en-US" sz="2400" dirty="0"/>
          </a:p>
          <a:p>
            <a:pPr algn="just">
              <a:buFont typeface="Arial" panose="020B0604020202020204" pitchFamily="34" charset="0"/>
              <a:buChar char="•"/>
            </a:pPr>
            <a:r>
              <a:rPr lang="en-US" sz="2400" dirty="0"/>
              <a:t>  Mutual Exclusion Condition</a:t>
            </a:r>
          </a:p>
          <a:p>
            <a:pPr lvl="1" algn="just">
              <a:buFont typeface="Arial" panose="020B0604020202020204" pitchFamily="34" charset="0"/>
              <a:buChar char="•"/>
            </a:pPr>
            <a:r>
              <a:rPr lang="en-NZ" sz="2200" dirty="0"/>
              <a:t>In which there is a set of concurrent processes, only one of which is able to access a given resource or perform a given function at any time</a:t>
            </a:r>
          </a:p>
          <a:p>
            <a:pPr lvl="1" algn="just">
              <a:buFont typeface="Arial" panose="020B0604020202020204" pitchFamily="34" charset="0"/>
              <a:buChar char="•"/>
            </a:pPr>
            <a:r>
              <a:rPr lang="en-NZ" sz="2400" dirty="0"/>
              <a:t>One approach involves the use of special machine instructions</a:t>
            </a:r>
            <a:endParaRPr lang="en-US" sz="2400" dirty="0"/>
          </a:p>
          <a:p>
            <a:pPr algn="just">
              <a:buFont typeface="Arial" panose="020B0604020202020204" pitchFamily="34" charset="0"/>
              <a:buChar char="•"/>
            </a:pPr>
            <a:r>
              <a:rPr lang="en-US" sz="2400" dirty="0"/>
              <a:t>  Semaphore</a:t>
            </a:r>
          </a:p>
          <a:p>
            <a:pPr lvl="1" algn="just">
              <a:buFont typeface="Arial" panose="020B0604020202020204" pitchFamily="34" charset="0"/>
              <a:buChar char="•"/>
            </a:pPr>
            <a:r>
              <a:rPr lang="en-NZ" sz="2200" dirty="0"/>
              <a:t>Used for </a:t>
            </a:r>
            <a:r>
              <a:rPr lang="en-NZ" sz="2200" dirty="0" err="1"/>
              <a:t>signaling</a:t>
            </a:r>
            <a:r>
              <a:rPr lang="en-NZ" sz="2200" dirty="0"/>
              <a:t> among processes and can be readily used to enforce a mutual exclusion discipline</a:t>
            </a:r>
          </a:p>
        </p:txBody>
      </p:sp>
    </p:spTree>
    <p:extLst>
      <p:ext uri="{BB962C8B-B14F-4D97-AF65-F5344CB8AC3E}">
        <p14:creationId xmlns:p14="http://schemas.microsoft.com/office/powerpoint/2010/main" val="109418885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11747</Words>
  <Application>Microsoft Office PowerPoint</Application>
  <PresentationFormat>On-screen Show (4:3)</PresentationFormat>
  <Paragraphs>816</Paragraphs>
  <Slides>97</Slides>
  <Notes>66</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97</vt:i4>
      </vt:variant>
    </vt:vector>
  </HeadingPairs>
  <TitlesOfParts>
    <vt:vector size="113" baseType="lpstr">
      <vt:lpstr>Arial</vt:lpstr>
      <vt:lpstr>Calibri</vt:lpstr>
      <vt:lpstr>Calibri Light</vt:lpstr>
      <vt:lpstr>Calisto MT</vt:lpstr>
      <vt:lpstr>Cambria</vt:lpstr>
      <vt:lpstr>Courier New</vt:lpstr>
      <vt:lpstr>Helvetica</vt:lpstr>
      <vt:lpstr>Monotype Sorts</vt:lpstr>
      <vt:lpstr>MT Extra</vt:lpstr>
      <vt:lpstr>Symbol</vt:lpstr>
      <vt:lpstr>Times New Roman</vt:lpstr>
      <vt:lpstr>Webdings</vt:lpstr>
      <vt:lpstr>Wingdings</vt:lpstr>
      <vt:lpstr>Custom Design</vt:lpstr>
      <vt:lpstr>Retrospect</vt:lpstr>
      <vt:lpstr>Document</vt:lpstr>
      <vt:lpstr>Process Synchronization</vt:lpstr>
      <vt:lpstr>Multiple  Processes</vt:lpstr>
      <vt:lpstr>Concurrency &amp; Shared Data</vt:lpstr>
      <vt:lpstr>Key             Terms</vt:lpstr>
      <vt:lpstr>Difficulties of Concurrency</vt:lpstr>
      <vt:lpstr>Race Condition</vt:lpstr>
      <vt:lpstr>Operating System Concerns</vt:lpstr>
      <vt:lpstr>PowerPoint Presentation</vt:lpstr>
      <vt:lpstr>Resource Competition</vt:lpstr>
      <vt:lpstr>Need for Mutual Exclusion</vt:lpstr>
      <vt:lpstr>PowerPoint Presentation</vt:lpstr>
      <vt:lpstr>What’s the Problem?</vt:lpstr>
      <vt:lpstr>PowerPoint Presentation</vt:lpstr>
      <vt:lpstr>The Critical Section Problem</vt:lpstr>
      <vt:lpstr>PowerPoint Presentation</vt:lpstr>
      <vt:lpstr>Mutual Exclusion and Data Coherence</vt:lpstr>
      <vt:lpstr>Deadlock and Starvation</vt:lpstr>
      <vt:lpstr> Mutual Exclusion</vt:lpstr>
      <vt:lpstr>Requirements for Mutual Exclusion</vt:lpstr>
      <vt:lpstr>Mutual Exclusion:  Hardware Support</vt:lpstr>
      <vt:lpstr>Solution to Critical-Section Problem</vt:lpstr>
      <vt:lpstr>Initial Attempts to Solve Problem</vt:lpstr>
      <vt:lpstr>Algorithm 1</vt:lpstr>
      <vt:lpstr>Algorithm 2</vt:lpstr>
      <vt:lpstr>Algorithm 3</vt:lpstr>
      <vt:lpstr>Bakery Algorithm</vt:lpstr>
      <vt:lpstr>Bakery Algorithm </vt:lpstr>
      <vt:lpstr>Bakery Algorithm </vt:lpstr>
      <vt:lpstr>Synchronization Hardware</vt:lpstr>
      <vt:lpstr>Mutual Exclusion with Test-and-Set</vt:lpstr>
      <vt:lpstr>Synchronization Hardware </vt:lpstr>
      <vt:lpstr>Mutual Exclusion with Swap</vt:lpstr>
      <vt:lpstr>Semaphores</vt:lpstr>
      <vt:lpstr>Critical Section of n Processes</vt:lpstr>
      <vt:lpstr>Semaphore Implementation</vt:lpstr>
      <vt:lpstr>Implementation</vt:lpstr>
      <vt:lpstr>Semaphore as a General Synchronization Tool</vt:lpstr>
      <vt:lpstr>Deadlock and Starvation</vt:lpstr>
      <vt:lpstr>Two Types of Semaphores</vt:lpstr>
      <vt:lpstr>Linux/Unix Semaphore </vt:lpstr>
      <vt:lpstr>Sample code (sample2.tar) semaph.c</vt:lpstr>
      <vt:lpstr>Mutual Exclusion: H/w Support</vt:lpstr>
      <vt:lpstr>Mutual Exclusion: Hardware Support</vt:lpstr>
      <vt:lpstr>Compare and Swap Instruction</vt:lpstr>
      <vt:lpstr>Exchange Instruction</vt:lpstr>
      <vt:lpstr>Special Machine Instruction: Advantages</vt:lpstr>
      <vt:lpstr>Special Machine Instruction: Disadvantages</vt:lpstr>
      <vt:lpstr>Common Concurrency Mechanisms</vt:lpstr>
      <vt:lpstr>Semaphore</vt:lpstr>
      <vt:lpstr>Consequences</vt:lpstr>
      <vt:lpstr>Semaphore Primitives</vt:lpstr>
      <vt:lpstr>Binary Semaphore Primitives</vt:lpstr>
      <vt:lpstr>Strong/Weak Semaphores</vt:lpstr>
      <vt:lpstr>Example of Semaphore Mechanism</vt:lpstr>
      <vt:lpstr>PowerPoint Presentation</vt:lpstr>
      <vt:lpstr>Shared Data Protected by a Semaphore</vt:lpstr>
      <vt:lpstr>Producer/Consumer Problem</vt:lpstr>
      <vt:lpstr>Buffer Structure</vt:lpstr>
      <vt:lpstr>PowerPoint Presentation</vt:lpstr>
      <vt:lpstr>PowerPoint Presentation</vt:lpstr>
      <vt:lpstr>PowerPoint Presentation</vt:lpstr>
      <vt:lpstr>Using </vt:lpstr>
      <vt:lpstr>PowerPoint Presentation</vt:lpstr>
      <vt:lpstr>         Using  Semaphore</vt:lpstr>
      <vt:lpstr>Implementation of Semaphores</vt:lpstr>
      <vt:lpstr>Review</vt:lpstr>
      <vt:lpstr>Readers/Writers Problem</vt:lpstr>
      <vt:lpstr> Readers Have Priority</vt:lpstr>
      <vt:lpstr>Writers Have Priority</vt:lpstr>
      <vt:lpstr>Dining-Philosophers Problem</vt:lpstr>
      <vt:lpstr>  Dining-Philosophers Problem Algorithm</vt:lpstr>
      <vt:lpstr>Dining-Philosophers Problem Algorithm (Cont.)</vt:lpstr>
      <vt:lpstr>Problems with Semaphores</vt:lpstr>
      <vt:lpstr>Monitors</vt:lpstr>
      <vt:lpstr>Monitor Characteristics</vt:lpstr>
      <vt:lpstr>Synchronization</vt:lpstr>
      <vt:lpstr>Structure of a Monitor</vt:lpstr>
      <vt:lpstr>Monitors</vt:lpstr>
      <vt:lpstr>Schematic view of a Monitor</vt:lpstr>
      <vt:lpstr> Monitor with Condition Variables</vt:lpstr>
      <vt:lpstr>Problem Solution  Using a Monitor</vt:lpstr>
      <vt:lpstr>Monitor Solution to Dining Philosophers</vt:lpstr>
      <vt:lpstr>Solution to Dining Philosophers (Cont.)</vt:lpstr>
      <vt:lpstr>Message Passing</vt:lpstr>
      <vt:lpstr>Message Passing</vt:lpstr>
      <vt:lpstr>Message Passing</vt:lpstr>
      <vt:lpstr>Synchronization</vt:lpstr>
      <vt:lpstr>Blocking Send, Blocking Receive</vt:lpstr>
      <vt:lpstr>Non-blocking Send</vt:lpstr>
      <vt:lpstr>    Addressing</vt:lpstr>
      <vt:lpstr>Direct Addressing</vt:lpstr>
      <vt:lpstr>Indirect Addressing</vt:lpstr>
      <vt:lpstr>Indirect Process Communication</vt:lpstr>
      <vt:lpstr>General Message Format</vt:lpstr>
      <vt:lpstr>   Mutual Exclusion  </vt:lpstr>
      <vt:lpstr>        Message Passing Example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Concurrency: Mutual Exclusion and Synchronization</dc:title>
  <dc:creator/>
  <cp:lastModifiedBy>Siba Udgata</cp:lastModifiedBy>
  <cp:revision>11</cp:revision>
  <cp:lastPrinted>2011-02-18T21:50:36Z</cp:lastPrinted>
  <dcterms:created xsi:type="dcterms:W3CDTF">2011-03-15T17:05:26Z</dcterms:created>
  <dcterms:modified xsi:type="dcterms:W3CDTF">2025-10-27T19:21:07Z</dcterms:modified>
</cp:coreProperties>
</file>