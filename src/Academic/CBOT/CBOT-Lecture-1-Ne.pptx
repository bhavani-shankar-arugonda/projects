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28T06:23:06.790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CB916DA-0CD4-47A9-9EC6-AEBD588A0C7B}" emma:medium="tactile" emma:mode="ink">
          <msink:context xmlns:msink="http://schemas.microsoft.com/ink/2010/main" type="inkDrawing" rotatedBoundingBox="10374,15216 10399,15211 10402,15226 10377,15231" shapeName="Other"/>
        </emma:interpretation>
      </emma:emma>
    </inkml:annotationXML>
    <inkml:trace contextRef="#ctx0" brushRef="#br0">25 0 40543 0,'-25'5'1792'0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28T06:24:59.123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780B07C-D807-4C7F-A307-7C648731E036}" emma:medium="tactile" emma:mode="ink">
          <msink:context xmlns:msink="http://schemas.microsoft.com/ink/2010/main" type="inkDrawing" rotatedBoundingBox="11905,11964 12013,12092 12011,12093 11903,11966" semanticType="callout" shapeName="Other"/>
        </emma:interpretation>
      </emma:emma>
    </inkml:annotationXML>
    <inkml:trace contextRef="#ctx0" brushRef="#br0">108 128 7711 0,'-32'-38'336'0,"9"12"80"0,-4-4-416 0,1-4 0 0</inkml:trace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02-Feb-22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87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02-Feb-22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22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02-Feb-22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15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02-Feb-22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96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02-Feb-22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59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02-Feb-22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2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02-Feb-22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18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02-Feb-22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02-Feb-22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40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02-Feb-22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22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777C2-38EB-496C-A78E-946E19C4C68F}" type="datetimeFigureOut">
              <a:rPr lang="en-US" smtClean="0"/>
              <a:t>02-Feb-22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59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777C2-38EB-496C-A78E-946E19C4C68F}" type="datetimeFigureOut">
              <a:rPr lang="en-US" smtClean="0"/>
              <a:t>02-Feb-22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BF6FC-921F-45C0-B976-5FB381A43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4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79" Type="http://schemas.openxmlformats.org/officeDocument/2006/relationships/image" Target="../media/image55.emf"/><Relationship Id="rId44" Type="http://schemas.openxmlformats.org/officeDocument/2006/relationships/customXml" Target="../ink/ink2.xml"/><Relationship Id="rId43" Type="http://schemas.openxmlformats.org/officeDocument/2006/relationships/image" Target="../media/image3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Computer based Optimization Technique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Brief History</a:t>
            </a:r>
          </a:p>
          <a:p>
            <a:r>
              <a:rPr lang="en-US" dirty="0" smtClean="0"/>
              <a:t>Introduction to the Course</a:t>
            </a:r>
          </a:p>
          <a:p>
            <a:r>
              <a:rPr lang="en-US" dirty="0" smtClean="0"/>
              <a:t>Course Curriculum</a:t>
            </a:r>
          </a:p>
          <a:p>
            <a:r>
              <a:rPr lang="en-US" dirty="0" smtClean="0"/>
              <a:t>A small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5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Brief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It is both Arts and Science</a:t>
            </a:r>
          </a:p>
          <a:p>
            <a:r>
              <a:rPr lang="en-US" dirty="0" smtClean="0"/>
              <a:t>It has started in World War-II (since 1930s) and then soon become very popular in mathematics, Industry, economics, management, and all most in any fields.</a:t>
            </a:r>
          </a:p>
          <a:p>
            <a:r>
              <a:rPr lang="en-US" dirty="0" smtClean="0"/>
              <a:t>Primary application areas include forecasting, production, scheduling, inventory control and project management</a:t>
            </a:r>
          </a:p>
          <a:p>
            <a:r>
              <a:rPr lang="en-US" dirty="0" smtClean="0"/>
              <a:t>It is also known as “Operation Research”, “Decision Science”, and Optimization Technique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Optimization technique is the scientific study of operations for the purpose of making better decisions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33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making and improve its quality.</a:t>
            </a:r>
          </a:p>
          <a:p>
            <a:pPr marL="0" indent="0">
              <a:buNone/>
            </a:pPr>
            <a:r>
              <a:rPr lang="en-US" dirty="0"/>
              <a:t>• Identify optimum solution.</a:t>
            </a:r>
          </a:p>
          <a:p>
            <a:pPr marL="0" indent="0">
              <a:buNone/>
            </a:pPr>
            <a:r>
              <a:rPr lang="en-US" dirty="0"/>
              <a:t>• Integrating the systems.</a:t>
            </a:r>
          </a:p>
          <a:p>
            <a:pPr marL="0" indent="0">
              <a:buNone/>
            </a:pPr>
            <a:r>
              <a:rPr lang="en-US" dirty="0"/>
              <a:t>• Improve the objectivity of analysis.</a:t>
            </a:r>
          </a:p>
          <a:p>
            <a:pPr marL="0" indent="0">
              <a:buNone/>
            </a:pPr>
            <a:r>
              <a:rPr lang="en-US" dirty="0"/>
              <a:t>• Minimize the cost and maximize the profit.</a:t>
            </a:r>
          </a:p>
          <a:p>
            <a:pPr marL="0" indent="0">
              <a:buNone/>
            </a:pPr>
            <a:r>
              <a:rPr lang="en-US" dirty="0"/>
              <a:t>• Improve the productivity.</a:t>
            </a:r>
          </a:p>
          <a:p>
            <a:pPr marL="0" indent="0">
              <a:buNone/>
            </a:pPr>
            <a:r>
              <a:rPr lang="en-US" dirty="0"/>
              <a:t>• Success in competition and market leadership</a:t>
            </a:r>
          </a:p>
        </p:txBody>
      </p:sp>
    </p:spTree>
    <p:extLst>
      <p:ext uri="{BB962C8B-B14F-4D97-AF65-F5344CB8AC3E}">
        <p14:creationId xmlns:p14="http://schemas.microsoft.com/office/powerpoint/2010/main" val="27206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1.Simulation methods</a:t>
            </a:r>
          </a:p>
          <a:p>
            <a:pPr lvl="1"/>
            <a:r>
              <a:rPr lang="en-US" dirty="0"/>
              <a:t>It gives ability to conduct sensitive study to -</a:t>
            </a:r>
          </a:p>
          <a:p>
            <a:pPr marL="0" indent="0">
              <a:buNone/>
            </a:pPr>
            <a:r>
              <a:rPr lang="en-US" dirty="0" smtClean="0"/>
              <a:t>	(</a:t>
            </a:r>
            <a:r>
              <a:rPr lang="en-US" dirty="0"/>
              <a:t>a</a:t>
            </a:r>
            <a:r>
              <a:rPr lang="en-US" dirty="0" smtClean="0"/>
              <a:t>) </a:t>
            </a:r>
            <a:r>
              <a:rPr lang="en-US" dirty="0"/>
              <a:t>search for improvements and</a:t>
            </a:r>
          </a:p>
          <a:p>
            <a:pPr marL="0" indent="0">
              <a:buNone/>
            </a:pPr>
            <a:r>
              <a:rPr lang="en-US" dirty="0" smtClean="0"/>
              <a:t>	(</a:t>
            </a:r>
            <a:r>
              <a:rPr lang="en-US" dirty="0"/>
              <a:t>b</a:t>
            </a:r>
            <a:r>
              <a:rPr lang="en-US" dirty="0" smtClean="0"/>
              <a:t>) </a:t>
            </a:r>
            <a:r>
              <a:rPr lang="en-US" dirty="0"/>
              <a:t>test the improvement ideas that are being made.</a:t>
            </a:r>
          </a:p>
          <a:p>
            <a:pPr marL="0" indent="0">
              <a:buNone/>
            </a:pPr>
            <a:r>
              <a:rPr lang="en-US" i="1" dirty="0"/>
              <a:t>2</a:t>
            </a:r>
            <a:r>
              <a:rPr lang="en-US" i="1" dirty="0"/>
              <a:t>. </a:t>
            </a:r>
            <a:r>
              <a:rPr lang="en-US" i="1" dirty="0" smtClean="0"/>
              <a:t>Data-analysis </a:t>
            </a:r>
            <a:r>
              <a:rPr lang="en-US" i="1" dirty="0"/>
              <a:t>methods</a:t>
            </a:r>
          </a:p>
          <a:p>
            <a:pPr lvl="1"/>
            <a:r>
              <a:rPr lang="en-US" dirty="0"/>
              <a:t>The goal is to aid the decision-maker in detecting actual patterns and inter-connections in the data set and</a:t>
            </a:r>
          </a:p>
          <a:p>
            <a:pPr lvl="1"/>
            <a:r>
              <a:rPr lang="en-US" dirty="0"/>
              <a:t>Use of this analysis for making solutions.</a:t>
            </a:r>
          </a:p>
          <a:p>
            <a:pPr lvl="1"/>
            <a:r>
              <a:rPr lang="en-US" dirty="0"/>
              <a:t>This method is very useful in Public Health.</a:t>
            </a:r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i="1" dirty="0" smtClean="0"/>
              <a:t>3. Optimization </a:t>
            </a:r>
            <a:r>
              <a:rPr lang="en-US" i="1" dirty="0"/>
              <a:t>methods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Here </a:t>
            </a:r>
            <a:r>
              <a:rPr lang="en-US" dirty="0"/>
              <a:t>goal is to enable the decision makers to identify and locate </a:t>
            </a:r>
            <a:r>
              <a:rPr lang="en-US" dirty="0" smtClean="0"/>
              <a:t>the very </a:t>
            </a:r>
            <a:r>
              <a:rPr lang="en-US" dirty="0"/>
              <a:t>best choice, where innumerable feasible choices are </a:t>
            </a:r>
            <a:r>
              <a:rPr lang="en-US" dirty="0" smtClean="0"/>
              <a:t>available and </a:t>
            </a:r>
            <a:r>
              <a:rPr lang="en-US" dirty="0"/>
              <a:t>comparing them is difficult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77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1</a:t>
            </a:r>
            <a:r>
              <a:rPr lang="en-US" dirty="0"/>
              <a:t>. Identification of program problem.</a:t>
            </a:r>
          </a:p>
          <a:p>
            <a:pPr lvl="1"/>
            <a:r>
              <a:rPr lang="en-US" dirty="0" smtClean="0"/>
              <a:t>Most </a:t>
            </a:r>
            <a:r>
              <a:rPr lang="en-US" dirty="0"/>
              <a:t>critical step in the process.</a:t>
            </a:r>
          </a:p>
          <a:p>
            <a:pPr lvl="1"/>
            <a:r>
              <a:rPr lang="en-US" dirty="0" smtClean="0"/>
              <a:t>Unless </a:t>
            </a:r>
            <a:r>
              <a:rPr lang="en-US" dirty="0"/>
              <a:t>problem is clearly defined it is </a:t>
            </a:r>
            <a:r>
              <a:rPr lang="en-US" dirty="0" smtClean="0"/>
              <a:t>impossible to </a:t>
            </a:r>
            <a:r>
              <a:rPr lang="en-US" dirty="0"/>
              <a:t>develop good solutions.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dirty="0"/>
              <a:t>Identification of possible reasons and solutions .</a:t>
            </a:r>
          </a:p>
          <a:p>
            <a:pPr lvl="1"/>
            <a:r>
              <a:rPr lang="en-US" dirty="0" smtClean="0"/>
              <a:t>Once </a:t>
            </a:r>
            <a:r>
              <a:rPr lang="en-US" dirty="0"/>
              <a:t>the problem has been identified , it is </a:t>
            </a:r>
            <a:r>
              <a:rPr lang="en-US" dirty="0" smtClean="0"/>
              <a:t>the job </a:t>
            </a:r>
            <a:r>
              <a:rPr lang="en-US" dirty="0"/>
              <a:t>of the program implementer and </a:t>
            </a:r>
            <a:r>
              <a:rPr lang="en-US" dirty="0" smtClean="0"/>
              <a:t>researcher to </a:t>
            </a:r>
            <a:r>
              <a:rPr lang="en-US" dirty="0"/>
              <a:t>determine the reasons for the problem </a:t>
            </a:r>
            <a:r>
              <a:rPr lang="en-US" dirty="0" smtClean="0"/>
              <a:t>and generate </a:t>
            </a:r>
            <a:r>
              <a:rPr lang="en-US" dirty="0"/>
              <a:t>possible </a:t>
            </a:r>
            <a:r>
              <a:rPr lang="en-US" dirty="0" smtClean="0"/>
              <a:t>solutions</a:t>
            </a:r>
          </a:p>
          <a:p>
            <a:pPr marL="0" indent="0">
              <a:buNone/>
            </a:pPr>
            <a:r>
              <a:rPr lang="en-US" dirty="0" smtClean="0"/>
              <a:t>3.Testing </a:t>
            </a:r>
            <a:r>
              <a:rPr lang="en-US" dirty="0"/>
              <a:t>of potential solution</a:t>
            </a:r>
          </a:p>
          <a:p>
            <a:pPr marL="0" indent="0">
              <a:buNone/>
            </a:pPr>
            <a:r>
              <a:rPr lang="en-US" dirty="0" smtClean="0"/>
              <a:t>4.Result </a:t>
            </a:r>
            <a:r>
              <a:rPr lang="en-US" dirty="0"/>
              <a:t>utilization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necessary to decide how its results are meant to be used.</a:t>
            </a:r>
          </a:p>
          <a:p>
            <a:pPr marL="0" indent="0">
              <a:buNone/>
            </a:pPr>
            <a:r>
              <a:rPr lang="en-US" dirty="0" smtClean="0"/>
              <a:t>5.Results </a:t>
            </a:r>
            <a:r>
              <a:rPr lang="en-US" dirty="0"/>
              <a:t>dissemination</a:t>
            </a:r>
          </a:p>
          <a:p>
            <a:pPr lvl="1"/>
            <a:r>
              <a:rPr lang="en-US" dirty="0"/>
              <a:t>Results dissemination are done in the form of </a:t>
            </a:r>
            <a:r>
              <a:rPr lang="en-US" i="1" dirty="0"/>
              <a:t>seminars </a:t>
            </a:r>
            <a:r>
              <a:rPr lang="en-US" dirty="0"/>
              <a:t>or by </a:t>
            </a:r>
            <a:r>
              <a:rPr lang="en-US" i="1" dirty="0"/>
              <a:t>meeting </a:t>
            </a:r>
            <a:r>
              <a:rPr lang="en-US" dirty="0"/>
              <a:t>with decision makers.</a:t>
            </a:r>
          </a:p>
        </p:txBody>
      </p:sp>
    </p:spTree>
    <p:extLst>
      <p:ext uri="{BB962C8B-B14F-4D97-AF65-F5344CB8AC3E}">
        <p14:creationId xmlns:p14="http://schemas.microsoft.com/office/powerpoint/2010/main" val="377000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Making Overview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750" y="1467302"/>
            <a:ext cx="8292861" cy="480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4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Environment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075" y="1513433"/>
            <a:ext cx="9328473" cy="529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8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Criteria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7479" y="1688705"/>
            <a:ext cx="9811110" cy="482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4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Decision Criteria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770" y="1949356"/>
            <a:ext cx="9647233" cy="482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07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Pay-off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payoffs of a decision </a:t>
            </a:r>
            <a:r>
              <a:rPr lang="en-US" b="1" dirty="0" smtClean="0"/>
              <a:t>analysis problem </a:t>
            </a:r>
            <a:r>
              <a:rPr lang="en-US" b="1" dirty="0"/>
              <a:t>are </a:t>
            </a:r>
            <a:r>
              <a:rPr lang="en-US" b="1" i="1" dirty="0"/>
              <a:t>the benefits or rewards </a:t>
            </a:r>
            <a:r>
              <a:rPr lang="en-US" b="1" i="1" dirty="0" smtClean="0"/>
              <a:t>that result </a:t>
            </a:r>
            <a:r>
              <a:rPr lang="en-US" b="1" i="1" dirty="0"/>
              <a:t>from </a:t>
            </a:r>
            <a:r>
              <a:rPr lang="en-US" i="1" dirty="0"/>
              <a:t>selecting a particular </a:t>
            </a:r>
            <a:r>
              <a:rPr lang="en-US" i="1" dirty="0" smtClean="0"/>
              <a:t>decision alternative</a:t>
            </a:r>
          </a:p>
          <a:p>
            <a:endParaRPr lang="en-US" i="1" dirty="0"/>
          </a:p>
          <a:p>
            <a:endParaRPr lang="en-US" i="1" dirty="0" smtClean="0"/>
          </a:p>
          <a:p>
            <a:endParaRPr lang="en-US" i="1" dirty="0"/>
          </a:p>
          <a:p>
            <a:endParaRPr lang="en-US" i="1" dirty="0" smtClean="0"/>
          </a:p>
          <a:p>
            <a:endParaRPr lang="en-US" i="1" dirty="0" smtClean="0"/>
          </a:p>
          <a:p>
            <a:r>
              <a:rPr lang="en-US" i="1" dirty="0" smtClean="0"/>
              <a:t>Maximax, Minimax and Minimax regret (opportunity loss)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354660"/>
              </p:ext>
            </p:extLst>
          </p:nvPr>
        </p:nvGraphicFramePr>
        <p:xfrm>
          <a:off x="1502913" y="3209822"/>
          <a:ext cx="8273692" cy="1509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423">
                  <a:extLst>
                    <a:ext uri="{9D8B030D-6E8A-4147-A177-3AD203B41FA5}">
                      <a16:colId xmlns:a16="http://schemas.microsoft.com/office/drawing/2014/main" val="804557067"/>
                    </a:ext>
                  </a:extLst>
                </a:gridCol>
                <a:gridCol w="2068423">
                  <a:extLst>
                    <a:ext uri="{9D8B030D-6E8A-4147-A177-3AD203B41FA5}">
                      <a16:colId xmlns:a16="http://schemas.microsoft.com/office/drawing/2014/main" val="1945912279"/>
                    </a:ext>
                  </a:extLst>
                </a:gridCol>
                <a:gridCol w="2068423">
                  <a:extLst>
                    <a:ext uri="{9D8B030D-6E8A-4147-A177-3AD203B41FA5}">
                      <a16:colId xmlns:a16="http://schemas.microsoft.com/office/drawing/2014/main" val="3218374983"/>
                    </a:ext>
                  </a:extLst>
                </a:gridCol>
                <a:gridCol w="2068423">
                  <a:extLst>
                    <a:ext uri="{9D8B030D-6E8A-4147-A177-3AD203B41FA5}">
                      <a16:colId xmlns:a16="http://schemas.microsoft.com/office/drawing/2014/main" val="992013490"/>
                    </a:ext>
                  </a:extLst>
                </a:gridCol>
              </a:tblGrid>
              <a:tr h="377487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3079" marR="93079" marT="46540" marB="4654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Strong Economy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Stable Economy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Weak Economy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extLst>
                  <a:ext uri="{0D108BD9-81ED-4DB2-BD59-A6C34878D82A}">
                    <a16:rowId xmlns:a16="http://schemas.microsoft.com/office/drawing/2014/main" val="346773444"/>
                  </a:ext>
                </a:extLst>
              </a:tr>
              <a:tr h="3774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Large Store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200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50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-100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extLst>
                  <a:ext uri="{0D108BD9-81ED-4DB2-BD59-A6C34878D82A}">
                    <a16:rowId xmlns:a16="http://schemas.microsoft.com/office/drawing/2014/main" val="455510351"/>
                  </a:ext>
                </a:extLst>
              </a:tr>
              <a:tr h="3774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Average Store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100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100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-50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extLst>
                  <a:ext uri="{0D108BD9-81ED-4DB2-BD59-A6C34878D82A}">
                    <a16:rowId xmlns:a16="http://schemas.microsoft.com/office/drawing/2014/main" val="917108545"/>
                  </a:ext>
                </a:extLst>
              </a:tr>
              <a:tr h="3774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Small Store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50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30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25</a:t>
                      </a:r>
                      <a:endParaRPr lang="en-US" sz="1800" dirty="0"/>
                    </a:p>
                  </a:txBody>
                  <a:tcPr marL="93079" marR="93079" marT="46540" marB="46540"/>
                </a:tc>
                <a:extLst>
                  <a:ext uri="{0D108BD9-81ED-4DB2-BD59-A6C34878D82A}">
                    <a16:rowId xmlns:a16="http://schemas.microsoft.com/office/drawing/2014/main" val="320520512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" name="Ink 60"/>
              <p14:cNvContentPartPr/>
              <p14:nvPr/>
            </p14:nvContentPartPr>
            <p14:xfrm>
              <a:off x="3735899" y="5481550"/>
              <a:ext cx="9360" cy="2160"/>
            </p14:xfrm>
          </p:contentPart>
        </mc:Choice>
        <mc:Fallback xmlns="">
          <p:pic>
            <p:nvPicPr>
              <p:cNvPr id="61" name="Ink 60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06739" y="5453110"/>
                <a:ext cx="669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5" name="Ink 124"/>
              <p14:cNvContentPartPr/>
              <p14:nvPr/>
            </p14:nvContentPartPr>
            <p14:xfrm>
              <a:off x="4285979" y="4307590"/>
              <a:ext cx="39240" cy="46440"/>
            </p14:xfrm>
          </p:contentPart>
        </mc:Choice>
        <mc:Fallback xmlns="">
          <p:pic>
            <p:nvPicPr>
              <p:cNvPr id="125" name="Ink 124"/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275179" y="4296790"/>
                <a:ext cx="60120" cy="6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321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Programming Problem (LPP)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Objective function</a:t>
            </a:r>
          </a:p>
          <a:p>
            <a:r>
              <a:rPr lang="en-US" dirty="0" smtClean="0"/>
              <a:t>Constraints</a:t>
            </a:r>
          </a:p>
          <a:p>
            <a:pPr lvl="1"/>
            <a:r>
              <a:rPr lang="en-US" dirty="0" smtClean="0"/>
              <a:t>Unequal</a:t>
            </a:r>
          </a:p>
          <a:p>
            <a:pPr lvl="2"/>
            <a:r>
              <a:rPr lang="en-US" dirty="0" smtClean="0"/>
              <a:t>Greater than equal</a:t>
            </a:r>
          </a:p>
          <a:p>
            <a:pPr lvl="2"/>
            <a:r>
              <a:rPr lang="en-US" dirty="0" smtClean="0"/>
              <a:t>Less than equal</a:t>
            </a:r>
          </a:p>
          <a:p>
            <a:pPr lvl="1"/>
            <a:r>
              <a:rPr lang="en-US" dirty="0" smtClean="0"/>
              <a:t>Equal</a:t>
            </a:r>
          </a:p>
          <a:p>
            <a:r>
              <a:rPr lang="en-US" dirty="0" smtClean="0"/>
              <a:t>Solution Approach</a:t>
            </a:r>
          </a:p>
          <a:p>
            <a:pPr lvl="1"/>
            <a:r>
              <a:rPr lang="en-US" dirty="0" smtClean="0"/>
              <a:t>Graphical</a:t>
            </a:r>
          </a:p>
          <a:p>
            <a:pPr lvl="1"/>
            <a:r>
              <a:rPr lang="en-US" dirty="0" smtClean="0"/>
              <a:t>Simplex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28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63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348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Computer based Optimization Technique</vt:lpstr>
      <vt:lpstr>Brief History</vt:lpstr>
      <vt:lpstr>Objective</vt:lpstr>
      <vt:lpstr>Different Methods</vt:lpstr>
      <vt:lpstr>Process</vt:lpstr>
      <vt:lpstr>Decision Making Overview</vt:lpstr>
      <vt:lpstr>Decision Environment</vt:lpstr>
      <vt:lpstr>Decision Criteria</vt:lpstr>
      <vt:lpstr>Decision Criteria</vt:lpstr>
      <vt:lpstr>Pay-off</vt:lpstr>
      <vt:lpstr>Linear Programming Problem (LPP)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based Optimization Technique</dc:title>
  <dc:creator>S K Udgata</dc:creator>
  <cp:lastModifiedBy>S K Udgata</cp:lastModifiedBy>
  <cp:revision>21</cp:revision>
  <dcterms:created xsi:type="dcterms:W3CDTF">2021-01-28T04:22:43Z</dcterms:created>
  <dcterms:modified xsi:type="dcterms:W3CDTF">2022-02-02T16:11:16Z</dcterms:modified>
</cp:coreProperties>
</file>